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889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jzw688fjujiHhgSox9maPQy6X+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2AC379-F5C1-423C-9747-326DEF00050D}">
  <a:tblStyle styleId="{792AC379-F5C1-423C-9747-326DEF00050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Φωτιά. </a:t>
            </a:r>
            <a:endParaRPr/>
          </a:p>
          <a:p>
            <a:pPr indent="0" lvl="0" marL="0" rtl="0" algn="l">
              <a:spcBef>
                <a:spcPts val="0"/>
              </a:spcBef>
              <a:spcAft>
                <a:spcPts val="0"/>
              </a:spcAft>
              <a:buNone/>
            </a:pPr>
            <a:r>
              <a:rPr lang="en-US"/>
              <a:t>Ένα σύνηθες φαινόμενο, ειδικά για τη χώρα μας. Κάθε χρόνο ξέρουμε ότι θα συμβεί </a:t>
            </a:r>
            <a:r>
              <a:rPr lang="en-US">
                <a:solidFill>
                  <a:schemeClr val="dk1"/>
                </a:solidFill>
              </a:rPr>
              <a:t>αλλά </a:t>
            </a:r>
            <a:r>
              <a:rPr lang="en-US">
                <a:solidFill>
                  <a:schemeClr val="dk1"/>
                </a:solidFill>
              </a:rPr>
              <a:t>μας πιάνει πάντα απροετοίμαστους. </a:t>
            </a:r>
            <a:r>
              <a:rPr lang="en-US"/>
              <a:t>Η</a:t>
            </a:r>
            <a:r>
              <a:rPr lang="en-US"/>
              <a:t> φωτιά μπορεί να ανιχνευτεί αργά, η εντολή εκκένωσης να αργήσει, ο καπνός να περιορίσει την ορατότητα και να επηρεάσει την κίνηση, μία πιθανή αλλαγή κατεύθυνσης ανέμου μπορεί να κάνει τα πράγματα ακόμη χειρότερα. Ο πανικός αλλάζει τη συμπεριφορά του κόσμου με απρόβλεπτους τρόπους. </a:t>
            </a:r>
            <a:endParaRPr/>
          </a:p>
          <a:p>
            <a:pPr indent="0" lvl="0" marL="0" rtl="0" algn="l">
              <a:spcBef>
                <a:spcPts val="0"/>
              </a:spcBef>
              <a:spcAft>
                <a:spcPts val="0"/>
              </a:spcAft>
              <a:buNone/>
            </a:pPr>
            <a:r>
              <a:rPr lang="en-US"/>
              <a:t>Το πρόβλημα δεν είναι πάντα η φωτιά. Είναι ο συντονισμός. </a:t>
            </a:r>
            <a:endParaRPr/>
          </a:p>
          <a:p>
            <a:pPr indent="0" lvl="0" marL="0" rtl="0" algn="l">
              <a:spcBef>
                <a:spcPts val="0"/>
              </a:spcBef>
              <a:spcAft>
                <a:spcPts val="0"/>
              </a:spcAft>
              <a:buClr>
                <a:schemeClr val="dk1"/>
              </a:buClr>
              <a:buSzPts val="1100"/>
              <a:buFont typeface="Arial"/>
              <a:buNone/>
            </a:pPr>
            <a:r>
              <a:rPr lang="en-US"/>
              <a:t>Οι αποφάσεις παίρνονται υπό πίεση, με ελλιπείς πληροφορίες, από ανθρώπους που δεν μπορούν να δουν ολόκληρη την εικόνα.</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Η εργασία αυτή αναπτύσσει ένα σύστημα προσομοίωσης.</a:t>
            </a:r>
            <a:endParaRPr/>
          </a:p>
          <a:p>
            <a:pPr indent="0" lvl="0" marL="0" rtl="0" algn="l">
              <a:spcBef>
                <a:spcPts val="0"/>
              </a:spcBef>
              <a:spcAft>
                <a:spcPts val="0"/>
              </a:spcAft>
              <a:buNone/>
            </a:pPr>
            <a:r>
              <a:rPr lang="en-US"/>
              <a:t>Στο σύστημα αυτό, πράκτορες όπως πυροσβέστες, διασώστες, ασθενοφόρα, αλλά και πολίτες αλληλεπιδρούν, ενώ η φωτιά εξαπλώνεται. Οι πράκτορες παίρνουν αποφάσεις και εκπαιδεύονται μέσω ενισχυτικής μάθησης ώστε να βελτιώνουν τον συντονισμό τους.</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Κάποιες βασικές έννοιες.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BDI σημαίνει Beliefs-Desires-Intentions, δηλαδή Πεποιθήσεις-Επιθυμίες-Προθέσεις. Είναι ένας τρόπος να οργανώσουμε τη 'σκέψη' ενός πράκτορα: τι ξέρει για τον κόσμο, τι θέλει να επιτύχει, και σε ποια ενέργεια έχει δεσμευτεί.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MARL σημαίνει Multi-Agent Reinforcement Learning , πολλοί πράκτορες που μαθαίνουν ταυτόχρονα μέσα από δοκιμή και λάθος, λαμβάνοντας ανταμοιβές για καλές αποφάσεις.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CNP είναι το Contract Net Protocol , ένα πρωτόκολλο για την κατανομή εργασιών: ο ένας πράκτορας ανακοινώνει τι χρειάζεται, οι άλλοι υποβάλλουν προσφορές, και αναθέτεται στον πιο κατάλληλο. </a:t>
            </a:r>
            <a:endParaRPr/>
          </a:p>
        </p:txBody>
      </p:sp>
      <p:sp>
        <p:nvSpPr>
          <p:cNvPr id="96" name="Google Shape;9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Στην παρουσίαση καλύπτουμε πέντε ενότητες. Ξεκινάμε με το γιατί, ποια ανάγκη υπάρχει και τι λείπει από τα υπάρχοντα εργαλεία. Συνεχίζουμε με το πώς είναι φτιαγμένο το σύστημα. </a:t>
            </a:r>
            <a:endParaRPr/>
          </a:p>
          <a:p>
            <a:pPr indent="0" lvl="0" marL="0" rtl="0" algn="l">
              <a:spcBef>
                <a:spcPts val="0"/>
              </a:spcBef>
              <a:spcAft>
                <a:spcPts val="0"/>
              </a:spcAft>
              <a:buNone/>
            </a:pPr>
            <a:r>
              <a:rPr lang="en-US"/>
              <a:t>Μετά πώς εκπαιδεύτηκε και πώς αξιολογήθηκε. </a:t>
            </a:r>
            <a:endParaRPr/>
          </a:p>
          <a:p>
            <a:pPr indent="0" lvl="0" marL="0" rtl="0" algn="l">
              <a:spcBef>
                <a:spcPts val="0"/>
              </a:spcBef>
              <a:spcAft>
                <a:spcPts val="0"/>
              </a:spcAft>
              <a:buNone/>
            </a:pPr>
            <a:r>
              <a:rPr lang="en-US"/>
              <a:t>Ακολουθούν τα αποτελέσματα, και κλείνουμε με τους περιορισμούς και τα συμπεράσματα</a:t>
            </a:r>
            <a:endParaRPr/>
          </a:p>
        </p:txBody>
      </p:sp>
      <p:sp>
        <p:nvSpPr>
          <p:cNvPr id="121" name="Google Shape;12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Αυτό είναι ένα στιγμιότυπο από τον πίνακα ελέγχου του AIGIS κατά τη διάρκεια προσομοίωσης.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Στο κεντρικό πλέγμα βλέπετε το μέτωπο της φωτιάς, που απεικονίζεται με πορτοκαλί και κόκκινο ανάλογα με την ένταση. Οι πράκτορες εμφανίζονται ως εικονίδια στις θέσεις τους. Η πράσινη χρωματική κωδικοποίηση υποδεικνύει τις ενεργές οδεύσεις εκκένωσης.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Ο γράφος δρόμων είναι από OpenStreetMap για τη συγκεκριμένη περιοχή.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Τα μικρά διαγράμματα γύρω-γύρω δείχνουν σε πραγματικό χρόνο τη θερμοκρασία, την πυκνότητα καπνού, τις φάσεις εκκένωσης και τις ανταμοιβές των πρακτόρων. </a:t>
            </a:r>
            <a:endParaRPr/>
          </a:p>
        </p:txBody>
      </p:sp>
      <p:sp>
        <p:nvSpPr>
          <p:cNvPr id="219" name="Google Shape;21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Το μοντέλο φωτιάς βασίζεται στην εξίσωση Rothermel του 1972.</a:t>
            </a:r>
            <a:endParaRPr/>
          </a:p>
          <a:p>
            <a:pPr indent="0" lvl="0" marL="0" rtl="0" algn="l">
              <a:spcBef>
                <a:spcPts val="0"/>
              </a:spcBef>
              <a:spcAft>
                <a:spcPts val="0"/>
              </a:spcAft>
              <a:buNone/>
            </a:pPr>
            <a:r>
              <a:rPr lang="en-US"/>
              <a:t>Ο πολλαπλασιασμός εκφράζει αλληλεπίδραση μεταξύ των παραγόντων, ενώ η πρόσθεση τους θεωρεί ανεξάρτητους.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Δηλαδή, η φωτιά εξαπλώνεται πιο γρήγορα όταν φυσάει ο άνεμος, όταν ανηφορίζει, και ανάλογα με τον τύπο της βλάστησης.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Για τους τύπους βλάστησης χρησιμοποιούμε τις 11 τυποποιημένες κλάσεις καυσίμου NFFL του Anderson από το 1982 — το ίδιο σύστημα που χρησιμοποιεί η πυροσβεστική υπηρεσία των ΗΠΑ. Κάθε κλάση έχει διαφορετικό συντελεστή: τα χορτολίβαδα εξαπλώνονται γρήγορα, τα δάση πιο αργά.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Επίσης μοντελοποιούμε το φαινόμενο firebrand, αντικείμενα που μεταφέρονται από τον άνεμο και ξεκινούν νέες εστίες μακριά από το κύριο μέτωπο. Αυτό εξηγεί γιατί μερικές φορές η φωτιά 'πηδάει' από τη μια πλευρά του δρόμου στην άλλη.</a:t>
            </a:r>
            <a:endParaRPr/>
          </a:p>
        </p:txBody>
      </p:sp>
      <p:sp>
        <p:nvSpPr>
          <p:cNvPr id="233" name="Google Shape;233;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 Από το OSM αντλεί το οδικό δίκτυο, τα κτίρια και τη βλάστηση — αυτά αποτελούν τον χάρτη του περιβάλλοντος.</a:t>
            </a:r>
            <a:endParaRPr/>
          </a:p>
          <a:p>
            <a:pPr indent="0" lvl="0" marL="0" rtl="0" algn="l">
              <a:spcBef>
                <a:spcPts val="0"/>
              </a:spcBef>
              <a:spcAft>
                <a:spcPts val="0"/>
              </a:spcAft>
              <a:buClr>
                <a:schemeClr val="dk1"/>
              </a:buClr>
              <a:buSzPts val="1100"/>
              <a:buFont typeface="Arial"/>
              <a:buNone/>
            </a:pPr>
            <a:r>
              <a:rPr lang="en-US"/>
              <a:t>  - Το SRTM δίνει τα υψομετρικά δεδομένα, από τα οποία υπολογίζεται η κλίση του εδάφους — βασικός παράγοντας</a:t>
            </a:r>
            <a:endParaRPr/>
          </a:p>
          <a:p>
            <a:pPr indent="0" lvl="0" marL="0" rtl="0" algn="l">
              <a:spcBef>
                <a:spcPts val="0"/>
              </a:spcBef>
              <a:spcAft>
                <a:spcPts val="0"/>
              </a:spcAft>
              <a:buClr>
                <a:schemeClr val="dk1"/>
              </a:buClr>
              <a:buSzPts val="1100"/>
              <a:buFont typeface="Arial"/>
              <a:buNone/>
            </a:pPr>
            <a:r>
              <a:rPr lang="en-US"/>
              <a:t>  στην εξίσωση εξάπλωσης.</a:t>
            </a:r>
            <a:endParaRPr/>
          </a:p>
          <a:p>
            <a:pPr indent="0" lvl="0" marL="0" rtl="0" algn="l">
              <a:spcBef>
                <a:spcPts val="0"/>
              </a:spcBef>
              <a:spcAft>
                <a:spcPts val="0"/>
              </a:spcAft>
              <a:buClr>
                <a:schemeClr val="dk1"/>
              </a:buClr>
              <a:buSzPts val="1100"/>
              <a:buFont typeface="Arial"/>
              <a:buNone/>
            </a:pPr>
            <a:r>
              <a:rPr lang="en-US"/>
              <a:t>  - Το Corine Land Cover ορίζει τον τύπο βλάστησης σε κάθε κελί, σύμφωνα με τις 11 κλάσεις καυσίμου NFFL.</a:t>
            </a:r>
            <a:endParaRPr/>
          </a:p>
          <a:p>
            <a:pPr indent="0" lvl="0" marL="0" rtl="0" algn="l">
              <a:spcBef>
                <a:spcPts val="0"/>
              </a:spcBef>
              <a:spcAft>
                <a:spcPts val="0"/>
              </a:spcAft>
              <a:buClr>
                <a:schemeClr val="dk1"/>
              </a:buClr>
              <a:buSzPts val="1100"/>
              <a:buFont typeface="Arial"/>
              <a:buNone/>
            </a:pPr>
            <a:r>
              <a:rPr lang="en-US"/>
              <a:t>  - Το Open-Meteo παρέχει άνεμο, θερμοκρασία και υγρασία σε πραγματικό χρόνο, καθώς και τον δείκτη FWI — τον</a:t>
            </a:r>
            <a:endParaRPr/>
          </a:p>
          <a:p>
            <a:pPr indent="0" lvl="0" marL="0" rtl="0" algn="l">
              <a:spcBef>
                <a:spcPts val="0"/>
              </a:spcBef>
              <a:spcAft>
                <a:spcPts val="0"/>
              </a:spcAft>
              <a:buClr>
                <a:schemeClr val="dk1"/>
              </a:buClr>
              <a:buSzPts val="1100"/>
              <a:buFont typeface="Arial"/>
              <a:buNone/>
            </a:pPr>
            <a:r>
              <a:rPr lang="en-US"/>
              <a:t>  καναδικό δείκτη επικινδυνότητας πυρκαγιάς.</a:t>
            </a:r>
            <a:endParaRPr/>
          </a:p>
          <a:p>
            <a:pPr indent="0" lvl="0" marL="0" rtl="0" algn="l">
              <a:spcBef>
                <a:spcPts val="0"/>
              </a:spcBef>
              <a:spcAft>
                <a:spcPts val="0"/>
              </a:spcAft>
              <a:buClr>
                <a:schemeClr val="dk1"/>
              </a:buClr>
              <a:buSzPts val="1100"/>
              <a:buFont typeface="Arial"/>
              <a:buNone/>
            </a:pPr>
            <a:r>
              <a:rPr lang="en-US"/>
              <a:t>  - Η ίδια πλατφόρμα μέσω CAMS δίνει και την ποιότητα αέρα — η συγκέντρωση PM2.5 επηρεάζει την κινητικότητα</a:t>
            </a:r>
            <a:endParaRPr/>
          </a:p>
          <a:p>
            <a:pPr indent="0" lvl="0" marL="0" rtl="0" algn="l">
              <a:spcBef>
                <a:spcPts val="0"/>
              </a:spcBef>
              <a:spcAft>
                <a:spcPts val="0"/>
              </a:spcAft>
              <a:buClr>
                <a:schemeClr val="dk1"/>
              </a:buClr>
              <a:buSzPts val="1100"/>
              <a:buFont typeface="Arial"/>
              <a:buNone/>
            </a:pPr>
            <a:r>
              <a:rPr lang="en-US"/>
              <a:t>  και τον πανικό των πολιτών στο μοντέλο.</a:t>
            </a:r>
            <a:endParaRPr/>
          </a:p>
          <a:p>
            <a:pPr indent="0" lvl="0" marL="0" rtl="0" algn="l">
              <a:spcBef>
                <a:spcPts val="0"/>
              </a:spcBef>
              <a:spcAft>
                <a:spcPts val="0"/>
              </a:spcAft>
              <a:buClr>
                <a:schemeClr val="dk1"/>
              </a:buClr>
              <a:buSzPts val="1100"/>
              <a:buFont typeface="Arial"/>
              <a:buNone/>
            </a:pPr>
            <a:r>
              <a:rPr lang="en-US"/>
              <a:t>  - Τέλος, το FIRMS της NASA παρέχει ιστορικά δεδομένα εστιών πυρκαγιάς, τα οποία χρησιμοποιούνται για την</a:t>
            </a:r>
            <a:endParaRPr/>
          </a:p>
          <a:p>
            <a:pPr indent="0" lvl="0" marL="0" rtl="0" algn="l">
              <a:spcBef>
                <a:spcPts val="0"/>
              </a:spcBef>
              <a:spcAft>
                <a:spcPts val="0"/>
              </a:spcAft>
              <a:buNone/>
            </a:pPr>
            <a:r>
              <a:rPr lang="en-US"/>
              <a:t>  εκτίμηση κινδύνου ανάφλεξης ανά κελί.</a:t>
            </a:r>
            <a:endParaRPr/>
          </a:p>
        </p:txBody>
      </p:sp>
      <p:sp>
        <p:nvSpPr>
          <p:cNvPr id="247" name="Google Shape;24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Το σύστημα αποτελείται από 8 πράκτορες οργανωμένους σε τρία επίπεδα.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Στο στρατηγικό επίπεδο βρίσκονται ο Commander και ο Analyst. Ο Commander λαμβάνει τις τελικές αποφάσεις εκκένωσης χρησιμοποιώντας τη λογική ECT/TTI , δηλαδή συγκρίνει πόσος χρόνος απομένει μέχρι η φωτιά να φτάσει τον πληθυσμό με πόσος χρόνος χρειάζεται για να εκκενωθεί η περιοχή. Ο Analyst τον τροφοδοτεί συνεχώς με εκτιμήσεις κινδύνου βασισμένες στο μοντέλο Rothermel και ασαφή λογική.</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Στο επιχειρησιακό επίπεδο δρουν τέσσερις τύποι πρακτόρων. Οι Sentinels ανιχνεύουν την φωτιά με βάση τη Θεωρία Ανίχνευσης Σήματος. Οι Firefighters καταστέλλουν την πυρκαγιά και δημιουργούν αντιπυρικές ζώνες , εκπαιδευμένοι με ενισχυτική μάθηση. Οι Rescuers αναλαμβάνουν τη διάσωση πολιτών μέσω του Contract Net Protocol, που κατανέμει αποστολές με βάση κόστος και κίνδυνο. Τα Ambulances μεταφέρουν τραυματίες στο κοντινότερο νοσοκομείο. Ο RiskMonitor εκτιμά τον κίνδυνο ανάφλεξης πριν ακόμα εκδηλωθεί η φωτιά.</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Στο επίπεδο πληθυσμού ο Civilian μοντελοποιεί την ανθρώπινη συμπεριφορά, πανικό, ακολουθία πλήθους και κυκλοφοριακή συμφόρηση,  με βάση το μοντέλο LWR.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US"/>
              <a:t>Ασαφής Λογική (Fuzzy Logic)</a:t>
            </a:r>
            <a:endParaRPr/>
          </a:p>
          <a:p>
            <a:pPr indent="0" lvl="0" marL="457200" rtl="0" algn="l">
              <a:spcBef>
                <a:spcPts val="0"/>
              </a:spcBef>
              <a:spcAft>
                <a:spcPts val="0"/>
              </a:spcAft>
              <a:buNone/>
            </a:pPr>
            <a:r>
              <a:rPr lang="en-US"/>
              <a:t>Αντί για "ναι/όχι", χειρίζεται αβεβαιότητα με τιμές μεταξύ 0 και 1. Π.χ. ο κίνδυνος δεν είναι "υψηλός ή χαμηλός" — μπορεί να είναι "70% υψηλός". Ο Analyst τη χρησιμοποιεί για να συνδυάσει πολλές παραμέτρους (απόσταση φωτιάς, άνεμος, FWI) σε μία εκτίμηση κινδύνου.</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US"/>
              <a:t> Θεωρία Ανίχνευσης Σήματος</a:t>
            </a:r>
            <a:endParaRPr/>
          </a:p>
          <a:p>
            <a:pPr indent="0" lvl="0" marL="457200" rtl="0" algn="l">
              <a:spcBef>
                <a:spcPts val="0"/>
              </a:spcBef>
              <a:spcAft>
                <a:spcPts val="0"/>
              </a:spcAft>
              <a:buNone/>
            </a:pPr>
            <a:r>
              <a:rPr lang="en-US"/>
              <a:t>Ο Sentinel δεν "βλέπει" τη φωτιά αυτόματα — την ανιχνεύει με πιθανότητα που εξαρτάται από την απόσταση και  την κατεύθυνση του ανέμου. Αν ο άνεμος φέρνει καπνό προς τον Sentinel, η ανίχνευση είναι πιο αξιόπιστη. Αν ο άνεμος απομακρύνει τον καπνό, μπορεί να "χάσει" τη φωτιά.</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US"/>
              <a:t> Μοντέλο LWR</a:t>
            </a:r>
            <a:endParaRPr/>
          </a:p>
          <a:p>
            <a:pPr indent="0" lvl="0" marL="457200" rtl="0" algn="l">
              <a:spcBef>
                <a:spcPts val="0"/>
              </a:spcBef>
              <a:spcAft>
                <a:spcPts val="0"/>
              </a:spcAft>
              <a:buNone/>
            </a:pPr>
            <a:r>
              <a:rPr lang="en-US"/>
              <a:t>Κυκλοφοριακό μοντέλο που περιγράφει πώς κινείται το πλήθος. Όσο πιο πολλοί άνθρωποι σε έναν δρόμο, τόσο πιο αργά κινούνται — όπως η κυκλοφορία στην εθνική οδό. Εξηγεί γιατί η εκκένωση καθυστερεί όταν όλοι φεύγουν ταυτόχρονα.</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US"/>
              <a:t> Ενισχυτική Μάθηση (Firefighter)</a:t>
            </a:r>
            <a:endParaRPr/>
          </a:p>
          <a:p>
            <a:pPr indent="0" lvl="0" marL="457200" rtl="0" algn="l">
              <a:spcBef>
                <a:spcPts val="0"/>
              </a:spcBef>
              <a:spcAft>
                <a:spcPts val="0"/>
              </a:spcAft>
              <a:buNone/>
            </a:pPr>
            <a:r>
              <a:rPr lang="en-US"/>
              <a:t>Οι Firefighters δεν ακολουθούν κανόνες — έχουν εκπαιδευτεί μέσω δοκιμής και λάθους σε χιλιάδες σενάρια πυρκαγιάς, με αλγόριθμο PPO, να βρίσκουν μόνοι τους την καλύτερη στρατηγική κατάσβεσης.</a:t>
            </a:r>
            <a:endParaRPr/>
          </a:p>
        </p:txBody>
      </p:sp>
      <p:sp>
        <p:nvSpPr>
          <p:cNvPr id="258" name="Google Shape;25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Κάθε πράκτορας του AIGIS ακολουθεί τον κύκλο Perceive → Decide → Act, βασισμένο στην αρχιτεκτονική BDI των Rao &amp; Georgeff (1995).</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Οι πεποιθήσεις αντικατοπτρίζουν την τρέχουσα κατάσταση του κόσμου, τον γράφο δρόμων, τη θέση του μετώπου φωτιάς και τις θέσεις των πολιτών που χρειάζονται βοήθεια.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Οι επιθυμίες είναι οι μακροπρόθεσμοι στόχοι:ελαχιστοποίηση θνησιμότητας και εκκαθάριση των οδεύσεων εκκένωσης.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Η πρόθεση είναι η δεσμευμένη ενέργεια,  συνήθως μια διαδρομή A* που ακολουθείται μέχρι να αλλάξουν οι συνθήκες. Αναθεώρηση γίνεται μόνο σε τέσσερις περιπτώσεις: αποκλεισμός δρόμου από φωτιά, εντολή ακύρωσης από τον Commander, ανεπαρκές καύσιμο, ή περιοδική επανεκτίμηση.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Ο συντονισμός μεταξύ πρακτόρων γίνεται μέσω του Contract Net Protocol (Smith 1980). Ο Commander εκπέμπει πρόσκληση υποβολής προσφορών, κάθε διαθέσιμος πράκτορας υπολογίζει το κόστος αποστολής, λαμβάνοντας υπόψη απόσταση, κίνδυνο διαδρομής και εναπομείναν καύσιμο, και υποβάλλει προσφορά. Ο Commander αναθέτει στον χαμηλότερου κόστους, οι υπόλοιποι λαμβάνουν απόρριψη και συνεχίζουν τις τρέχουσες εργασίες τους. Ο νικητής επιβεβαιώνει την ολοκλήρωση με CONFIRM.</a:t>
            </a:r>
            <a:endParaRPr/>
          </a:p>
          <a:p>
            <a:pPr indent="0" lvl="0" marL="0" rtl="0" algn="l">
              <a:spcBef>
                <a:spcPts val="0"/>
              </a:spcBef>
              <a:spcAft>
                <a:spcPts val="0"/>
              </a:spcAft>
              <a:buNone/>
            </a:pPr>
            <a:r>
              <a:t/>
            </a:r>
            <a:endParaRPr/>
          </a:p>
        </p:txBody>
      </p:sp>
      <p:sp>
        <p:nvSpPr>
          <p:cNvPr id="269" name="Google Shape;269;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Ο Commander διαχειρίζεται 4 φάσεις εκκένωσης, αποφασίζοντας ανά πάσα στιγμή σε ποια φάση βρισκόμαστε με βάση τη σύγκριση δύο κρίσιμων ποσοτήτων.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ECT — Εκτιμώμενος Χρόνος Εκκαθάρισης: πόση ώρα χρειάζεται να εκκενωθεί η περιοχή με βάση τον αριθμό αμάχων και τους διαθέσιμους δρόμους. Υπολογίζεται από τον Commander.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TTI — Χρόνος Επίδρασης: πόση ώρα μέχρι να φτάσει η φωτιά, υπολογισμένος από τον Analyst. Η ασαφής λογική χρησιμοποιείται για να μετατρέψει TTI + διαθέσιμες εξόδους σε εκτίμηση κινδύνου (0–100).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Φάση 0 — Παρακολούθηση: TTI πολύ μεγαλύτερο από ECT.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Φάση 1 — Προ-ειδοποίηση: η φωτιά πλησιάζει αλλά υπάρχει χρόνος. Μηνύματα WARNING, οι Firefighters κατευθύνονται στις ζώνες κινδύνου.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Φάση 2 — Μαζική Εκκένωση: </a:t>
            </a:r>
            <a:r>
              <a:rPr lang="en-US"/>
              <a:t>Εκπέμπεται EVACUATE REQUEST broadcast στους πολίτες (urgency: HIGH) — μόνο μία φορά</a:t>
            </a:r>
            <a:endParaRPr/>
          </a:p>
          <a:p>
            <a:pPr indent="0" lvl="0" marL="0" rtl="0" algn="l">
              <a:spcBef>
                <a:spcPts val="0"/>
              </a:spcBef>
              <a:spcAft>
                <a:spcPts val="0"/>
              </a:spcAft>
              <a:buClr>
                <a:schemeClr val="dk1"/>
              </a:buClr>
              <a:buSzPts val="1100"/>
              <a:buFont typeface="Arial"/>
              <a:buNone/>
            </a:pPr>
            <a:r>
              <a:rPr lang="en-US"/>
              <a:t>  και Αποστολή όλων των μονάδων μέσω CNP:</a:t>
            </a:r>
            <a:endParaRPr/>
          </a:p>
          <a:p>
            <a:pPr indent="0" lvl="0" marL="0" rtl="0" algn="l">
              <a:spcBef>
                <a:spcPts val="0"/>
              </a:spcBef>
              <a:spcAft>
                <a:spcPts val="0"/>
              </a:spcAft>
              <a:buClr>
                <a:schemeClr val="dk1"/>
              </a:buClr>
              <a:buSzPts val="1100"/>
              <a:buFont typeface="Arial"/>
              <a:buNone/>
            </a:pPr>
            <a:r>
              <a:rPr lang="en-US"/>
              <a:t>    - Διασώστες → σε πολίτες που βρίσκονται σε/κοντά σε καιόμενα κελιά</a:t>
            </a:r>
            <a:endParaRPr/>
          </a:p>
          <a:p>
            <a:pPr indent="0" lvl="0" marL="0" rtl="0" algn="l">
              <a:spcBef>
                <a:spcPts val="0"/>
              </a:spcBef>
              <a:spcAft>
                <a:spcPts val="0"/>
              </a:spcAft>
              <a:buClr>
                <a:schemeClr val="dk1"/>
              </a:buClr>
              <a:buSzPts val="1100"/>
              <a:buFont typeface="Arial"/>
              <a:buNone/>
            </a:pPr>
            <a:r>
              <a:rPr lang="en-US"/>
              <a:t>    - Ασθενοφόρα → σε ζώνες με τραυματίες</a:t>
            </a:r>
            <a:endParaRPr/>
          </a:p>
          <a:p>
            <a:pPr indent="0" lvl="0" marL="0" rtl="0" algn="l">
              <a:spcBef>
                <a:spcPts val="0"/>
              </a:spcBef>
              <a:spcAft>
                <a:spcPts val="0"/>
              </a:spcAft>
              <a:buClr>
                <a:schemeClr val="dk1"/>
              </a:buClr>
              <a:buSzPts val="1100"/>
              <a:buFont typeface="Arial"/>
              <a:buNone/>
            </a:pPr>
            <a:r>
              <a:rPr lang="en-US"/>
              <a:t>    - Πυροσβέστες → συνεχίζεται από Φάση 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Φάση 3 — Καταφύγιο σε Χώρο: η φωτιά είναι πιο κοντά από όσο χρειάζεται για εκκένωση. Οι άμαχοι ανακατευθύνονται στον κοντινότερο ασφαλή κόμβο. </a:t>
            </a:r>
            <a:r>
              <a:rPr lang="en-US"/>
              <a:t>Μόνο τα ασθενοφόρα συνεχίζουν να αποστέλλονται (διασώστες &amp; πυροσβέστες σταματούν). Επικυρωμένο από το πραγματικό περιστατικό Μάτι 2018 (πολίτες εγκλωβίστηκαν στους δρόμους)</a:t>
            </a:r>
            <a:endParaRPr/>
          </a:p>
          <a:p>
            <a:pPr indent="0" lvl="0" marL="0" rtl="0" algn="l">
              <a:spcBef>
                <a:spcPts val="0"/>
              </a:spcBef>
              <a:spcAft>
                <a:spcPts val="0"/>
              </a:spcAft>
              <a:buNone/>
            </a:pPr>
            <a:r>
              <a:t/>
            </a:r>
            <a:endParaRPr/>
          </a:p>
        </p:txBody>
      </p:sp>
      <p:sp>
        <p:nvSpPr>
          <p:cNvPr id="303" name="Google Shape;303;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Αντίδραση Πολιτών ανά Επίπεδο Πανικού</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Κάθε πολίτης υλοποιεί αρχιτεκτονική BDI με τριμερή γνωστική μηχανή. Ανάλογα με το επίπεδο πανικού του, επιλέγει διαφορετική στρατηγική κίνησης: σε χαμηλό πανικό ακολουθεί τη βέλτιστη διαδρομή A*, σε μέτριο πανικό κινείται πιο αργά με μειωμένη ικανότητα λήψης αποφάσεων, ενώ σε υψηλό πανικό εγκαταλείπει κάθε λογική και ακολουθεί τυφλά το πλήθος.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Εξίσωση Πανικού</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Ο πανικός αυξάνεται αντιστρόφως ανάλογα με την απόσταση από τη φωτιά και επιπλέον επιβαρύνεται αν ο πολίτης έχει χωριστεί από την οικογένειά του, ένας παράγοντας που αφορά το 30% των πολιτών. Χωρίς ορατή φωτιά, ο πανικός μειώνεται σταδιακά.</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Κυκλοφοριακή Ροή &amp; Λοιποί Μηχανισμοί</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Η ταχύτητα κίνησης ακολουθεί το τριγωνικό διάγραμμα LWR: σε χαμηλή πυκνότητα πληθυσμού η κίνηση είναι ελεύθερη, ενώ όταν ο δρόμος υπερφορτωθεί εμφανίζεται συμφόρηση. Επιπλέον, η αθροιστική έκθεση σε καπνό μπορεί να οδηγήσει σε τραυματισμό, ο οποίος ενεργοποιεί αυτόματα την αποστολή ασθενοφόρου μέσω INJURY_REPORT.</a:t>
            </a:r>
            <a:endParaRPr/>
          </a:p>
          <a:p>
            <a:pPr indent="0" lvl="0" marL="0" rtl="0" algn="l">
              <a:spcBef>
                <a:spcPts val="0"/>
              </a:spcBef>
              <a:spcAft>
                <a:spcPts val="0"/>
              </a:spcAft>
              <a:buNone/>
            </a:pPr>
            <a:r>
              <a:t/>
            </a:r>
            <a:endParaRPr/>
          </a:p>
        </p:txBody>
      </p:sp>
      <p:sp>
        <p:nvSpPr>
          <p:cNvPr id="339" name="Google Shape;339;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Ποιοι Εκπαιδεύονται</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Στο AIGIS, τρεις πράκτορες εκπαιδεύονται με ενισχυτική μάθηση: ο Commander, ο Rescuer και ο Firefighter. Οι υπόλοιποι πράκτορες (Sentinel, Ambulance, Civilian) ακολουθούν προκαθορισμένους κανόνες και δεν εκπαιδεύονται. Ο Commander μαθαίνει πότε είναι η κατάλληλη στιγμή να εκδώσει εντολή εκκένωσης βάσει της σχέσης TTI/ECT. Ο Rescuer μαθαίνει να ιεραρχεί τους πολίτες που χρειάζονται βοήθεια. Ο Firefighter μαθαίνει να επικεντρώνεται στις πιο κρίσιμες εστίες φωτιάς.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Μηχανισμός Εκπαίδευσης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Κάθε πράκτορας έχει πρόσβαση μόνο στις δικές του παρατηρήσεις — ο Commander βλέπει 26 μεταβλητές, ο Rescuer 22 και ο Firefighter 24. Κατά την εκπαίδευση, ένα κεντρικό δίκτυο αξιολόγησης (critic) λαμβάνει τις παρατηρήσεις και των τριών πρακτόρων ταυτόχρονα ώστε να εκτιμά καλύτερα την αξία κάθε κατάστασης. Στην πραγματική εκτέλεση της προσομοίωσης ο critic δεν χρησιμοποιείται — κάθε πράκτορας δρα αποκλειστικά με τις δικές του πληροφορίες. Αυτή η προσέγγιση ονομάζεται CTDE (Centralized Training, Decentralized Execution). Ο αλγόριθμος εκπαίδευσης είναι PPO: ο πράκτορας δοκιμάζει ενέργειες, λαμβάνει αμοιβή και προσαρμόζει σταδιακά την πολιτική του αποφεύγοντας απότομες αλλαγές που θα αποσταθεροποιούσαν τη μάθηση. Για να αντιμετωπιστεί το πρόβλημα της συνεργατικής πίστωσης, δηλαδή πώς να αποδοθεί η κοινή επιτυχία στον καθένα ξεχωριστά, χρησιμοποιείται το QMIX, το οποίο συνδυάζει τις επιμέρους αξίες των τριών πρακτόρων σε μια κοινή συνάρτηση αξίας με εγγυημένη μονοτονία.</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Η λύση του QMIX: Κάθε πράκτορας έχει τη δική του συνάρτηση αξίας Q που εκτιμά πόσο χρήσιμη ήταν η ενέργειά του. Το QMIX τις συνδυάζει σε μια κοινή Q_tot με έναν τρόπο που εγγυάται ότι: αν μια ενέργεια φαίνεται καλή στο τοπικό Q ενός πράκτορα, είναι καλή και για το συνολικό Q_tot. Αυτό επιτρέπει σε κάθε πράκτορα να βελτιστοποιεί τοπικά χωρίς να χαλάει τη συνεργασία.</a:t>
            </a:r>
            <a:endParaRPr/>
          </a:p>
          <a:p>
            <a:pPr indent="0" lvl="0" marL="0" rtl="0" algn="l">
              <a:spcBef>
                <a:spcPts val="0"/>
              </a:spcBef>
              <a:spcAft>
                <a:spcPts val="0"/>
              </a:spcAft>
              <a:buNone/>
            </a:pPr>
            <a:r>
              <a:rPr lang="en-US"/>
              <a:t>Απλά: το QMIX διδάσκει τους πράκτορες να συνεργάζονται χωρίς να χρειάζεται ο ένας να ξέρει τι κάνει ο άλλος.</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Συναρτήσεις Αμοιβής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Κάθε πράκτορας εκπαιδεύεται με ξεχωριστή συνάρτηση αμοιβής που αντικατοπτρίζει τον ρόλο του. Οι αμοιβές δίνονται ανά βήμα για συνεχή ανατροφοδότηση, αλλά και στο τέλος κάθε επεισοδίου για αξιολόγηση του συνολικού αποτελέσματος.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Ο Commander ανταμείβεται για κάθε πολίτη που εκκενώνεται επιτυχώς και τιμωρείται αυστηρά για κάθε θύμα. Επιπλέον, τιμωρείται όταν η επιλεγμένη φάση δεν αντιστοιχεί στην πραγματική αναλογία TTI/ECT — δηλαδή όταν εκκενώνει πολύ νωρίς ή πολύ αργά. Η τερματική αμοιβή βασίζεται στη θνησιμότητα, το ποσοστό επιτυχούς εκκένωσης και την καμένη έκταση.</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Ο Rescuer ανταμείβεται για κάθε πολίτη που φτάνει σε ασφαλή ζώνη και για κάθε βήμα που πλησιάζει τον στόχο του. Τιμωρείται για θύματα κοντά του, για διαδρομές που περνούν από ζώνες υψηλής θερμοκρασίας, καθώς και αν παραμένει αδρανής ενώ υπάρχουν πολίτες σε κίνδυνο. Ο Rescuer μπορεί επίσης να αρνηθεί αποστολή αν η θερμοκρασία κατά μήκος της διαδρομής υπερβαίνει τα 70°C.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Ο Firefighter ανταμείβεται για κάθε κελί που κατασβήνει και για τη δημιουργία γραμμών πυρκαγιάς που εμποδίζουν την εξάπλωση. Τιμωρείται όταν η φωτιά επεκτείνεται ενώ είναι ενεργός, για σπατάλη νερού και για χρόνο ανεφοδιασμού. Η τερματική αμοιβή βασίζεται στο ποσοστό της καμένης έκτασης στο τέλος της προσομοίωσης.</a:t>
            </a:r>
            <a:endParaRPr/>
          </a:p>
        </p:txBody>
      </p:sp>
      <p:sp>
        <p:nvSpPr>
          <p:cNvPr id="374" name="Google Shape;374;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Αναλυτικό Πρόγραμμα Εκπαίδευσης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Η εκπαίδευση των πρακτόρων ακολουθεί την αρχή του Curriculum Learning (Bengio et al. 2009): αντί να εκτεθούν απευθείας σε δύσκολα σενάρια, οι πράκτορες ξεκινούν με απλές συνθήκες και η δυσκολία αυξάνεται σταδιακά. Αυτό βελτιώνει τη σύγκλιση και αποφεύγει το πρόβλημα της πολύ αρνητικής αμοιβής στα πρώτα στάδια εκπαίδευσης.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Κριτήρια Δυσκολίας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Κάθε σενάριο κατατάχθηκε σε φάση δυσκολίας με βάση δύο κριτήρια: την ένταση της πυρκαγιάς, που μετριέται ως γινόμενο ρυθμού εξάπλωσης επί ταχύτητας ανέμου (ROS × u), και την ιστορική τεκμηρίωση, δηλαδή την πραγματική καμένη έκταση, τον αριθμό θυμάτων και τις συνθήκες του γεγονότος.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Δομή Εκπαίδευσης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Η εκπαίδευση πραγματοποιήθηκε σε 4.000 συνολικά επεισόδια των 500 βημάτων, δηλαδή 2.000.000 βήματα περιβάλλοντος. Σε κάθε φάση, τα σενάρια της προηγούμενης φάσης παραμένουν διαθέσιμα — δεν αντικαθίστανται.</a:t>
            </a:r>
            <a:endParaRPr/>
          </a:p>
          <a:p>
            <a:pPr indent="0" lvl="0" marL="0" rtl="0" algn="l">
              <a:spcBef>
                <a:spcPts val="0"/>
              </a:spcBef>
              <a:spcAft>
                <a:spcPts val="0"/>
              </a:spcAft>
              <a:buNone/>
            </a:pPr>
            <a:r>
              <a:rPr lang="en-US"/>
              <a:t>Έτσι οι πράκτορες δεν ξεχνούν αυτά που έμαθαν νωρίτερα.</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Held-out — Αποκλειστικά για Αξιολόγηση</a:t>
            </a:r>
            <a:endParaRPr/>
          </a:p>
          <a:p>
            <a:pPr indent="0" lvl="0" marL="0" rtl="0" algn="l">
              <a:spcBef>
                <a:spcPts val="0"/>
              </a:spcBef>
              <a:spcAft>
                <a:spcPts val="0"/>
              </a:spcAft>
              <a:buNone/>
            </a:pPr>
            <a:r>
              <a:rPr lang="en-US"/>
              <a:t>Εννέα σενάρια δεν χρησιμοποιήθηκαν ποτέ στην εκπαίδευση και κρατήθηκαν αποκλειστικά για την αξιολόγηση της ικανότητας γενίκευσης του συστήματος σε άγνωστες συνθήκες. Καλύπτουν ολόκληρο το εύρος δυσκολίας, συμπεριλαμβανομένων ακραίων περιπτώσεων που ξεπερνούν τα όρια των σεναρίων εκπαίδευσης.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98" name="Google Shape;398;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Μεθοδολογία Πειραμάτων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Η αξιολόγηση του συστήματος οργανώθηκε σε τέσσερα ανεξάρτητα πειραματικά μπλοκ, καθένα από τα οποία απαντά σε διαφορετικό ερευνητικό ερώτημα.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Μπλοκ Α — Μοντέλο ML Hurdle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Εκπαιδεύτηκε ένα μοντέλο XGBoost δύο σταδίων (Hurdle Model, Mullahy 1986) με σκοπό να προβλέπει την τελική έκβαση της προσομοίωσης στη μέση της εκτέλεσής της — δηλαδή στο βήμα 250 από τα 500. Το πρώτο στάδιο είναι ταξινομητής που εκτιμά αν θα υπάρξουν θύματα, και το δεύτερο είναι παλινδρομητής που εκτιμά πόσα. Η εκπαίδευση έγινε με 5-fold στρωματοποιημένη διασταύρωση σε 2.000 επεισόδια, και η τελική αξιολόγηση σε 9 κρυφά ιστορικά συμβάντα που δεν χρησιμοποιήθηκαν ποτέ στην εκπαίδευση.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Πιθανή απορία: Γιατί στο βήμα 250; Γιατί θέλουμε έγκαιρη πρόβλεψη, αν περιμένουμε το τέλος, δεν έχει πρακτική χρησιμότητα. Στο μισό της προσομοίωσης υπάρχει αρκετή πληροφορία για αξιόπιστη πρόβλεψη.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Μπλοκ Β — Ιστορική Επικύρωση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Το σύστημα εκτελέστηκε 50 φορές σε καθένα από τα 9 κρυφά ιστορικά συμβάντα και τα αποτελέσματα συγκρίθηκαν με τα πραγματικά τεκμηριωμένα δεδομένα. Το κριτήριο επιτυχίας είναι ο λόγος προσομοίωσης προς πραγματικό να βρίσκεται μεταξύ 0.1 και 10, δηλαδή εντός μίας τάξης μεγέθους. Επιπλέον, υπολογίστηκε ο δείκτης Jaccard/IoU για χωρική συμφωνία μεταξύ της προσομοιωμένης και της πραγματικής έκτασης πυρκαγιάς.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Πιθανή απορία: Γιατί τάξη μεγέθους και όχι ακριβής σύγκριση; Γιατί οι προσομοιώσεις πυρκαγιάς έχουν εγγενή αβεβαιότητα, ακόμα και τα καλύτερα μοντέλα δεν αναπαράγουν ακριβώς το πραγματικό γεγονός. Μία τάξη μεγέθους είναι αποδεκτό κριτήριο στη βιβλιογραφία.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Μπλοκ Γ — Μελέτη Ablation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Εκτελέστηκαν 100 εκτελέσεις για καθεμία από τις 4 συνθήκες: πλήρες σύστημα, χωρίς CNP, χωρίς μοντέλο πανικού, και χωρίς κανένα από τα δύο. Ο στόχος είναι να μετρηθεί η συνεισφορά κάθε συστατικού ξεχωριστά. Η στατιστική ανάλυση έγινε με Mann-Whitney U test — μη παραμετρική μέθοδο κατάλληλη για μεταβλητές που δεν ακολουθούν κανονική κατανομή, και υπολογίστηκε το μέγεθος επίδρασης με rank-biserial correlation.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Πιθανή απορία: Γιατί Mann-Whitney και όχι t-test; Γιατί τα ποσοστά θνησιμότητας και εκκένωσης είναι φραγμένες μεταβλητές στο [0,1] που δεν ακολουθούν κανονική κατανομή.</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Μπλοκ Δ — Ανάλυση Ευαισθησίας Sobol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Αναλύθηκαν 6 παράμετροι του συστήματος με τη μέθοδο Sobol χρησιμοποιώντας N=512, που δίνει συνολικά 7.168 αξιολογήσεις (512 × (2×6 + 2)). Υπολογίστηκαν οι δείκτες πρώτης τάξης S₁, που μετρούν την άμεση επίδραση κάθε παραμέτρου, και οι δείκτες ολικής επίδρασης S_T, που περιλαμβάνουν και τις αλληλεπιδράσεις με τις υπόλοιπες παραμέτρους. Οι έξοδοι που εξετάστηκαν είναι θνησιμότητα, ποσοστό εκκένωσης και διάρκεια προσομοίωσης.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Πιθανή απορία: Τι μας λέει ο S_T − S₁; Αν η διαφορά είναι μεγάλη, σημαίνει ότι η παράμετρος αλληλεπιδρά έντονα με άλλες, η επίδρασή της εξαρτάται από τις τιμές των υπολοίπων.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Σύγκριση MARL έναντι Βασικής Γραμμής Κανόνων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Το σύστημα MARL συγκρίθηκε με μια βασική γραμμή καθαρά κανονιστικής λογικής σε 32 σενάρια (23 εκπαίδευσης + 9 held-out). Χρησιμοποιήθηκε Wilcoxon signed-rank test με διόρθωση Bonferroni για πολλαπλές συγκρίσεις, που κατεβάζει το κατώφλιο σημαντικότητας από 0.05 σε 0.00156.</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Πιθανή απορία: Γιατί Bonferroni; Γιατί όταν κάνουμε 32 ταυτόχρονες συγκρίσεις, η πιθανότητα να βρούμε τυχαία μια «σημαντική» διαφορά αυξάνεται. Το Bonferroni διορθώνει αυτό το πρόβλημα.</a:t>
            </a:r>
            <a:endParaRPr/>
          </a:p>
          <a:p>
            <a:pPr indent="0" lvl="0" marL="0" rtl="0" algn="l">
              <a:spcBef>
                <a:spcPts val="0"/>
              </a:spcBef>
              <a:spcAft>
                <a:spcPts val="0"/>
              </a:spcAft>
              <a:buNone/>
            </a:pPr>
            <a:r>
              <a:t/>
            </a:r>
            <a:endParaRPr/>
          </a:p>
        </p:txBody>
      </p:sp>
      <p:sp>
        <p:nvSpPr>
          <p:cNvPr id="430" name="Google Shape;430;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Αποτελέσματα ML Hurdle Model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Εκπαιδεύτηκε ένα μοντέλο XGBoost δύο σταδίων για να προβλέπει την έκβαση της προσομοίωσης στο μισό της εκτέλεσής της — στο βήμα 250 από τα 500. Το πρώτο στάδιο ταξινομεί αν θα υπάρξουν θύματα και το δεύτερο εκτιμά πόσα.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Ταξινομητής κινδύνου (P(θύματα &gt; 0)): Η 5-fold διασταύρωση έδωσε AUC-ROC = 0.984 (SD = 0.003), που σημαίνει ότι το μοντέλο διακρίνει σωστά επικίνδυνα από ασφαλή σενάρια στο 98.4% των περιπτώσεων.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Παλινδρόμηση θυμάτων: Το μοντέλο προβλέπει τον αριθμό θυμάτων με MAE = 2.73, δηλαδή μέσο σφάλμα περίπου 3 ατόμων — αποδεκτή ακρίβεια για πρόβλεψη στη μέση της προσομοίωσης.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Σταδιακή επανεκπαίδευση: Σε κάθε νέο ιστορικό συμβάν, το μοντέλο επανεκπαιδεύεται ενσωματώνοντας τα νέα δεδομένα. Το γράφημα δείχνει ότι πριν την επανεκπαίδευση οι μετρικές παρουσιάζουν μεγάλη διακύμανση, ενώ μετά σταθεροποιούνται — το μοντέλο βελτιώνεται καθώς βλέπει περισσότερα συμβάντα. Το R² εκκένωσης ανεβαίνει από 0.39 στην αρχή έως 0.97 στο τελευταίο συμβάν.</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  Γιατί εμφανίζονται αρνητικές τιμές R² στο γράφημα εκκένωσης;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Η 5-fold cross-validation αξιολογεί το μοντέλο ανακατασκευάζοντας το simulation state από το feature vector.</a:t>
            </a:r>
            <a:endParaRPr/>
          </a:p>
          <a:p>
            <a:pPr indent="0" lvl="0" marL="0" rtl="0" algn="l">
              <a:spcBef>
                <a:spcPts val="0"/>
              </a:spcBef>
              <a:spcAft>
                <a:spcPts val="0"/>
              </a:spcAft>
              <a:buClr>
                <a:schemeClr val="dk1"/>
              </a:buClr>
              <a:buSzPts val="1100"/>
              <a:buFont typeface="Arial"/>
              <a:buNone/>
            </a:pPr>
            <a:r>
              <a:rPr lang="en-US"/>
              <a:t>   Το feature vector δεν περιέχει τον συνολικό αριθμό πολιτών — αυτός είναι runtime μεταβλητή που δεν</a:t>
            </a:r>
            <a:endParaRPr/>
          </a:p>
          <a:p>
            <a:pPr indent="0" lvl="0" marL="0" rtl="0" algn="l">
              <a:spcBef>
                <a:spcPts val="0"/>
              </a:spcBef>
              <a:spcAft>
                <a:spcPts val="0"/>
              </a:spcAft>
              <a:buClr>
                <a:schemeClr val="dk1"/>
              </a:buClr>
              <a:buSzPts val="1100"/>
              <a:buFont typeface="Arial"/>
              <a:buNone/>
            </a:pPr>
            <a:r>
              <a:rPr lang="en-US"/>
              <a:t>  αποθηκεύεται στα χαρακτηριστικά.</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Ο τύπος πρόβλεψης εκκένωσης είναι: εκκενωθέντες = πολίτες − θύματα. Χωρίς τον αριθμό πολιτών, το αποτέλεσμα</a:t>
            </a:r>
            <a:endParaRPr/>
          </a:p>
          <a:p>
            <a:pPr indent="0" lvl="0" marL="0" rtl="0" algn="l">
              <a:spcBef>
                <a:spcPts val="0"/>
              </a:spcBef>
              <a:spcAft>
                <a:spcPts val="0"/>
              </a:spcAft>
              <a:buClr>
                <a:schemeClr val="dk1"/>
              </a:buClr>
              <a:buSzPts val="1100"/>
              <a:buFont typeface="Arial"/>
              <a:buNone/>
            </a:pPr>
            <a:r>
              <a:rPr lang="en-US"/>
              <a:t>  είναι μηδέν για όλα τα παραδείγματα. Το R² συγκρίνει μηδενικές προβλέψεις με πραγματικές τιμές 14–109 ατόμων</a:t>
            </a:r>
            <a:endParaRPr/>
          </a:p>
          <a:p>
            <a:pPr indent="0" lvl="0" marL="0" rtl="0" algn="l">
              <a:spcBef>
                <a:spcPts val="0"/>
              </a:spcBef>
              <a:spcAft>
                <a:spcPts val="0"/>
              </a:spcAft>
              <a:buClr>
                <a:schemeClr val="dk1"/>
              </a:buClr>
              <a:buSzPts val="1100"/>
              <a:buFont typeface="Arial"/>
              <a:buNone/>
            </a:pPr>
            <a:r>
              <a:rPr lang="en-US"/>
              <a:t>   — το αρνητικό R² προκύπτει αναγκαστικά από αυτή την αριθμητική κατασκευή, όχι από αποτυχία του μοντέλου.</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Το ίδιο το RandomForest μοντέλο εκκένωσης, αξιολογημένο απευθείας στο 80/20 test set, επιτυγχάνει R² =</a:t>
            </a:r>
            <a:endParaRPr/>
          </a:p>
          <a:p>
            <a:pPr indent="0" lvl="0" marL="0" rtl="0" algn="l">
              <a:spcBef>
                <a:spcPts val="0"/>
              </a:spcBef>
              <a:spcAft>
                <a:spcPts val="0"/>
              </a:spcAft>
              <a:buClr>
                <a:schemeClr val="dk1"/>
              </a:buClr>
              <a:buSzPts val="1100"/>
              <a:buFont typeface="Arial"/>
              <a:buNone/>
            </a:pPr>
            <a:r>
              <a:rPr lang="en-US"/>
              <a:t>  0.8547. Το R² 0.971 που βλέπετε στη διαφάνεια είναι από το incremental validation — διαφορετική διαδικασία</a:t>
            </a:r>
            <a:endParaRPr/>
          </a:p>
          <a:p>
            <a:pPr indent="0" lvl="0" marL="0" rtl="0" algn="l">
              <a:spcBef>
                <a:spcPts val="0"/>
              </a:spcBef>
              <a:spcAft>
                <a:spcPts val="0"/>
              </a:spcAft>
              <a:buClr>
                <a:schemeClr val="dk1"/>
              </a:buClr>
              <a:buSzPts val="1100"/>
              <a:buFont typeface="Arial"/>
              <a:buNone/>
            </a:pPr>
            <a:r>
              <a:rPr lang="en-US"/>
              <a:t>  που χρησιμοποιεί πλήρες simulation state και δίνει την πραγματική εικόνα γενίκευσης.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  Το πρόβλημα αναλύεται πλήρως στην ενότητα Περιορισμοί.</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Για την εκκένωση δεν χρησιμοποιούμε το cross-validation R² καθόλου. Αντ' αυτού έχουμε δύο έγκυρες μετρικές:</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1. R² = 0.8547 — απευθείας αξιολόγηση του RandomForest στο 80/20 held-out test set, χωρίς mock state. Αυτό</a:t>
            </a:r>
            <a:endParaRPr/>
          </a:p>
          <a:p>
            <a:pPr indent="0" lvl="0" marL="0" rtl="0" algn="l">
              <a:spcBef>
                <a:spcPts val="0"/>
              </a:spcBef>
              <a:spcAft>
                <a:spcPts val="0"/>
              </a:spcAft>
              <a:buNone/>
            </a:pPr>
            <a:r>
              <a:rPr lang="en-US"/>
              <a:t>  μετρά την πραγματική ακρίβεια του μοντέλου.</a:t>
            </a:r>
            <a:endParaRPr/>
          </a:p>
          <a:p>
            <a:pPr indent="0" lvl="0" marL="0" rtl="0" algn="l">
              <a:spcBef>
                <a:spcPts val="0"/>
              </a:spcBef>
              <a:spcAft>
                <a:spcPts val="0"/>
              </a:spcAft>
              <a:buNone/>
            </a:pPr>
            <a:r>
              <a:rPr lang="en-US"/>
              <a:t>  2. R² 0.39→0.97 — incremental validation: το μοντέλο τρέχει μέσα στην προσομοίωση όπου έχει πρόσβαση στον</a:t>
            </a:r>
            <a:endParaRPr/>
          </a:p>
          <a:p>
            <a:pPr indent="0" lvl="0" marL="0" rtl="0" algn="l">
              <a:spcBef>
                <a:spcPts val="0"/>
              </a:spcBef>
              <a:spcAft>
                <a:spcPts val="0"/>
              </a:spcAft>
              <a:buNone/>
            </a:pPr>
            <a:r>
              <a:rPr lang="en-US"/>
              <a:t>  πραγματικό αριθμό πολιτών. Αυτό μετρά πώς γενικεύει σε νέα ιστορικά σενάρια.</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Για τη θνησιμότητα η cross-validation είναι έγκυρη και δίνει AUC-ROC = 0.984 και MAE = 2.73.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Συνοπτικά: η cross-validation αξιολογεί μόνο τον ταξινομητή θυμάτων. Για εκκένωση, τα έγκυρα αποτελέσματα</a:t>
            </a:r>
            <a:endParaRPr/>
          </a:p>
          <a:p>
            <a:pPr indent="0" lvl="0" marL="0" rtl="0" algn="l">
              <a:spcBef>
                <a:spcPts val="0"/>
              </a:spcBef>
              <a:spcAft>
                <a:spcPts val="0"/>
              </a:spcAft>
              <a:buNone/>
            </a:pPr>
            <a:r>
              <a:rPr lang="en-US"/>
              <a:t>  είναι το 0.8547 και το 0.39→0.97.</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Το incremental retraining γράφημα δείχνει τρία πράγματα:</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AUC-ROC Ταξινομητής</a:t>
            </a:r>
            <a:endParaRPr/>
          </a:p>
          <a:p>
            <a:pPr indent="0" lvl="0" marL="0" rtl="0" algn="l">
              <a:spcBef>
                <a:spcPts val="0"/>
              </a:spcBef>
              <a:spcAft>
                <a:spcPts val="0"/>
              </a:spcAft>
              <a:buNone/>
            </a:pPr>
            <a:r>
              <a:rPr lang="en-US"/>
              <a:t>Πριν επανεκπαίδευση: μεγάλη διακύμανση μεταξύ συμβάντων</a:t>
            </a:r>
            <a:endParaRPr/>
          </a:p>
          <a:p>
            <a:pPr indent="0" lvl="0" marL="0" rtl="0" algn="l">
              <a:spcBef>
                <a:spcPts val="0"/>
              </a:spcBef>
              <a:spcAft>
                <a:spcPts val="0"/>
              </a:spcAft>
              <a:buNone/>
            </a:pPr>
            <a:r>
              <a:rPr lang="en-US"/>
              <a:t>Μετά: σταθεροποιείται κοντά στο 1.0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MAE Θυμάτων</a:t>
            </a:r>
            <a:endParaRPr/>
          </a:p>
          <a:p>
            <a:pPr indent="0" lvl="0" marL="0" rtl="0" algn="l">
              <a:spcBef>
                <a:spcPts val="0"/>
              </a:spcBef>
              <a:spcAft>
                <a:spcPts val="0"/>
              </a:spcAft>
              <a:buNone/>
            </a:pPr>
            <a:r>
              <a:rPr lang="en-US"/>
              <a:t>Πριν: υψηλό σφάλμα σε νέα συμβάντα</a:t>
            </a:r>
            <a:endParaRPr/>
          </a:p>
          <a:p>
            <a:pPr indent="0" lvl="0" marL="0" rtl="0" algn="l">
              <a:spcBef>
                <a:spcPts val="0"/>
              </a:spcBef>
              <a:spcAft>
                <a:spcPts val="0"/>
              </a:spcAft>
              <a:buNone/>
            </a:pPr>
            <a:r>
              <a:rPr lang="en-US"/>
              <a:t>Μετά: μειώνεται σταθερά, το μοντέλο βελτιώνεται</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R² Εκκένωσης</a:t>
            </a:r>
            <a:endParaRPr/>
          </a:p>
          <a:p>
            <a:pPr indent="0" lvl="0" marL="0" rtl="0" algn="l">
              <a:spcBef>
                <a:spcPts val="0"/>
              </a:spcBef>
              <a:spcAft>
                <a:spcPts val="0"/>
              </a:spcAft>
              <a:buNone/>
            </a:pPr>
            <a:r>
              <a:rPr lang="en-US"/>
              <a:t>Πριν: αρνητικές τιμές (το γνωστό πρόβλημα)</a:t>
            </a:r>
            <a:endParaRPr/>
          </a:p>
          <a:p>
            <a:pPr indent="0" lvl="0" marL="0" rtl="0" algn="l">
              <a:spcBef>
                <a:spcPts val="0"/>
              </a:spcBef>
              <a:spcAft>
                <a:spcPts val="0"/>
              </a:spcAft>
              <a:buNone/>
            </a:pPr>
            <a:r>
              <a:rPr lang="en-US"/>
              <a:t>Μετά: βελτιώνεται σταδιακά, δείχνει ότι η σταδιακή επανεκπαίδευση βοηθά</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Το βασικό μήνυμα του γραφήματος: η επανεκπαίδευση με κάθε νέο συμβάν βελτιώνει σταθερά και τις τρεις μετρικές.</a:t>
            </a:r>
            <a:endParaRPr/>
          </a:p>
          <a:p>
            <a:pPr indent="0" lvl="0" marL="0" rtl="0" algn="l">
              <a:spcBef>
                <a:spcPts val="0"/>
              </a:spcBef>
              <a:spcAft>
                <a:spcPts val="0"/>
              </a:spcAft>
              <a:buNone/>
            </a:pPr>
            <a:r>
              <a:t/>
            </a:r>
            <a:endParaRPr/>
          </a:p>
        </p:txBody>
      </p:sp>
      <p:sp>
        <p:nvSpPr>
          <p:cNvPr id="458" name="Google Shape;458;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Ως κριτήριο αποδοχής υιοθετήθηκε η συμφωνία τάξης μεγέθους, ο λόγος της προσομοιωμένης τιμής προς την τεκμηριωμένη ιστορική τιμή να ανήκει στο διάστημα ×0.1 έως ×10, σύμφωνα με τη μεθοδολογία face-validity για agent-based προσομοιώσεις καταστροφών (Mas et al., 2021· Grimm et al., 2020).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Η ιστορική επικύρωση πραγματοποιήθηκε σε 9 held-out σενάρια, πραγματικές πυρκαγιές που το σύστημα δεν είχε δει ποτέ κατά την εκπαίδευση. Για κάθε σενάριο εκτελέστηκαν 50 επαναλήψεις και συγκρίθηκαν οι μέσες τιμές με τα τεκμηριωμένα ιστορικά δεδομένα.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Ως προς την εκκένωση, το σύστημα επιτυγχάνει και στα 9 σενάρια. Ως προς τη θνησιμότητα, 4 σενάρια εμπίπτουν πλήρως εντός του κριτηρίου, 2 βρίσκονται στο όριο (~10–11×), ενώ 3 παρουσιάζουν διαφορά κλίμακας λόγω δομικής ασυμφωνίας μεγέθους: το simulation προσομοιώνει 65 πολίτες σε ακτίνα 3 km, ενώ αυτές οι πυρκαγιές επηρέασαν δεκάδες χιλιάδες ανθρώπους σε πολύ μεγαλύτερες εκτάσεις.</a:t>
            </a:r>
            <a:endParaRPr/>
          </a:p>
        </p:txBody>
      </p:sp>
      <p:sp>
        <p:nvSpPr>
          <p:cNvPr id="485" name="Google Shape;485;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Η μελέτη απαλοιφής εξέτασε τη συνεισφορά δύο βασικών συνιστωσών: του πρωτοκόλλου Contract Net (CNP) για την ανάθεση εργασιών και του μοντέλου γνωστικού πανικού των αμάχων. Δοκιμάστηκαν τέσσερις συνθήκες, πλήρες σύστημα, αφαίρεση CNP, αφαίρεση μοντέλου πανικού, και αφαίρεση και των δύο, με 100 επαναλήψεις ανά συνθήκη (Wilensky &amp; Rand, 2015).</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Τα violin plots επιβεβαιώνουν οπτικά ότι οι κατανομές θνησιμότητας και εκκένωσης αλληλοκαλύπτονται πλήρως και στις τέσσερις συνθήκες, δεν υπάρχει καμία συνθήκη που να ξεχωρίζει καθαρά από τις υπόλοιπες. Η απουσία violin στο γράφημα πανικού για τις δύο τελευταίες συνθήκες είναι αναμενόμενη: με το μοντέλο απενεργοποιημένο, ο πανικός ισούται με μηδέν σε κάθε επανάληψη, επιβεβαιώνοντας ότι ο κώδικας λειτουργεί σωστά.</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Στατιστικά, καμία διαφορά δεν φτάνει σε σημαντικότητα (Mann-Whitney U, p &gt; 0.05). Μόνο η ταυτόχρονη αφαίρεση και των δύο μηχανισμών δίνει αριθμητικά χειρότερη έκβαση (3.77% θνησιμότητα, 96.23% εκκένωση). Αυτό αποδίδεται στη μεσαία δυσκολία των σεναρίων, σε ακραία περιστατικά το σήμα αναμένεται ισχυρότερο.</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Το εύρημα επιβεβαιώνει ανθεκτικότητα: το σύστημα δεν εξαρτάται κρίσιμα από καμία μεμονωμένη συνιστώσα, γεγονός επιθυμητό για ένα σύστημα που λειτουργεί σε συνθήκες υψηλής αβεβαιότητας.</a:t>
            </a:r>
            <a:endParaRPr/>
          </a:p>
          <a:p>
            <a:pPr indent="0" lvl="0" marL="0" rtl="0" algn="l">
              <a:spcBef>
                <a:spcPts val="0"/>
              </a:spcBef>
              <a:spcAft>
                <a:spcPts val="0"/>
              </a:spcAft>
              <a:buNone/>
            </a:pPr>
            <a:r>
              <a:t/>
            </a:r>
            <a:endParaRPr/>
          </a:p>
        </p:txBody>
      </p:sp>
      <p:sp>
        <p:nvSpPr>
          <p:cNvPr id="559" name="Google Shape;559;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Η ανάλυση ευαισθησίας Sobol (Saltelli et al., 2010) ποσοτικοποιεί πόσο κάθε παράμετρος συνεισφέρει στη διακύμανση των αποτελεσμάτων, μεμονωμένα (S₁) και μέσω αλληλεπιδράσεων (ST). Εξετάστηκαν 6 παράμετροι ως προς τη θνησιμότητα και τον ρυθμό εκκένωσης.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Το κεντρικό εύρημα είναι ότι καμία παράμετρος δεν κυριαρχεί μόνη της: οι άμεσες επιδράσεις S₁ κυμαίνονται μόλις στο 0.05–0.13, ενώ οι ολικές ST φτάνουν 0.83–1.01. Το χάσμα αυτό υποδηλώνει ότι η έκβαση διαμορφώνεται από συνδυασμούς παραμέτρων, όχι από μεμονωμένες επιδράσεις, emergent συμπεριφορά χαρακτηριστική των ABM. Η γνωστική κατάσταση των αμάχων (CIVILIAN_PANIC_RATIONAL) εμφανίζει τη μεγαλύτερη άμεση επίδραση στη θνησιμότητα (S₁=0.13), ενώ ο αριθμός πολιτών έχει την υψηλότερη ολική επίδραση (ST=0.99).</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Πιθανές ερωτήσεις: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"Τι σημαίνει ST &gt; 1;"</a:t>
            </a:r>
            <a:endParaRPr/>
          </a:p>
          <a:p>
            <a:pPr indent="0" lvl="0" marL="0" rtl="0" algn="l">
              <a:spcBef>
                <a:spcPts val="0"/>
              </a:spcBef>
              <a:spcAft>
                <a:spcPts val="0"/>
              </a:spcAft>
              <a:buClr>
                <a:schemeClr val="dk1"/>
              </a:buClr>
              <a:buSzPts val="1100"/>
              <a:buFont typeface="Arial"/>
              <a:buNone/>
            </a:pPr>
            <a:r>
              <a:rPr lang="en-US"/>
              <a:t>Θεωρητικά ST ≤ 1, αλλά η τιμή 1.01 για την ταχύτητα ελεύθερης ροής βρίσκεται εντός του διαστήματος εμπιστοσύνης (±0.14). Αποδίδεται σε δειγματοληπτικό σφάλμα και δεν αλλάζει τα συμπεράσματα.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"Γιατί S₁ τόσο μικρό;"</a:t>
            </a:r>
            <a:endParaRPr/>
          </a:p>
          <a:p>
            <a:pPr indent="0" lvl="0" marL="0" rtl="0" algn="l">
              <a:spcBef>
                <a:spcPts val="0"/>
              </a:spcBef>
              <a:spcAft>
                <a:spcPts val="0"/>
              </a:spcAft>
              <a:buClr>
                <a:schemeClr val="dk1"/>
              </a:buClr>
              <a:buSzPts val="1100"/>
              <a:buFont typeface="Arial"/>
              <a:buNone/>
            </a:pPr>
            <a:r>
              <a:rPr lang="en-US"/>
              <a:t>Γιατί το σύστημα είναι μη-γραμμικό. Καμία παράμετρος από μόνη της δεν εξηγεί σημαντικό μέρος της διακύμανσης, η έκβαση είναι αποτέλεσμα αλληλεπίδρασης πολλών παραγόντων ταυτόχρονα.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"Τι πρακτική χρήση έχει αυτή η ανάλυση;"</a:t>
            </a:r>
            <a:endParaRPr/>
          </a:p>
          <a:p>
            <a:pPr indent="0" lvl="0" marL="0" rtl="0" algn="l">
              <a:spcBef>
                <a:spcPts val="0"/>
              </a:spcBef>
              <a:spcAft>
                <a:spcPts val="0"/>
              </a:spcAft>
              <a:buClr>
                <a:schemeClr val="dk1"/>
              </a:buClr>
              <a:buSzPts val="1100"/>
              <a:buFont typeface="Arial"/>
              <a:buNone/>
            </a:pPr>
            <a:r>
              <a:rPr lang="en-US"/>
              <a:t>Δείχνει σε ποιες παραμέτρους αξίζει να επενδύσεις στη βαθμονόμηση. Αφού όλες έχουν υψηλό ST, η ακρίβεια του μοντέλου απαιτεί σωστή εκτίμηση όλων, δεν υπάρχει μία «κυρίαρχη» παράμετρος που να μπορείς να αγνοήσεις τις υπόλοιπες.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"Γιατί μόνο 6 παράμετροι;"</a:t>
            </a:r>
            <a:endParaRPr/>
          </a:p>
          <a:p>
            <a:pPr indent="0" lvl="0" marL="0" rtl="0" algn="l">
              <a:spcBef>
                <a:spcPts val="0"/>
              </a:spcBef>
              <a:spcAft>
                <a:spcPts val="0"/>
              </a:spcAft>
              <a:buClr>
                <a:schemeClr val="dk1"/>
              </a:buClr>
              <a:buSzPts val="1100"/>
              <a:buFont typeface="Arial"/>
              <a:buNone/>
            </a:pPr>
            <a:r>
              <a:rPr lang="en-US"/>
              <a:t>Η Sobol απαιτεί N×(2k+2) εκτελέσεις όπου k ο αριθμός παραμέτρων. Με 6 παραμέτρους και N=100 αυτό σημαίνει 1.400 πλήρεις προσομοιώσεις — υπολογιστικά ο πρακτικός ορίζοντας για αυτή την εργασία.</a:t>
            </a:r>
            <a:endParaRPr/>
          </a:p>
          <a:p>
            <a:pPr indent="0" lvl="0" marL="0" rtl="0" algn="l">
              <a:spcBef>
                <a:spcPts val="0"/>
              </a:spcBef>
              <a:spcAft>
                <a:spcPts val="0"/>
              </a:spcAft>
              <a:buNone/>
            </a:pPr>
            <a:r>
              <a:t/>
            </a:r>
            <a:endParaRPr/>
          </a:p>
        </p:txBody>
      </p:sp>
      <p:sp>
        <p:nvSpPr>
          <p:cNvPr id="624" name="Google Shape;624;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2" name="Google Shape;682;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Το MARL εκπαιδεύτηκε για 4.000 επεισόδια μέσα από αναλυτικό πρόγραμμα τριών φάσεων. Στο διάγραμμα εκπαίδευσης παρατηρούμε δύο σήματα μάθησης: η θνησιμότητα σταθεροποιείται γύρω στο επεισόδιο 576 ± 112 (μέσος όρος 3 seeds: 42, 123, 777), και το QMIX loss μειώνεται μονοτονικά, και τα δύο επιβεβαιώνουν ότι οι πράκτορες ανέπτυξαν συντονισμένη πολιτική χωρίς rule-based κανόνες. Οι φαινομενικές "επανεκκινήσεις" στις Φάσεις 2 και 3 δεν αντιστοιχούν σε επιδείνωση, αντανακλούν την αλλαγή του reward baseline λόγω δυσκολότερων σεναρίων.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Κατά την αξιολόγηση, τα σενάρια εκπαίδευσης δίνουν θνησιμότητα 12.3% ± 0.3% και εκκένωση 86.0% ± 0.3%, ενώ τα 9 κρυφά σενάρια 16.3% ± 0.2% και 81.8% ± 0.3% αντίστοιχα. Η διαφορά 4.0% ± 0.3% ποσοστιαίων μονάδων δείχνει ατελή αλλά υπαρκτή γενίκευση, το σύστημα δεν απομνημόνευσε τα σενάρια εκπαίδευσης. Η σταθερότητα μεταξύ seeds (SD ≤ 0.3%) επιβεβαιώνει αναπαραγωγιμότητα.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Το διάγραμμα σύγκρισης MARL vs rule-based baseline για όλα τα 31 σενάρια δείχνει ότι σε 29/32 δεν υπάρχει στατιστικά σημαντική διαφορά, αυτό είναι αναμενόμενο και επιθυμητό στα απλά σενάρια όπου οι κανόνες είναι ήδη βέλτιστοι. Σε πολύπλοκα σενάρια ο MARL υπερέχει σημαντικά: στην Κορσική (Corte) −17.5% θνησιμότητα και στην Αυστραλία (Dwellingup) −19.8%, και τα δύο στατιστικά σημαντικά μετά τη διόρθωση Bonferroni (p &lt; 0.00156, r &gt; 0.79). Το Μάτι 2018 αποτελεί εξαίρεση: ο MARL είναι χειρότερος κατά 17.9% λόγω ιδιαίτερα πολύπλοκης τοπολογίας δρόμων που δεν αντιπροσωπευόταν στην εκπαίδευση, και σε κάθε μία από τις 50 επαναλήψεις (r=1.00).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"Γιατί μόνο 4.000 επεισόδια;"</a:t>
            </a:r>
            <a:endParaRPr/>
          </a:p>
          <a:p>
            <a:pPr indent="0" lvl="0" marL="0" rtl="0" algn="l">
              <a:spcBef>
                <a:spcPts val="0"/>
              </a:spcBef>
              <a:spcAft>
                <a:spcPts val="0"/>
              </a:spcAft>
              <a:buClr>
                <a:schemeClr val="dk1"/>
              </a:buClr>
              <a:buSzPts val="1100"/>
              <a:buFont typeface="Arial"/>
              <a:buNone/>
            </a:pPr>
            <a:r>
              <a:rPr lang="en-US"/>
              <a:t>  Υπολογιστικός περιορισμός, κάθε επεισόδιο είναι πλήρης προσομοίωση με OSM δεδομένα, φωτιά, πολίτες και τρεις</a:t>
            </a:r>
            <a:endParaRPr/>
          </a:p>
          <a:p>
            <a:pPr indent="0" lvl="0" marL="0" rtl="0" algn="l">
              <a:spcBef>
                <a:spcPts val="0"/>
              </a:spcBef>
              <a:spcAft>
                <a:spcPts val="0"/>
              </a:spcAft>
              <a:buClr>
                <a:schemeClr val="dk1"/>
              </a:buClr>
              <a:buSzPts val="1100"/>
              <a:buFont typeface="Arial"/>
              <a:buNone/>
            </a:pPr>
            <a:r>
              <a:rPr lang="en-US"/>
              <a:t>   πράκτορες. Με περισσότερα επεισόδια η γενίκευση αναμένεται καλύτερη.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"Γιατί ο MARL δεν κερδίζει παντού;"</a:t>
            </a:r>
            <a:endParaRPr/>
          </a:p>
          <a:p>
            <a:pPr indent="0" lvl="0" marL="0" rtl="0" algn="l">
              <a:spcBef>
                <a:spcPts val="0"/>
              </a:spcBef>
              <a:spcAft>
                <a:spcPts val="0"/>
              </a:spcAft>
              <a:buClr>
                <a:schemeClr val="dk1"/>
              </a:buClr>
              <a:buSzPts val="1100"/>
              <a:buFont typeface="Arial"/>
              <a:buNone/>
            </a:pPr>
            <a:r>
              <a:rPr lang="en-US"/>
              <a:t>  Σε απλά σενάρια οι rule-based κανόνες είναι ήδη βέλτιστοι, δεν υπάρχει περιθώριο βελτίωσης. Η αξία του MARL</a:t>
            </a:r>
            <a:endParaRPr/>
          </a:p>
          <a:p>
            <a:pPr indent="0" lvl="0" marL="0" rtl="0" algn="l">
              <a:spcBef>
                <a:spcPts val="0"/>
              </a:spcBef>
              <a:spcAft>
                <a:spcPts val="0"/>
              </a:spcAft>
              <a:buClr>
                <a:schemeClr val="dk1"/>
              </a:buClr>
              <a:buSzPts val="1100"/>
              <a:buFont typeface="Arial"/>
              <a:buNone/>
            </a:pPr>
            <a:r>
              <a:rPr lang="en-US"/>
              <a:t>  φαίνεται εκεί που οι κανόνες δεν φτάνουν.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"Το Μάτι είναι held-out, άρα αποτυχία γενίκευσης;"</a:t>
            </a:r>
            <a:endParaRPr/>
          </a:p>
          <a:p>
            <a:pPr indent="0" lvl="0" marL="0" rtl="0" algn="l">
              <a:spcBef>
                <a:spcPts val="0"/>
              </a:spcBef>
              <a:spcAft>
                <a:spcPts val="0"/>
              </a:spcAft>
              <a:buClr>
                <a:schemeClr val="dk1"/>
              </a:buClr>
              <a:buSzPts val="1100"/>
              <a:buFont typeface="Arial"/>
              <a:buNone/>
            </a:pPr>
            <a:r>
              <a:rPr lang="en-US"/>
              <a:t>  Μερικώς. Αλλά 8 από τα 9 held-out σενάρια δεν εμφανίζουν στατιστικά σημαντική διαφορά — το Μάτι είναι</a:t>
            </a:r>
            <a:endParaRPr/>
          </a:p>
          <a:p>
            <a:pPr indent="0" lvl="0" marL="0" rtl="0" algn="l">
              <a:spcBef>
                <a:spcPts val="0"/>
              </a:spcBef>
              <a:spcAft>
                <a:spcPts val="0"/>
              </a:spcAft>
              <a:buClr>
                <a:schemeClr val="dk1"/>
              </a:buClr>
              <a:buSzPts val="1100"/>
              <a:buFont typeface="Arial"/>
              <a:buNone/>
            </a:pPr>
            <a:r>
              <a:rPr lang="en-US"/>
              <a:t>  εξαίρεση, όχι κανόνας.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"Τι σημαίνει r=1.00 στο Μάτι;"</a:t>
            </a:r>
            <a:endParaRPr/>
          </a:p>
          <a:p>
            <a:pPr indent="0" lvl="0" marL="0" rtl="0" algn="l">
              <a:spcBef>
                <a:spcPts val="0"/>
              </a:spcBef>
              <a:spcAft>
                <a:spcPts val="0"/>
              </a:spcAft>
              <a:buClr>
                <a:schemeClr val="dk1"/>
              </a:buClr>
              <a:buSzPts val="1100"/>
              <a:buFont typeface="Arial"/>
              <a:buNone/>
            </a:pPr>
            <a:r>
              <a:rPr lang="en-US"/>
              <a:t>  Σε κάθε μία από τις 50 επαναλήψεις ο MARL ήταν χειρότερος από το baseline, απόλυτη κατεύθυνση, χωρίς καμία</a:t>
            </a:r>
            <a:endParaRPr/>
          </a:p>
          <a:p>
            <a:pPr indent="0" lvl="0" marL="0" rtl="0" algn="l">
              <a:spcBef>
                <a:spcPts val="0"/>
              </a:spcBef>
              <a:spcAft>
                <a:spcPts val="0"/>
              </a:spcAft>
              <a:buClr>
                <a:schemeClr val="dk1"/>
              </a:buClr>
              <a:buSzPts val="1100"/>
              <a:buFont typeface="Arial"/>
              <a:buNone/>
            </a:pPr>
            <a:r>
              <a:rPr lang="en-US"/>
              <a:t>  εξαίρεση.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~246 ώρες CPU (3 seeds × ~82 ώρες)</a:t>
            </a:r>
            <a:endParaRPr/>
          </a:p>
          <a:p>
            <a:pPr indent="0" lvl="0" marL="0" rtl="0" algn="l">
              <a:spcBef>
                <a:spcPts val="0"/>
              </a:spcBef>
              <a:spcAft>
                <a:spcPts val="0"/>
              </a:spcAft>
              <a:buClr>
                <a:schemeClr val="dk1"/>
              </a:buClr>
              <a:buSzPts val="1100"/>
              <a:buFont typeface="Arial"/>
              <a:buNone/>
            </a:pPr>
            <a:r>
              <a:rPr lang="en-US"/>
              <a:t>  Η σύγκλιση στο ep.576 ± 112 υποστηρίζεται τόσο από τον αλγόριθμο plateau detection και την πτώση του QMIX</a:t>
            </a:r>
            <a:endParaRPr/>
          </a:p>
          <a:p>
            <a:pPr indent="0" lvl="0" marL="0" rtl="0" algn="l">
              <a:spcBef>
                <a:spcPts val="0"/>
              </a:spcBef>
              <a:spcAft>
                <a:spcPts val="0"/>
              </a:spcAft>
              <a:buClr>
                <a:schemeClr val="dk1"/>
              </a:buClr>
              <a:buSzPts val="1100"/>
              <a:buFont typeface="Arial"/>
              <a:buNone/>
            </a:pPr>
            <a:r>
              <a:rPr lang="en-US"/>
              <a:t>  loss, όσο και από τα διαστήματα εμπιστοσύνης που προκύπτουν από τα 3 seeds.</a:t>
            </a:r>
            <a:endParaRPr/>
          </a:p>
          <a:p>
            <a:pPr indent="0" lvl="0" marL="0" rtl="0" algn="l">
              <a:spcBef>
                <a:spcPts val="0"/>
              </a:spcBef>
              <a:spcAft>
                <a:spcPts val="0"/>
              </a:spcAft>
              <a:buNone/>
            </a:pPr>
            <a:r>
              <a:t/>
            </a:r>
            <a:endParaRPr/>
          </a:p>
        </p:txBody>
      </p:sp>
      <p:sp>
        <p:nvSpPr>
          <p:cNvPr id="683" name="Google Shape;683;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8" name="Google Shape;718;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Η εργασία παρουσιάζει πέντε βασικούς περιορισμούς που αναγνωρίζονται ειλικρινά.</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Ως προς την κλίμακα πληθυσμού, το σύστημα προσομοιώνει 50–100 αμάχους σε ακτίνα 3 km, ενώ πραγματικά συμβάντα αφορούν χιλιάδες ανθρώπους σε πολύ μεγαλύτερες εκτάσεις. Για αυτό χρησιμοποιείται ποσοστό θνησιμότητας ως μετρική αντί απόλυτου αριθμού, εξαλείφει την ασυμφωνία κλίμακας.</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Ως προς τον καιρό και τη φωτιά, οι ταλαντώσεις ανέμου είναι ντετερμινιστικές και δεν μοντελοποιούνται φαινόμενα όπως στρόβιλοι φωτιάς ή ξαφνικές μεταστροφές ανέμου που παρατηρούνται σε ακραίες πυρκαγιές.</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Ως προς το οδικό δίκτυο, το μοντέλο δεν υποστηρίζει αντίθετη κυκλοφορία ή σταδιακή αποδέσμευση ζωνών, απλοποιήσεις που επηρεάζουν τη ρεαλιστικότητα της εκκένωσης σε πυκνά αστικά περιβάλλοντα.</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Τέλος, το ML Hurdle μοντέλο εμφανίζει R²=−8.67 για τον αριθμό εκκενωμένων.</a:t>
            </a:r>
            <a:endParaRPr/>
          </a:p>
          <a:p>
            <a:pPr indent="0" lvl="0" marL="0" rtl="0" algn="l">
              <a:spcBef>
                <a:spcPts val="0"/>
              </a:spcBef>
              <a:spcAft>
                <a:spcPts val="0"/>
              </a:spcAft>
              <a:buClr>
                <a:schemeClr val="dk1"/>
              </a:buClr>
              <a:buSzPts val="1100"/>
              <a:buFont typeface="Arial"/>
              <a:buNone/>
            </a:pPr>
            <a:r>
              <a:rPr lang="en-US"/>
              <a:t>  R² = −8.67 εκκένωσης (cross-validation)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Η cross-validation ανακατασκευάζει το simulation state από το feature vector για να καλέσει το μοντέλο. Το</a:t>
            </a:r>
            <a:endParaRPr/>
          </a:p>
          <a:p>
            <a:pPr indent="0" lvl="0" marL="0" rtl="0" algn="l">
              <a:spcBef>
                <a:spcPts val="0"/>
              </a:spcBef>
              <a:spcAft>
                <a:spcPts val="0"/>
              </a:spcAft>
              <a:buClr>
                <a:schemeClr val="dk1"/>
              </a:buClr>
              <a:buSzPts val="1100"/>
              <a:buFont typeface="Arial"/>
              <a:buNone/>
            </a:pPr>
            <a:r>
              <a:rPr lang="en-US"/>
              <a:t>  feature vector δεν αποθηκεύει τον συνολικό αριθμό πολιτών — runtime μεταβλητή που δεν καταγράφεται στα</a:t>
            </a:r>
            <a:endParaRPr/>
          </a:p>
          <a:p>
            <a:pPr indent="0" lvl="0" marL="0" rtl="0" algn="l">
              <a:spcBef>
                <a:spcPts val="0"/>
              </a:spcBef>
              <a:spcAft>
                <a:spcPts val="0"/>
              </a:spcAft>
              <a:buClr>
                <a:schemeClr val="dk1"/>
              </a:buClr>
              <a:buSzPts val="1100"/>
              <a:buFont typeface="Arial"/>
              <a:buNone/>
            </a:pPr>
            <a:r>
              <a:rPr lang="en-US"/>
              <a:t>  χαρακτηριστικά.</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Αποτέλεσμα: ο τύπος εκκενωθέντες = πολίτες − θύματα παράγει μηδέν για όλα τα παραδείγματα. Το R² συγκρίνει</a:t>
            </a:r>
            <a:endParaRPr/>
          </a:p>
          <a:p>
            <a:pPr indent="0" lvl="0" marL="0" rtl="0" algn="l">
              <a:spcBef>
                <a:spcPts val="0"/>
              </a:spcBef>
              <a:spcAft>
                <a:spcPts val="0"/>
              </a:spcAft>
              <a:buClr>
                <a:schemeClr val="dk1"/>
              </a:buClr>
              <a:buSzPts val="1100"/>
              <a:buFont typeface="Arial"/>
              <a:buNone/>
            </a:pPr>
            <a:r>
              <a:rPr lang="en-US"/>
              <a:t>  μηδέν με πραγματικές τιμές 14–109 — το −8.67 είναι αριθμητικά αναπόφευκτο.</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Τι χρησιμοποιούμε αντί αυτού:</a:t>
            </a:r>
            <a:endParaRPr/>
          </a:p>
          <a:p>
            <a:pPr indent="0" lvl="0" marL="0" rtl="0" algn="l">
              <a:spcBef>
                <a:spcPts val="0"/>
              </a:spcBef>
              <a:spcAft>
                <a:spcPts val="0"/>
              </a:spcAft>
              <a:buClr>
                <a:schemeClr val="dk1"/>
              </a:buClr>
              <a:buSzPts val="1100"/>
              <a:buFont typeface="Arial"/>
              <a:buNone/>
            </a:pPr>
            <a:r>
              <a:rPr lang="en-US"/>
              <a:t>  - R² = 0.8547 — απευθείας αξιολόγηση RandomForest στο 80/20 test set</a:t>
            </a:r>
            <a:endParaRPr/>
          </a:p>
          <a:p>
            <a:pPr indent="0" lvl="0" marL="0" rtl="0" algn="l">
              <a:spcBef>
                <a:spcPts val="0"/>
              </a:spcBef>
              <a:spcAft>
                <a:spcPts val="0"/>
              </a:spcAft>
              <a:buClr>
                <a:schemeClr val="dk1"/>
              </a:buClr>
              <a:buSzPts val="1100"/>
              <a:buFont typeface="Arial"/>
              <a:buNone/>
            </a:pPr>
            <a:r>
              <a:rPr lang="en-US"/>
              <a:t>  - R² 0.39→0.97 — incremental validation με πλήρες simulation state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Το μοντέλο δουλεύει σωστά. Ο περιορισμός είναι στη δομή της cross-validation διαδικασίας, όχι στο μοντέλο.</a:t>
            </a:r>
            <a:endParaRPr/>
          </a:p>
          <a:p>
            <a:pPr indent="0" lvl="0" marL="0" rtl="0" algn="l">
              <a:spcBef>
                <a:spcPts val="0"/>
              </a:spcBef>
              <a:spcAft>
                <a:spcPts val="0"/>
              </a:spcAft>
              <a:buClr>
                <a:schemeClr val="dk1"/>
              </a:buClr>
              <a:buSzPts val="1100"/>
              <a:buFont typeface="Arial"/>
              <a:buNone/>
            </a:pPr>
            <a:r>
              <a:rPr lang="en-US"/>
              <a:t>  Βελτίωση: αποθήκευση του total_civilians στο feature vector.</a:t>
            </a:r>
            <a:endParaRPr/>
          </a:p>
          <a:p>
            <a:pPr indent="0" lvl="0" marL="0" rtl="0" algn="l">
              <a:spcBef>
                <a:spcPts val="0"/>
              </a:spcBef>
              <a:spcAft>
                <a:spcPts val="0"/>
              </a:spcAft>
              <a:buClr>
                <a:schemeClr val="dk1"/>
              </a:buClr>
              <a:buSzPts val="1100"/>
              <a:buFont typeface="Arial"/>
              <a:buNone/>
            </a:pPr>
            <a:r>
              <a:t/>
            </a:r>
            <a:endParaRPr/>
          </a:p>
        </p:txBody>
      </p:sp>
      <p:sp>
        <p:nvSpPr>
          <p:cNvPr id="719" name="Google Shape;719;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2" name="Google Shape;742;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r>
              <a:rPr lang="en-US"/>
              <a:t>Πολλαπλά seeds MARL*** για αυτό τρέχω τώρα πειράματα, μόλις τελειώσει θα προσθέσω τα αποτλέσματα και θα το αφαιρέσω από εδώ</a:t>
            </a:r>
            <a:endParaRPr/>
          </a:p>
        </p:txBody>
      </p:sp>
      <p:sp>
        <p:nvSpPr>
          <p:cNvPr id="743" name="Google Shape;743;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6" name="Google Shape;756;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Σας ευχαριστώ για την προσοχή σας.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Σύνοψη: 8 στα 9 ιστορικά συμβάντα επικυρώθηκαν ως προς την εκκένωση, 4 στα 9 ως προς τη θνησιμότητα. Ο ταξινομητής ML πέτυχε AUC-ROC 0.984. Η ευαισθησία κυριαρχείται από αλληλεπιδράσεις — S_T ≈ 1 για όλες τις παραμέτρους. Και το MARL έδειξε ισχυρό αποτέλεσμα σε 2 από τα 32 σενάρια.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Είμαι στη διάθεσή σας για ερωτήσεις.</a:t>
            </a:r>
            <a:endParaRPr/>
          </a:p>
        </p:txBody>
      </p:sp>
      <p:sp>
        <p:nvSpPr>
          <p:cNvPr id="757" name="Google Shape;757;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6"/>
          <p:cNvSpPr/>
          <p:nvPr>
            <p:ph idx="2" type="pic"/>
          </p:nvPr>
        </p:nvSpPr>
        <p:spPr>
          <a:xfrm>
            <a:off x="1792288" y="612775"/>
            <a:ext cx="5486400" cy="4114800"/>
          </a:xfrm>
          <a:prstGeom prst="rect">
            <a:avLst/>
          </a:prstGeom>
          <a:noFill/>
          <a:ln>
            <a:noFill/>
          </a:ln>
        </p:spPr>
      </p:sp>
      <p:sp>
        <p:nvSpPr>
          <p:cNvPr id="64" name="Google Shape;64;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1"/>
            <a:ext cx="12189000" cy="7553400"/>
          </a:xfrm>
          <a:prstGeom prst="rect">
            <a:avLst/>
          </a:prstGeom>
          <a:solidFill>
            <a:srgbClr val="1A2A4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0" y="49"/>
            <a:ext cx="109800" cy="75534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p:nvPr/>
        </p:nvSpPr>
        <p:spPr>
          <a:xfrm>
            <a:off x="228600" y="2377440"/>
            <a:ext cx="4114800" cy="411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txBox="1"/>
          <p:nvPr/>
        </p:nvSpPr>
        <p:spPr>
          <a:xfrm>
            <a:off x="356220" y="772893"/>
            <a:ext cx="8229600" cy="130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7900" u="none" cap="none" strike="noStrike">
                <a:solidFill>
                  <a:srgbClr val="D46A17"/>
                </a:solidFill>
                <a:latin typeface="Calibri"/>
                <a:ea typeface="Calibri"/>
                <a:cs typeface="Calibri"/>
                <a:sym typeface="Calibri"/>
              </a:rPr>
              <a:t>AIGIS</a:t>
            </a:r>
            <a:endParaRPr sz="2900"/>
          </a:p>
        </p:txBody>
      </p:sp>
      <p:sp>
        <p:nvSpPr>
          <p:cNvPr id="89" name="Google Shape;89;p1"/>
          <p:cNvSpPr txBox="1"/>
          <p:nvPr/>
        </p:nvSpPr>
        <p:spPr>
          <a:xfrm>
            <a:off x="274320" y="5098781"/>
            <a:ext cx="54864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700" u="none" cap="none" strike="noStrike">
                <a:solidFill>
                  <a:srgbClr val="D9DEE8"/>
                </a:solidFill>
                <a:latin typeface="Calibri"/>
                <a:ea typeface="Calibri"/>
                <a:cs typeface="Calibri"/>
                <a:sym typeface="Calibri"/>
              </a:rPr>
              <a:t>Χριστίνα Μακρή</a:t>
            </a:r>
            <a:endParaRPr sz="2200"/>
          </a:p>
        </p:txBody>
      </p:sp>
      <p:sp>
        <p:nvSpPr>
          <p:cNvPr id="90" name="Google Shape;90;p1"/>
          <p:cNvSpPr txBox="1"/>
          <p:nvPr/>
        </p:nvSpPr>
        <p:spPr>
          <a:xfrm>
            <a:off x="274320" y="5568216"/>
            <a:ext cx="82296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300" u="none" cap="none" strike="noStrike">
                <a:solidFill>
                  <a:srgbClr val="D9DEE8"/>
                </a:solidFill>
                <a:latin typeface="Calibri"/>
                <a:ea typeface="Calibri"/>
                <a:cs typeface="Calibri"/>
                <a:sym typeface="Calibri"/>
              </a:rPr>
              <a:t>Επιβλέποντες:  </a:t>
            </a:r>
            <a:r>
              <a:rPr lang="en-US" sz="2300">
                <a:solidFill>
                  <a:srgbClr val="D9DEE8"/>
                </a:solidFill>
                <a:latin typeface="Calibri"/>
                <a:ea typeface="Calibri"/>
                <a:cs typeface="Calibri"/>
                <a:sym typeface="Calibri"/>
              </a:rPr>
              <a:t>Β</a:t>
            </a:r>
            <a:r>
              <a:rPr b="0" i="0" lang="en-US" sz="2300" u="none" cap="none" strike="noStrike">
                <a:solidFill>
                  <a:srgbClr val="D9DEE8"/>
                </a:solidFill>
                <a:latin typeface="Calibri"/>
                <a:ea typeface="Calibri"/>
                <a:cs typeface="Calibri"/>
                <a:sym typeface="Calibri"/>
              </a:rPr>
              <a:t>ασιλειάδης Νικόλαος  ·  Κρ</a:t>
            </a:r>
            <a:r>
              <a:rPr lang="en-US" sz="2300">
                <a:solidFill>
                  <a:srgbClr val="D9DEE8"/>
                </a:solidFill>
                <a:latin typeface="Calibri"/>
                <a:ea typeface="Calibri"/>
                <a:cs typeface="Calibri"/>
                <a:sym typeface="Calibri"/>
              </a:rPr>
              <a:t>ά</a:t>
            </a:r>
            <a:r>
              <a:rPr b="0" i="0" lang="en-US" sz="2300" u="none" cap="none" strike="noStrike">
                <a:solidFill>
                  <a:srgbClr val="D9DEE8"/>
                </a:solidFill>
                <a:latin typeface="Calibri"/>
                <a:ea typeface="Calibri"/>
                <a:cs typeface="Calibri"/>
                <a:sym typeface="Calibri"/>
              </a:rPr>
              <a:t>βαρ</a:t>
            </a:r>
            <a:r>
              <a:rPr lang="en-US" sz="2300">
                <a:solidFill>
                  <a:srgbClr val="D9DEE8"/>
                </a:solidFill>
                <a:latin typeface="Calibri"/>
                <a:ea typeface="Calibri"/>
                <a:cs typeface="Calibri"/>
                <a:sym typeface="Calibri"/>
              </a:rPr>
              <a:t>η</a:t>
            </a:r>
            <a:r>
              <a:rPr b="0" i="0" lang="en-US" sz="2300" u="none" cap="none" strike="noStrike">
                <a:solidFill>
                  <a:srgbClr val="D9DEE8"/>
                </a:solidFill>
                <a:latin typeface="Calibri"/>
                <a:ea typeface="Calibri"/>
                <a:cs typeface="Calibri"/>
                <a:sym typeface="Calibri"/>
              </a:rPr>
              <a:t> Καλλιόπη</a:t>
            </a:r>
            <a:endParaRPr sz="2200"/>
          </a:p>
        </p:txBody>
      </p:sp>
      <p:sp>
        <p:nvSpPr>
          <p:cNvPr id="91" name="Google Shape;91;p1"/>
          <p:cNvSpPr txBox="1"/>
          <p:nvPr/>
        </p:nvSpPr>
        <p:spPr>
          <a:xfrm>
            <a:off x="274320" y="6018333"/>
            <a:ext cx="9144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809AC0"/>
                </a:solidFill>
                <a:latin typeface="Calibri"/>
                <a:ea typeface="Calibri"/>
                <a:cs typeface="Calibri"/>
                <a:sym typeface="Calibri"/>
              </a:rPr>
              <a:t>Αριστοτέλειο Πανεπιστήμιο Θεσσαλονίκης  ·  Τμήμα Πληροφορικής  ·  </a:t>
            </a:r>
            <a:r>
              <a:rPr lang="en-US" sz="2000">
                <a:solidFill>
                  <a:srgbClr val="809AC0"/>
                </a:solidFill>
                <a:latin typeface="Calibri"/>
                <a:ea typeface="Calibri"/>
                <a:cs typeface="Calibri"/>
                <a:sym typeface="Calibri"/>
              </a:rPr>
              <a:t>Ιούνιος </a:t>
            </a:r>
            <a:r>
              <a:rPr b="0" i="0" lang="en-US" sz="2000" u="none" cap="none" strike="noStrike">
                <a:solidFill>
                  <a:srgbClr val="809AC0"/>
                </a:solidFill>
                <a:latin typeface="Calibri"/>
                <a:ea typeface="Calibri"/>
                <a:cs typeface="Calibri"/>
                <a:sym typeface="Calibri"/>
              </a:rPr>
              <a:t>2026</a:t>
            </a:r>
            <a:endParaRPr sz="2100"/>
          </a:p>
        </p:txBody>
      </p:sp>
      <p:sp>
        <p:nvSpPr>
          <p:cNvPr id="92" name="Google Shape;92;p1"/>
          <p:cNvSpPr txBox="1"/>
          <p:nvPr/>
        </p:nvSpPr>
        <p:spPr>
          <a:xfrm>
            <a:off x="274325" y="2756299"/>
            <a:ext cx="11556300" cy="93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Font typeface="Arial"/>
              <a:buNone/>
            </a:pPr>
            <a:r>
              <a:rPr lang="en-US" sz="5500">
                <a:solidFill>
                  <a:srgbClr val="D46A17"/>
                </a:solidFill>
                <a:latin typeface="Calibri"/>
                <a:ea typeface="Calibri"/>
                <a:cs typeface="Calibri"/>
                <a:sym typeface="Calibri"/>
              </a:rPr>
              <a:t>A</a:t>
            </a:r>
            <a:r>
              <a:rPr lang="en-US" sz="3700">
                <a:solidFill>
                  <a:schemeClr val="lt1"/>
                </a:solidFill>
                <a:latin typeface="Calibri"/>
                <a:ea typeface="Calibri"/>
                <a:cs typeface="Calibri"/>
                <a:sym typeface="Calibri"/>
              </a:rPr>
              <a:t>daptive </a:t>
            </a:r>
            <a:r>
              <a:rPr lang="en-US" sz="5500">
                <a:solidFill>
                  <a:srgbClr val="D46A17"/>
                </a:solidFill>
                <a:latin typeface="Calibri"/>
                <a:ea typeface="Calibri"/>
                <a:cs typeface="Calibri"/>
                <a:sym typeface="Calibri"/>
              </a:rPr>
              <a:t>I</a:t>
            </a:r>
            <a:r>
              <a:rPr lang="en-US" sz="3700">
                <a:solidFill>
                  <a:schemeClr val="lt1"/>
                </a:solidFill>
                <a:latin typeface="Calibri"/>
                <a:ea typeface="Calibri"/>
                <a:cs typeface="Calibri"/>
                <a:sym typeface="Calibri"/>
              </a:rPr>
              <a:t>ntelligence for </a:t>
            </a:r>
            <a:r>
              <a:rPr lang="en-US" sz="5500">
                <a:solidFill>
                  <a:srgbClr val="D46A17"/>
                </a:solidFill>
                <a:latin typeface="Calibri"/>
                <a:ea typeface="Calibri"/>
                <a:cs typeface="Calibri"/>
                <a:sym typeface="Calibri"/>
              </a:rPr>
              <a:t>G</a:t>
            </a:r>
            <a:r>
              <a:rPr lang="en-US" sz="3700">
                <a:solidFill>
                  <a:schemeClr val="lt1"/>
                </a:solidFill>
                <a:latin typeface="Calibri"/>
                <a:ea typeface="Calibri"/>
                <a:cs typeface="Calibri"/>
                <a:sym typeface="Calibri"/>
              </a:rPr>
              <a:t>eospatial </a:t>
            </a:r>
            <a:r>
              <a:rPr lang="en-US" sz="5500">
                <a:solidFill>
                  <a:srgbClr val="D46A17"/>
                </a:solidFill>
                <a:latin typeface="Calibri"/>
                <a:ea typeface="Calibri"/>
                <a:cs typeface="Calibri"/>
                <a:sym typeface="Calibri"/>
              </a:rPr>
              <a:t>I</a:t>
            </a:r>
            <a:r>
              <a:rPr lang="en-US" sz="3700">
                <a:solidFill>
                  <a:schemeClr val="lt1"/>
                </a:solidFill>
                <a:latin typeface="Calibri"/>
                <a:ea typeface="Calibri"/>
                <a:cs typeface="Calibri"/>
                <a:sym typeface="Calibri"/>
              </a:rPr>
              <a:t>ncident </a:t>
            </a:r>
            <a:r>
              <a:rPr lang="en-US" sz="5500">
                <a:solidFill>
                  <a:srgbClr val="D46A17"/>
                </a:solidFill>
                <a:latin typeface="Calibri"/>
                <a:ea typeface="Calibri"/>
                <a:cs typeface="Calibri"/>
                <a:sym typeface="Calibri"/>
              </a:rPr>
              <a:t>S</a:t>
            </a:r>
            <a:r>
              <a:rPr lang="en-US" sz="3700">
                <a:solidFill>
                  <a:schemeClr val="lt1"/>
                </a:solidFill>
                <a:latin typeface="Calibri"/>
                <a:ea typeface="Calibri"/>
                <a:cs typeface="Calibri"/>
                <a:sym typeface="Calibri"/>
              </a:rPr>
              <a:t>imulation</a:t>
            </a:r>
            <a:endParaRPr sz="3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3"/>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3"/>
          <p:cNvSpPr txBox="1"/>
          <p:nvPr/>
        </p:nvSpPr>
        <p:spPr>
          <a:xfrm>
            <a:off x="164592" y="186690"/>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Βασικές Έννοιες </a:t>
            </a:r>
            <a:endParaRPr sz="3500"/>
          </a:p>
        </p:txBody>
      </p:sp>
      <p:sp>
        <p:nvSpPr>
          <p:cNvPr id="101" name="Google Shape;101;p3"/>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3"/>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103" name="Google Shape;103;p3"/>
          <p:cNvSpPr/>
          <p:nvPr/>
        </p:nvSpPr>
        <p:spPr>
          <a:xfrm>
            <a:off x="411470" y="1857497"/>
            <a:ext cx="11184600" cy="10791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3"/>
          <p:cNvSpPr/>
          <p:nvPr/>
        </p:nvSpPr>
        <p:spPr>
          <a:xfrm>
            <a:off x="411472" y="1857497"/>
            <a:ext cx="1842000" cy="10791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3"/>
          <p:cNvSpPr txBox="1"/>
          <p:nvPr/>
        </p:nvSpPr>
        <p:spPr>
          <a:xfrm>
            <a:off x="808887" y="2072997"/>
            <a:ext cx="1005900" cy="661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700" u="none" cap="none" strike="noStrike">
                <a:solidFill>
                  <a:srgbClr val="FFFFFF"/>
                </a:solidFill>
                <a:latin typeface="Calibri"/>
                <a:ea typeface="Calibri"/>
                <a:cs typeface="Calibri"/>
                <a:sym typeface="Calibri"/>
              </a:rPr>
              <a:t>BDI</a:t>
            </a:r>
            <a:endParaRPr sz="3100"/>
          </a:p>
        </p:txBody>
      </p:sp>
      <p:sp>
        <p:nvSpPr>
          <p:cNvPr id="106" name="Google Shape;106;p3"/>
          <p:cNvSpPr txBox="1"/>
          <p:nvPr/>
        </p:nvSpPr>
        <p:spPr>
          <a:xfrm>
            <a:off x="2963207" y="1948937"/>
            <a:ext cx="41148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D46A17"/>
                </a:solidFill>
                <a:latin typeface="Calibri"/>
                <a:ea typeface="Calibri"/>
                <a:cs typeface="Calibri"/>
                <a:sym typeface="Calibri"/>
              </a:rPr>
              <a:t>Beliefs · Desires · Intentions</a:t>
            </a:r>
            <a:endParaRPr sz="2200"/>
          </a:p>
        </p:txBody>
      </p:sp>
      <p:sp>
        <p:nvSpPr>
          <p:cNvPr id="107" name="Google Shape;107;p3"/>
          <p:cNvSpPr txBox="1"/>
          <p:nvPr/>
        </p:nvSpPr>
        <p:spPr>
          <a:xfrm>
            <a:off x="2963210" y="2360422"/>
            <a:ext cx="78426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D9DEE8"/>
                </a:solidFill>
                <a:latin typeface="Calibri"/>
                <a:ea typeface="Calibri"/>
                <a:cs typeface="Calibri"/>
                <a:sym typeface="Calibri"/>
              </a:rPr>
              <a:t>Αρχιτεκτονική πρακτόρων: τι ξέρω, τι θέλω, τι δεσμεύτηκα να κάνω</a:t>
            </a:r>
            <a:endParaRPr sz="2200"/>
          </a:p>
        </p:txBody>
      </p:sp>
      <p:sp>
        <p:nvSpPr>
          <p:cNvPr id="108" name="Google Shape;108;p3"/>
          <p:cNvSpPr/>
          <p:nvPr/>
        </p:nvSpPr>
        <p:spPr>
          <a:xfrm>
            <a:off x="411470" y="3208347"/>
            <a:ext cx="11184600" cy="10791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3"/>
          <p:cNvSpPr/>
          <p:nvPr/>
        </p:nvSpPr>
        <p:spPr>
          <a:xfrm>
            <a:off x="411472" y="3208347"/>
            <a:ext cx="1842000" cy="10791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3"/>
          <p:cNvSpPr txBox="1"/>
          <p:nvPr/>
        </p:nvSpPr>
        <p:spPr>
          <a:xfrm>
            <a:off x="660773" y="3433772"/>
            <a:ext cx="1343400" cy="661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700" u="none" cap="none" strike="noStrike">
                <a:solidFill>
                  <a:srgbClr val="FFFFFF"/>
                </a:solidFill>
                <a:latin typeface="Calibri"/>
                <a:ea typeface="Calibri"/>
                <a:cs typeface="Calibri"/>
                <a:sym typeface="Calibri"/>
              </a:rPr>
              <a:t>MARL</a:t>
            </a:r>
            <a:endParaRPr sz="3700"/>
          </a:p>
        </p:txBody>
      </p:sp>
      <p:sp>
        <p:nvSpPr>
          <p:cNvPr id="111" name="Google Shape;111;p3"/>
          <p:cNvSpPr txBox="1"/>
          <p:nvPr/>
        </p:nvSpPr>
        <p:spPr>
          <a:xfrm>
            <a:off x="2963209" y="3299777"/>
            <a:ext cx="4497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D46A17"/>
                </a:solidFill>
                <a:latin typeface="Calibri"/>
                <a:ea typeface="Calibri"/>
                <a:cs typeface="Calibri"/>
                <a:sym typeface="Calibri"/>
              </a:rPr>
              <a:t>Multi-Agent Reinforcement Learning</a:t>
            </a:r>
            <a:endParaRPr sz="2200"/>
          </a:p>
        </p:txBody>
      </p:sp>
      <p:sp>
        <p:nvSpPr>
          <p:cNvPr id="112" name="Google Shape;112;p3"/>
          <p:cNvSpPr txBox="1"/>
          <p:nvPr/>
        </p:nvSpPr>
        <p:spPr>
          <a:xfrm>
            <a:off x="2963211" y="3711267"/>
            <a:ext cx="78183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D9DEE8"/>
                </a:solidFill>
                <a:latin typeface="Calibri"/>
                <a:ea typeface="Calibri"/>
                <a:cs typeface="Calibri"/>
                <a:sym typeface="Calibri"/>
              </a:rPr>
              <a:t>Πολλοί πράκτορες μαθαίνουν ταυτόχρονα μέσω ανταμοιβής</a:t>
            </a:r>
            <a:endParaRPr sz="2200"/>
          </a:p>
        </p:txBody>
      </p:sp>
      <p:sp>
        <p:nvSpPr>
          <p:cNvPr id="113" name="Google Shape;113;p3"/>
          <p:cNvSpPr/>
          <p:nvPr/>
        </p:nvSpPr>
        <p:spPr>
          <a:xfrm>
            <a:off x="411470" y="4592747"/>
            <a:ext cx="11184600" cy="10791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3"/>
          <p:cNvSpPr/>
          <p:nvPr/>
        </p:nvSpPr>
        <p:spPr>
          <a:xfrm>
            <a:off x="411472" y="4592747"/>
            <a:ext cx="1842000" cy="10791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788621" y="4767721"/>
            <a:ext cx="1005900" cy="661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700" u="none" cap="none" strike="noStrike">
                <a:solidFill>
                  <a:srgbClr val="FFFFFF"/>
                </a:solidFill>
                <a:latin typeface="Calibri"/>
                <a:ea typeface="Calibri"/>
                <a:cs typeface="Calibri"/>
                <a:sym typeface="Calibri"/>
              </a:rPr>
              <a:t>CNP</a:t>
            </a:r>
            <a:endParaRPr sz="3700"/>
          </a:p>
        </p:txBody>
      </p:sp>
      <p:sp>
        <p:nvSpPr>
          <p:cNvPr id="116" name="Google Shape;116;p3"/>
          <p:cNvSpPr txBox="1"/>
          <p:nvPr/>
        </p:nvSpPr>
        <p:spPr>
          <a:xfrm>
            <a:off x="2963209" y="4684192"/>
            <a:ext cx="4497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D46A17"/>
                </a:solidFill>
                <a:latin typeface="Calibri"/>
                <a:ea typeface="Calibri"/>
                <a:cs typeface="Calibri"/>
                <a:sym typeface="Calibri"/>
              </a:rPr>
              <a:t>Contract Net Protocol</a:t>
            </a:r>
            <a:endParaRPr sz="2200"/>
          </a:p>
        </p:txBody>
      </p:sp>
      <p:sp>
        <p:nvSpPr>
          <p:cNvPr id="117" name="Google Shape;117;p3"/>
          <p:cNvSpPr txBox="1"/>
          <p:nvPr/>
        </p:nvSpPr>
        <p:spPr>
          <a:xfrm>
            <a:off x="2963211" y="5095674"/>
            <a:ext cx="8106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D9DEE8"/>
                </a:solidFill>
                <a:latin typeface="Calibri"/>
                <a:ea typeface="Calibri"/>
                <a:cs typeface="Calibri"/>
                <a:sym typeface="Calibri"/>
              </a:rPr>
              <a:t>Πρωτόκολλο ανάθεσης εργασιών μέσω δημοπρασίας (Smith 1980)</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p:nvPr/>
        </p:nvSpPr>
        <p:spPr>
          <a:xfrm>
            <a:off x="0" y="182394"/>
            <a:ext cx="12189000"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2"/>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2"/>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2"/>
          <p:cNvSpPr txBox="1"/>
          <p:nvPr/>
        </p:nvSpPr>
        <p:spPr>
          <a:xfrm>
            <a:off x="164592" y="186690"/>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Περιεχόμενα Παρουσίασης</a:t>
            </a:r>
            <a:endParaRPr sz="2100"/>
          </a:p>
        </p:txBody>
      </p:sp>
      <p:sp>
        <p:nvSpPr>
          <p:cNvPr id="127" name="Google Shape;127;p2"/>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2"/>
          <p:cNvSpPr txBox="1"/>
          <p:nvPr/>
        </p:nvSpPr>
        <p:spPr>
          <a:xfrm>
            <a:off x="228600" y="6620256"/>
            <a:ext cx="11731800" cy="27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129" name="Google Shape;129;p2"/>
          <p:cNvSpPr/>
          <p:nvPr/>
        </p:nvSpPr>
        <p:spPr>
          <a:xfrm>
            <a:off x="548640" y="1462554"/>
            <a:ext cx="5303400" cy="13533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2"/>
          <p:cNvSpPr txBox="1"/>
          <p:nvPr/>
        </p:nvSpPr>
        <p:spPr>
          <a:xfrm>
            <a:off x="558800" y="1718219"/>
            <a:ext cx="1160100" cy="785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500" u="none" cap="none" strike="noStrike">
                <a:solidFill>
                  <a:srgbClr val="FFFFFF"/>
                </a:solidFill>
                <a:latin typeface="Calibri"/>
                <a:ea typeface="Calibri"/>
                <a:cs typeface="Calibri"/>
                <a:sym typeface="Calibri"/>
              </a:rPr>
              <a:t>01</a:t>
            </a:r>
            <a:endParaRPr sz="3100"/>
          </a:p>
        </p:txBody>
      </p:sp>
      <p:sp>
        <p:nvSpPr>
          <p:cNvPr id="131" name="Google Shape;131;p2"/>
          <p:cNvSpPr txBox="1"/>
          <p:nvPr/>
        </p:nvSpPr>
        <p:spPr>
          <a:xfrm>
            <a:off x="1816100" y="1558094"/>
            <a:ext cx="37578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rgbClr val="FFFFFF"/>
                </a:solidFill>
                <a:latin typeface="Calibri"/>
                <a:ea typeface="Calibri"/>
                <a:cs typeface="Calibri"/>
                <a:sym typeface="Calibri"/>
              </a:rPr>
              <a:t>Κίνητρο </a:t>
            </a:r>
            <a:r>
              <a:rPr lang="en-US" sz="3200">
                <a:solidFill>
                  <a:srgbClr val="FFFFFF"/>
                </a:solidFill>
                <a:latin typeface="Calibri"/>
                <a:ea typeface="Calibri"/>
                <a:cs typeface="Calibri"/>
                <a:sym typeface="Calibri"/>
              </a:rPr>
              <a:t>&amp; </a:t>
            </a:r>
            <a:r>
              <a:rPr b="0" i="0" lang="en-US" sz="3200" u="none" cap="none" strike="noStrike">
                <a:solidFill>
                  <a:srgbClr val="FFFFFF"/>
                </a:solidFill>
                <a:latin typeface="Calibri"/>
                <a:ea typeface="Calibri"/>
                <a:cs typeface="Calibri"/>
                <a:sym typeface="Calibri"/>
              </a:rPr>
              <a:t>Ερευνητικό </a:t>
            </a:r>
            <a:r>
              <a:rPr lang="en-US" sz="3200">
                <a:solidFill>
                  <a:srgbClr val="FFFFFF"/>
                </a:solidFill>
                <a:latin typeface="Calibri"/>
                <a:ea typeface="Calibri"/>
                <a:cs typeface="Calibri"/>
                <a:sym typeface="Calibri"/>
              </a:rPr>
              <a:t>Κενό</a:t>
            </a:r>
            <a:endParaRPr sz="2900"/>
          </a:p>
        </p:txBody>
      </p:sp>
      <p:sp>
        <p:nvSpPr>
          <p:cNvPr id="132" name="Google Shape;132;p2"/>
          <p:cNvSpPr/>
          <p:nvPr/>
        </p:nvSpPr>
        <p:spPr>
          <a:xfrm>
            <a:off x="548640" y="3035322"/>
            <a:ext cx="5303400" cy="13533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2"/>
          <p:cNvSpPr txBox="1"/>
          <p:nvPr/>
        </p:nvSpPr>
        <p:spPr>
          <a:xfrm>
            <a:off x="527050" y="3285527"/>
            <a:ext cx="1160100" cy="785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500" u="none" cap="none" strike="noStrike">
                <a:solidFill>
                  <a:srgbClr val="FFFFFF"/>
                </a:solidFill>
                <a:latin typeface="Calibri"/>
                <a:ea typeface="Calibri"/>
                <a:cs typeface="Calibri"/>
                <a:sym typeface="Calibri"/>
              </a:rPr>
              <a:t>02</a:t>
            </a:r>
            <a:endParaRPr sz="4500"/>
          </a:p>
        </p:txBody>
      </p:sp>
      <p:sp>
        <p:nvSpPr>
          <p:cNvPr id="134" name="Google Shape;134;p2"/>
          <p:cNvSpPr txBox="1"/>
          <p:nvPr/>
        </p:nvSpPr>
        <p:spPr>
          <a:xfrm>
            <a:off x="1816101" y="3173331"/>
            <a:ext cx="37578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FFFFFF"/>
                </a:solidFill>
                <a:latin typeface="Calibri"/>
                <a:ea typeface="Calibri"/>
                <a:cs typeface="Calibri"/>
                <a:sym typeface="Calibri"/>
              </a:rPr>
              <a:t>Αρχιτεκτονική Συστήματος</a:t>
            </a:r>
            <a:endParaRPr sz="3200"/>
          </a:p>
        </p:txBody>
      </p:sp>
      <p:sp>
        <p:nvSpPr>
          <p:cNvPr id="135" name="Google Shape;135;p2"/>
          <p:cNvSpPr/>
          <p:nvPr/>
        </p:nvSpPr>
        <p:spPr>
          <a:xfrm>
            <a:off x="548640" y="4608090"/>
            <a:ext cx="5303400" cy="1353300"/>
          </a:xfrm>
          <a:prstGeom prst="rect">
            <a:avLst/>
          </a:prstGeom>
          <a:solidFill>
            <a:srgbClr val="1A7A1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2"/>
          <p:cNvSpPr txBox="1"/>
          <p:nvPr/>
        </p:nvSpPr>
        <p:spPr>
          <a:xfrm>
            <a:off x="590550" y="4858251"/>
            <a:ext cx="1001400" cy="785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500" u="none" cap="none" strike="noStrike">
                <a:solidFill>
                  <a:srgbClr val="FFFFFF"/>
                </a:solidFill>
                <a:latin typeface="Calibri"/>
                <a:ea typeface="Calibri"/>
                <a:cs typeface="Calibri"/>
                <a:sym typeface="Calibri"/>
              </a:rPr>
              <a:t>03</a:t>
            </a:r>
            <a:endParaRPr sz="4500"/>
          </a:p>
        </p:txBody>
      </p:sp>
      <p:sp>
        <p:nvSpPr>
          <p:cNvPr id="137" name="Google Shape;137;p2"/>
          <p:cNvSpPr txBox="1"/>
          <p:nvPr/>
        </p:nvSpPr>
        <p:spPr>
          <a:xfrm>
            <a:off x="1816102" y="4788556"/>
            <a:ext cx="32919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FFFFFF"/>
                </a:solidFill>
                <a:latin typeface="Calibri"/>
                <a:ea typeface="Calibri"/>
                <a:cs typeface="Calibri"/>
                <a:sym typeface="Calibri"/>
              </a:rPr>
              <a:t>Εκπαίδευση &amp; Μεθοδολογία</a:t>
            </a:r>
            <a:endParaRPr sz="3200"/>
          </a:p>
        </p:txBody>
      </p:sp>
      <p:sp>
        <p:nvSpPr>
          <p:cNvPr id="138" name="Google Shape;138;p2"/>
          <p:cNvSpPr/>
          <p:nvPr/>
        </p:nvSpPr>
        <p:spPr>
          <a:xfrm>
            <a:off x="6400800" y="1462554"/>
            <a:ext cx="5303400" cy="1353300"/>
          </a:xfrm>
          <a:prstGeom prst="rect">
            <a:avLst/>
          </a:prstGeom>
          <a:solidFill>
            <a:srgbClr val="601A1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2"/>
          <p:cNvSpPr txBox="1"/>
          <p:nvPr/>
        </p:nvSpPr>
        <p:spPr>
          <a:xfrm>
            <a:off x="6442702" y="1744494"/>
            <a:ext cx="1160100" cy="785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500" u="none" cap="none" strike="noStrike">
                <a:solidFill>
                  <a:srgbClr val="FFFFFF"/>
                </a:solidFill>
                <a:latin typeface="Calibri"/>
                <a:ea typeface="Calibri"/>
                <a:cs typeface="Calibri"/>
                <a:sym typeface="Calibri"/>
              </a:rPr>
              <a:t>04</a:t>
            </a:r>
            <a:endParaRPr sz="4500"/>
          </a:p>
        </p:txBody>
      </p:sp>
      <p:sp>
        <p:nvSpPr>
          <p:cNvPr id="140" name="Google Shape;140;p2"/>
          <p:cNvSpPr txBox="1"/>
          <p:nvPr/>
        </p:nvSpPr>
        <p:spPr>
          <a:xfrm>
            <a:off x="7703820" y="1818662"/>
            <a:ext cx="43890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FFFFFF"/>
                </a:solidFill>
                <a:latin typeface="Calibri"/>
                <a:ea typeface="Calibri"/>
                <a:cs typeface="Calibri"/>
                <a:sym typeface="Calibri"/>
              </a:rPr>
              <a:t>Αποτελέσματα</a:t>
            </a:r>
            <a:endParaRPr sz="3200"/>
          </a:p>
        </p:txBody>
      </p:sp>
      <p:sp>
        <p:nvSpPr>
          <p:cNvPr id="141" name="Google Shape;141;p2"/>
          <p:cNvSpPr/>
          <p:nvPr/>
        </p:nvSpPr>
        <p:spPr>
          <a:xfrm>
            <a:off x="6400800" y="3035322"/>
            <a:ext cx="5303400" cy="13533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2"/>
          <p:cNvSpPr txBox="1"/>
          <p:nvPr/>
        </p:nvSpPr>
        <p:spPr>
          <a:xfrm>
            <a:off x="6188684" y="3317269"/>
            <a:ext cx="1691700" cy="785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500" u="none" cap="none" strike="noStrike">
                <a:solidFill>
                  <a:srgbClr val="FFFFFF"/>
                </a:solidFill>
                <a:latin typeface="Calibri"/>
                <a:ea typeface="Calibri"/>
                <a:cs typeface="Calibri"/>
                <a:sym typeface="Calibri"/>
              </a:rPr>
              <a:t>05</a:t>
            </a:r>
            <a:endParaRPr sz="4500"/>
          </a:p>
        </p:txBody>
      </p:sp>
      <p:sp>
        <p:nvSpPr>
          <p:cNvPr id="143" name="Google Shape;143;p2"/>
          <p:cNvSpPr txBox="1"/>
          <p:nvPr/>
        </p:nvSpPr>
        <p:spPr>
          <a:xfrm>
            <a:off x="7602799" y="3213431"/>
            <a:ext cx="3923100" cy="1339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n-US" sz="3200">
                <a:solidFill>
                  <a:schemeClr val="lt1"/>
                </a:solidFill>
                <a:latin typeface="Calibri"/>
                <a:ea typeface="Calibri"/>
                <a:cs typeface="Calibri"/>
                <a:sym typeface="Calibri"/>
              </a:rPr>
              <a:t>Περιορισμοί &amp; Συμπεράσματα</a:t>
            </a:r>
            <a:endParaRPr sz="3200">
              <a:solidFill>
                <a:schemeClr val="dk1"/>
              </a:solidFill>
            </a:endParaRPr>
          </a:p>
          <a:p>
            <a:pPr indent="0" lvl="0" marL="0" marR="0" rtl="0" algn="l">
              <a:spcBef>
                <a:spcPts val="0"/>
              </a:spcBef>
              <a:spcAft>
                <a:spcPts val="0"/>
              </a:spcAft>
              <a:buNone/>
            </a:pPr>
            <a:r>
              <a:t/>
            </a:r>
            <a:endParaRPr sz="1700">
              <a:solidFill>
                <a:srgbClr val="FFFFFF"/>
              </a:solidFill>
              <a:latin typeface="Calibri"/>
              <a:ea typeface="Calibri"/>
              <a:cs typeface="Calibri"/>
              <a:sym typeface="Calibri"/>
            </a:endParaRPr>
          </a:p>
        </p:txBody>
      </p:sp>
      <p:sp>
        <p:nvSpPr>
          <p:cNvPr id="144" name="Google Shape;144;p2"/>
          <p:cNvSpPr txBox="1"/>
          <p:nvPr/>
        </p:nvSpPr>
        <p:spPr>
          <a:xfrm>
            <a:off x="6537960" y="4699530"/>
            <a:ext cx="6402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FFFFFF"/>
                </a:solidFill>
                <a:latin typeface="Calibri"/>
                <a:ea typeface="Calibri"/>
                <a:cs typeface="Calibri"/>
                <a:sym typeface="Calibri"/>
              </a:rPr>
              <a:t>06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4"/>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4"/>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4"/>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4"/>
          <p:cNvSpPr txBox="1"/>
          <p:nvPr/>
        </p:nvSpPr>
        <p:spPr>
          <a:xfrm>
            <a:off x="182817" y="196602"/>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Κίνητρο</a:t>
            </a:r>
            <a:endParaRPr sz="3500"/>
          </a:p>
        </p:txBody>
      </p:sp>
      <p:sp>
        <p:nvSpPr>
          <p:cNvPr id="154" name="Google Shape;154;p4"/>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4"/>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156" name="Google Shape;156;p4"/>
          <p:cNvSpPr/>
          <p:nvPr/>
        </p:nvSpPr>
        <p:spPr>
          <a:xfrm>
            <a:off x="411480" y="1188720"/>
            <a:ext cx="2651760" cy="438912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4"/>
          <p:cNvSpPr txBox="1"/>
          <p:nvPr/>
        </p:nvSpPr>
        <p:spPr>
          <a:xfrm>
            <a:off x="548640" y="1298448"/>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Camp Fire 2018</a:t>
            </a:r>
            <a:endParaRPr sz="2000"/>
          </a:p>
        </p:txBody>
      </p:sp>
      <p:sp>
        <p:nvSpPr>
          <p:cNvPr id="158" name="Google Shape;158;p4"/>
          <p:cNvSpPr txBox="1"/>
          <p:nvPr/>
        </p:nvSpPr>
        <p:spPr>
          <a:xfrm>
            <a:off x="457065" y="1904560"/>
            <a:ext cx="24690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FFCCAA"/>
                </a:solidFill>
                <a:latin typeface="Calibri"/>
                <a:ea typeface="Calibri"/>
                <a:cs typeface="Calibri"/>
                <a:sym typeface="Calibri"/>
              </a:rPr>
              <a:t>Καλιφόρνια</a:t>
            </a:r>
            <a:endParaRPr sz="1700"/>
          </a:p>
        </p:txBody>
      </p:sp>
      <p:sp>
        <p:nvSpPr>
          <p:cNvPr id="159" name="Google Shape;159;p4"/>
          <p:cNvSpPr/>
          <p:nvPr/>
        </p:nvSpPr>
        <p:spPr>
          <a:xfrm>
            <a:off x="548640" y="2313432"/>
            <a:ext cx="91440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4"/>
          <p:cNvSpPr txBox="1"/>
          <p:nvPr/>
        </p:nvSpPr>
        <p:spPr>
          <a:xfrm>
            <a:off x="548640" y="2404872"/>
            <a:ext cx="246888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85 νεκροί</a:t>
            </a:r>
            <a:endParaRPr/>
          </a:p>
        </p:txBody>
      </p:sp>
      <p:sp>
        <p:nvSpPr>
          <p:cNvPr id="161" name="Google Shape;161;p4"/>
          <p:cNvSpPr txBox="1"/>
          <p:nvPr/>
        </p:nvSpPr>
        <p:spPr>
          <a:xfrm>
            <a:off x="548650" y="3290943"/>
            <a:ext cx="2423100" cy="128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50">
                <a:solidFill>
                  <a:srgbClr val="FFEEDD"/>
                </a:solidFill>
                <a:latin typeface="Calibri"/>
                <a:ea typeface="Calibri"/>
                <a:cs typeface="Calibri"/>
                <a:sym typeface="Calibri"/>
              </a:rPr>
              <a:t>Η εντολή εκκένωσης δόθηκε αργά, η φωτιά έφτασε πρώτη. Κάηκε έκταση  μεγαλύτερη από τον νομό Κορινθίας.</a:t>
            </a:r>
            <a:endParaRPr sz="1600"/>
          </a:p>
        </p:txBody>
      </p:sp>
      <p:sp>
        <p:nvSpPr>
          <p:cNvPr id="162" name="Google Shape;162;p4"/>
          <p:cNvSpPr/>
          <p:nvPr/>
        </p:nvSpPr>
        <p:spPr>
          <a:xfrm>
            <a:off x="3319272" y="1188720"/>
            <a:ext cx="2651760" cy="438912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4"/>
          <p:cNvSpPr txBox="1"/>
          <p:nvPr/>
        </p:nvSpPr>
        <p:spPr>
          <a:xfrm>
            <a:off x="3456432" y="1298448"/>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FFFF"/>
                </a:solidFill>
                <a:latin typeface="Calibri"/>
                <a:ea typeface="Calibri"/>
                <a:cs typeface="Calibri"/>
                <a:sym typeface="Calibri"/>
              </a:rPr>
              <a:t>Mati</a:t>
            </a:r>
            <a:r>
              <a:rPr b="1" i="0" lang="en-US" sz="2000" u="none" cap="none" strike="noStrike">
                <a:solidFill>
                  <a:srgbClr val="FFFFFF"/>
                </a:solidFill>
                <a:latin typeface="Calibri"/>
                <a:ea typeface="Calibri"/>
                <a:cs typeface="Calibri"/>
                <a:sym typeface="Calibri"/>
              </a:rPr>
              <a:t> 2018</a:t>
            </a:r>
            <a:endParaRPr sz="2000"/>
          </a:p>
        </p:txBody>
      </p:sp>
      <p:sp>
        <p:nvSpPr>
          <p:cNvPr id="164" name="Google Shape;164;p4"/>
          <p:cNvSpPr txBox="1"/>
          <p:nvPr/>
        </p:nvSpPr>
        <p:spPr>
          <a:xfrm>
            <a:off x="3410670" y="1904553"/>
            <a:ext cx="24690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FFCCAA"/>
                </a:solidFill>
                <a:latin typeface="Calibri"/>
                <a:ea typeface="Calibri"/>
                <a:cs typeface="Calibri"/>
                <a:sym typeface="Calibri"/>
              </a:rPr>
              <a:t>Ελλάδα</a:t>
            </a:r>
            <a:endParaRPr sz="1800"/>
          </a:p>
        </p:txBody>
      </p:sp>
      <p:sp>
        <p:nvSpPr>
          <p:cNvPr id="165" name="Google Shape;165;p4"/>
          <p:cNvSpPr/>
          <p:nvPr/>
        </p:nvSpPr>
        <p:spPr>
          <a:xfrm>
            <a:off x="3456432" y="2313432"/>
            <a:ext cx="91440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4"/>
          <p:cNvSpPr txBox="1"/>
          <p:nvPr/>
        </p:nvSpPr>
        <p:spPr>
          <a:xfrm>
            <a:off x="3456432" y="2404872"/>
            <a:ext cx="24690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10</a:t>
            </a:r>
            <a:r>
              <a:rPr b="1" lang="en-US" sz="2600">
                <a:solidFill>
                  <a:srgbClr val="FFFFFF"/>
                </a:solidFill>
                <a:latin typeface="Calibri"/>
                <a:ea typeface="Calibri"/>
                <a:cs typeface="Calibri"/>
                <a:sym typeface="Calibri"/>
              </a:rPr>
              <a:t>4</a:t>
            </a:r>
            <a:r>
              <a:rPr b="1" i="0" lang="en-US" sz="2600" u="none" cap="none" strike="noStrike">
                <a:solidFill>
                  <a:srgbClr val="FFFFFF"/>
                </a:solidFill>
                <a:latin typeface="Calibri"/>
                <a:ea typeface="Calibri"/>
                <a:cs typeface="Calibri"/>
                <a:sym typeface="Calibri"/>
              </a:rPr>
              <a:t> νεκροί</a:t>
            </a:r>
            <a:endParaRPr/>
          </a:p>
        </p:txBody>
      </p:sp>
      <p:sp>
        <p:nvSpPr>
          <p:cNvPr id="167" name="Google Shape;167;p4"/>
          <p:cNvSpPr txBox="1"/>
          <p:nvPr/>
        </p:nvSpPr>
        <p:spPr>
          <a:xfrm>
            <a:off x="3456425" y="3197973"/>
            <a:ext cx="2423100" cy="22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50">
                <a:solidFill>
                  <a:srgbClr val="FFEEDD"/>
                </a:solidFill>
                <a:latin typeface="Calibri"/>
                <a:ea typeface="Calibri"/>
                <a:cs typeface="Calibri"/>
                <a:sym typeface="Calibri"/>
              </a:rPr>
              <a:t>Μια παραθαλάσσια κοινότητα χάθηκε σε λιγότερο από μία ώρα.</a:t>
            </a:r>
            <a:endParaRPr sz="1550">
              <a:solidFill>
                <a:srgbClr val="FFEED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50">
                <a:solidFill>
                  <a:srgbClr val="FFEEDD"/>
                </a:solidFill>
                <a:latin typeface="Calibri"/>
                <a:ea typeface="Calibri"/>
                <a:cs typeface="Calibri"/>
                <a:sym typeface="Calibri"/>
              </a:rPr>
              <a:t>Τα θύματα βρέθηκαν αγκαλιασμένα δίπλα στα αυτοκίνητά τους, εγκλωβίστηκαν στη συμφόρηση πριν προλάβουν να φύγουν. </a:t>
            </a:r>
            <a:endParaRPr sz="1550">
              <a:solidFill>
                <a:srgbClr val="FFEEDD"/>
              </a:solidFill>
              <a:latin typeface="Calibri"/>
              <a:ea typeface="Calibri"/>
              <a:cs typeface="Calibri"/>
              <a:sym typeface="Calibri"/>
            </a:endParaRPr>
          </a:p>
        </p:txBody>
      </p:sp>
      <p:sp>
        <p:nvSpPr>
          <p:cNvPr id="168" name="Google Shape;168;p4"/>
          <p:cNvSpPr/>
          <p:nvPr/>
        </p:nvSpPr>
        <p:spPr>
          <a:xfrm>
            <a:off x="6227064" y="1188720"/>
            <a:ext cx="2651760" cy="4389120"/>
          </a:xfrm>
          <a:prstGeom prst="rect">
            <a:avLst/>
          </a:prstGeom>
          <a:solidFill>
            <a:srgbClr val="A0302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4"/>
          <p:cNvSpPr txBox="1"/>
          <p:nvPr/>
        </p:nvSpPr>
        <p:spPr>
          <a:xfrm>
            <a:off x="6364224" y="1298448"/>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Lahaina 2023</a:t>
            </a:r>
            <a:endParaRPr sz="2000"/>
          </a:p>
        </p:txBody>
      </p:sp>
      <p:sp>
        <p:nvSpPr>
          <p:cNvPr id="170" name="Google Shape;170;p4"/>
          <p:cNvSpPr txBox="1"/>
          <p:nvPr/>
        </p:nvSpPr>
        <p:spPr>
          <a:xfrm>
            <a:off x="6318436" y="1904560"/>
            <a:ext cx="24690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FFCCAA"/>
                </a:solidFill>
                <a:latin typeface="Calibri"/>
                <a:ea typeface="Calibri"/>
                <a:cs typeface="Calibri"/>
                <a:sym typeface="Calibri"/>
              </a:rPr>
              <a:t>Χαβάη</a:t>
            </a:r>
            <a:endParaRPr sz="1700"/>
          </a:p>
        </p:txBody>
      </p:sp>
      <p:sp>
        <p:nvSpPr>
          <p:cNvPr id="171" name="Google Shape;171;p4"/>
          <p:cNvSpPr/>
          <p:nvPr/>
        </p:nvSpPr>
        <p:spPr>
          <a:xfrm>
            <a:off x="6364224" y="2313432"/>
            <a:ext cx="91440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4"/>
          <p:cNvSpPr txBox="1"/>
          <p:nvPr/>
        </p:nvSpPr>
        <p:spPr>
          <a:xfrm>
            <a:off x="6364224" y="2404872"/>
            <a:ext cx="24690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101</a:t>
            </a:r>
            <a:r>
              <a:rPr b="1" lang="en-US" sz="2600">
                <a:solidFill>
                  <a:srgbClr val="FFFFFF"/>
                </a:solidFill>
                <a:latin typeface="Calibri"/>
                <a:ea typeface="Calibri"/>
                <a:cs typeface="Calibri"/>
                <a:sym typeface="Calibri"/>
              </a:rPr>
              <a:t> </a:t>
            </a:r>
            <a:r>
              <a:rPr b="1" i="0" lang="en-US" sz="2600" u="none" cap="none" strike="noStrike">
                <a:solidFill>
                  <a:srgbClr val="FFFFFF"/>
                </a:solidFill>
                <a:latin typeface="Calibri"/>
                <a:ea typeface="Calibri"/>
                <a:cs typeface="Calibri"/>
                <a:sym typeface="Calibri"/>
              </a:rPr>
              <a:t>νεκροί</a:t>
            </a:r>
            <a:endParaRPr/>
          </a:p>
        </p:txBody>
      </p:sp>
      <p:sp>
        <p:nvSpPr>
          <p:cNvPr id="173" name="Google Shape;173;p4"/>
          <p:cNvSpPr txBox="1"/>
          <p:nvPr/>
        </p:nvSpPr>
        <p:spPr>
          <a:xfrm>
            <a:off x="6364225" y="3197967"/>
            <a:ext cx="2423100" cy="200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50">
                <a:solidFill>
                  <a:srgbClr val="FFEEDD"/>
                </a:solidFill>
                <a:latin typeface="Calibri"/>
                <a:ea typeface="Calibri"/>
                <a:cs typeface="Calibri"/>
                <a:sym typeface="Calibri"/>
              </a:rPr>
              <a:t>400 σειρήνες που δεν ενεργοποιήθηκαν ποτέ. </a:t>
            </a:r>
            <a:r>
              <a:rPr b="0" i="0" lang="en-US" sz="1550" u="none" cap="none" strike="noStrike">
                <a:solidFill>
                  <a:srgbClr val="FFEEDD"/>
                </a:solidFill>
                <a:latin typeface="Calibri"/>
                <a:ea typeface="Calibri"/>
                <a:cs typeface="Calibri"/>
                <a:sym typeface="Calibri"/>
              </a:rPr>
              <a:t>Μεγαλύτερος αριθμός θανάτων</a:t>
            </a:r>
            <a:r>
              <a:rPr lang="en-US" sz="1550">
                <a:solidFill>
                  <a:srgbClr val="FFEEDD"/>
                </a:solidFill>
                <a:latin typeface="Calibri"/>
                <a:ea typeface="Calibri"/>
                <a:cs typeface="Calibri"/>
                <a:sym typeface="Calibri"/>
              </a:rPr>
              <a:t> </a:t>
            </a:r>
            <a:r>
              <a:rPr b="0" i="0" lang="en-US" sz="1550" u="none" cap="none" strike="noStrike">
                <a:solidFill>
                  <a:srgbClr val="FFEEDD"/>
                </a:solidFill>
                <a:latin typeface="Calibri"/>
                <a:ea typeface="Calibri"/>
                <a:cs typeface="Calibri"/>
                <a:sym typeface="Calibri"/>
              </a:rPr>
              <a:t>από δασική πυρκαγιά στις ΗΠΑ σε 1 αιώνα. Μια ολόκληρη ιστορική πόλη </a:t>
            </a:r>
            <a:endParaRPr b="0" i="0" sz="1550" u="none" cap="none" strike="noStrike">
              <a:solidFill>
                <a:srgbClr val="FFEEDD"/>
              </a:solidFill>
              <a:latin typeface="Calibri"/>
              <a:ea typeface="Calibri"/>
              <a:cs typeface="Calibri"/>
              <a:sym typeface="Calibri"/>
            </a:endParaRPr>
          </a:p>
          <a:p>
            <a:pPr indent="0" lvl="0" marL="0" marR="0" rtl="0" algn="l">
              <a:spcBef>
                <a:spcPts val="0"/>
              </a:spcBef>
              <a:spcAft>
                <a:spcPts val="0"/>
              </a:spcAft>
              <a:buNone/>
            </a:pPr>
            <a:r>
              <a:rPr lang="en-US" sz="1550">
                <a:solidFill>
                  <a:srgbClr val="FFEEDD"/>
                </a:solidFill>
                <a:latin typeface="Calibri"/>
                <a:ea typeface="Calibri"/>
                <a:cs typeface="Calibri"/>
                <a:sym typeface="Calibri"/>
              </a:rPr>
              <a:t>ισοπεδώθηκε σε δύο ώρες.  </a:t>
            </a:r>
            <a:endParaRPr sz="1550">
              <a:solidFill>
                <a:srgbClr val="FFEEDD"/>
              </a:solidFill>
              <a:latin typeface="Calibri"/>
              <a:ea typeface="Calibri"/>
              <a:cs typeface="Calibri"/>
              <a:sym typeface="Calibri"/>
            </a:endParaRPr>
          </a:p>
        </p:txBody>
      </p:sp>
      <p:sp>
        <p:nvSpPr>
          <p:cNvPr id="174" name="Google Shape;174;p4"/>
          <p:cNvSpPr/>
          <p:nvPr/>
        </p:nvSpPr>
        <p:spPr>
          <a:xfrm>
            <a:off x="9134856" y="1188720"/>
            <a:ext cx="2651760" cy="4389120"/>
          </a:xfrm>
          <a:prstGeom prst="rect">
            <a:avLst/>
          </a:prstGeom>
          <a:solidFill>
            <a:srgbClr val="601A1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4"/>
          <p:cNvSpPr txBox="1"/>
          <p:nvPr/>
        </p:nvSpPr>
        <p:spPr>
          <a:xfrm>
            <a:off x="9180600" y="1298450"/>
            <a:ext cx="26517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Black Saturday</a:t>
            </a:r>
            <a:r>
              <a:rPr b="1" lang="en-US" sz="2000">
                <a:solidFill>
                  <a:srgbClr val="FFFFFF"/>
                </a:solidFill>
                <a:latin typeface="Calibri"/>
                <a:ea typeface="Calibri"/>
                <a:cs typeface="Calibri"/>
                <a:sym typeface="Calibri"/>
              </a:rPr>
              <a:t> </a:t>
            </a:r>
            <a:r>
              <a:rPr b="1" i="0" lang="en-US" sz="2000" u="none" cap="none" strike="noStrike">
                <a:solidFill>
                  <a:srgbClr val="FFFFFF"/>
                </a:solidFill>
                <a:latin typeface="Calibri"/>
                <a:ea typeface="Calibri"/>
                <a:cs typeface="Calibri"/>
                <a:sym typeface="Calibri"/>
              </a:rPr>
              <a:t>2009</a:t>
            </a:r>
            <a:endParaRPr sz="1700"/>
          </a:p>
        </p:txBody>
      </p:sp>
      <p:sp>
        <p:nvSpPr>
          <p:cNvPr id="176" name="Google Shape;176;p4"/>
          <p:cNvSpPr txBox="1"/>
          <p:nvPr/>
        </p:nvSpPr>
        <p:spPr>
          <a:xfrm>
            <a:off x="9180591" y="1904560"/>
            <a:ext cx="24690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FFCCAA"/>
                </a:solidFill>
                <a:latin typeface="Calibri"/>
                <a:ea typeface="Calibri"/>
                <a:cs typeface="Calibri"/>
                <a:sym typeface="Calibri"/>
              </a:rPr>
              <a:t>Αυστραλία</a:t>
            </a:r>
            <a:endParaRPr sz="1700"/>
          </a:p>
        </p:txBody>
      </p:sp>
      <p:sp>
        <p:nvSpPr>
          <p:cNvPr id="177" name="Google Shape;177;p4"/>
          <p:cNvSpPr/>
          <p:nvPr/>
        </p:nvSpPr>
        <p:spPr>
          <a:xfrm>
            <a:off x="9272016" y="2313432"/>
            <a:ext cx="91440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4"/>
          <p:cNvSpPr txBox="1"/>
          <p:nvPr/>
        </p:nvSpPr>
        <p:spPr>
          <a:xfrm>
            <a:off x="9272016" y="2404872"/>
            <a:ext cx="246888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173 νεκροί</a:t>
            </a:r>
            <a:endParaRPr/>
          </a:p>
        </p:txBody>
      </p:sp>
      <p:sp>
        <p:nvSpPr>
          <p:cNvPr id="179" name="Google Shape;179;p4"/>
          <p:cNvSpPr txBox="1"/>
          <p:nvPr/>
        </p:nvSpPr>
        <p:spPr>
          <a:xfrm>
            <a:off x="9272025" y="3197967"/>
            <a:ext cx="2423100" cy="128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50">
                <a:solidFill>
                  <a:srgbClr val="FFEEDD"/>
                </a:solidFill>
                <a:latin typeface="Calibri"/>
                <a:ea typeface="Calibri"/>
                <a:cs typeface="Calibri"/>
                <a:sym typeface="Calibri"/>
              </a:rPr>
              <a:t>Ελλιπής προειδοποίηση, κανένας συντονισμός κυκλοφορίας.</a:t>
            </a:r>
            <a:endParaRPr sz="1550">
              <a:solidFill>
                <a:srgbClr val="FFEEDD"/>
              </a:solidFill>
              <a:latin typeface="Calibri"/>
              <a:ea typeface="Calibri"/>
              <a:cs typeface="Calibri"/>
              <a:sym typeface="Calibri"/>
            </a:endParaRPr>
          </a:p>
          <a:p>
            <a:pPr indent="0" lvl="0" marL="0" marR="0" rtl="0" algn="l">
              <a:spcBef>
                <a:spcPts val="0"/>
              </a:spcBef>
              <a:spcAft>
                <a:spcPts val="0"/>
              </a:spcAft>
              <a:buNone/>
            </a:pPr>
            <a:r>
              <a:rPr lang="en-US" sz="1550">
                <a:solidFill>
                  <a:srgbClr val="FFEEDD"/>
                </a:solidFill>
                <a:latin typeface="Calibri"/>
                <a:ea typeface="Calibri"/>
                <a:cs typeface="Calibri"/>
                <a:sym typeface="Calibri"/>
              </a:rPr>
              <a:t> Έκταση μεγαλύτερη από ολόκληρη την Αττική.</a:t>
            </a:r>
            <a:endParaRPr sz="1550">
              <a:solidFill>
                <a:srgbClr val="FFEEDD"/>
              </a:solidFill>
              <a:latin typeface="Calibri"/>
              <a:ea typeface="Calibri"/>
              <a:cs typeface="Calibri"/>
              <a:sym typeface="Calibri"/>
            </a:endParaRPr>
          </a:p>
        </p:txBody>
      </p:sp>
      <p:sp>
        <p:nvSpPr>
          <p:cNvPr id="180" name="Google Shape;180;p4"/>
          <p:cNvSpPr txBox="1"/>
          <p:nvPr/>
        </p:nvSpPr>
        <p:spPr>
          <a:xfrm>
            <a:off x="411480" y="5788898"/>
            <a:ext cx="11366100" cy="43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200" u="none" cap="none" strike="noStrike">
                <a:solidFill>
                  <a:srgbClr val="1A2A4A"/>
                </a:solidFill>
                <a:latin typeface="Calibri"/>
                <a:ea typeface="Calibri"/>
                <a:cs typeface="Calibri"/>
                <a:sym typeface="Calibri"/>
              </a:rPr>
              <a:t>Κοινός παρανομαστής: αποτυχία συντονισμού</a:t>
            </a: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5"/>
          <p:cNvSpPr/>
          <p:nvPr/>
        </p:nvSpPr>
        <p:spPr>
          <a:xfrm>
            <a:off x="0" y="93382"/>
            <a:ext cx="12189000"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5"/>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5"/>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5"/>
          <p:cNvSpPr txBox="1"/>
          <p:nvPr/>
        </p:nvSpPr>
        <p:spPr>
          <a:xfrm>
            <a:off x="182817" y="196602"/>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Το Ερευνητικό Κενό</a:t>
            </a:r>
            <a:endParaRPr sz="3500"/>
          </a:p>
        </p:txBody>
      </p:sp>
      <p:sp>
        <p:nvSpPr>
          <p:cNvPr id="190" name="Google Shape;190;p5"/>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5"/>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192" name="Google Shape;192;p5"/>
          <p:cNvSpPr/>
          <p:nvPr/>
        </p:nvSpPr>
        <p:spPr>
          <a:xfrm>
            <a:off x="640075" y="1373531"/>
            <a:ext cx="3383400" cy="463230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5"/>
          <p:cNvSpPr txBox="1"/>
          <p:nvPr/>
        </p:nvSpPr>
        <p:spPr>
          <a:xfrm>
            <a:off x="680482" y="1552289"/>
            <a:ext cx="33834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Μοντέλα Εξάπλωσης</a:t>
            </a:r>
            <a:r>
              <a:rPr b="1" lang="en-US" sz="2000">
                <a:solidFill>
                  <a:srgbClr val="FFFFFF"/>
                </a:solidFill>
                <a:latin typeface="Calibri"/>
                <a:ea typeface="Calibri"/>
                <a:cs typeface="Calibri"/>
                <a:sym typeface="Calibri"/>
              </a:rPr>
              <a:t> </a:t>
            </a:r>
            <a:r>
              <a:rPr b="1" i="0" lang="en-US" sz="2000" u="none" cap="none" strike="noStrike">
                <a:solidFill>
                  <a:srgbClr val="FFFFFF"/>
                </a:solidFill>
                <a:latin typeface="Calibri"/>
                <a:ea typeface="Calibri"/>
                <a:cs typeface="Calibri"/>
                <a:sym typeface="Calibri"/>
              </a:rPr>
              <a:t>Φωτιάς</a:t>
            </a:r>
            <a:endParaRPr sz="2000"/>
          </a:p>
        </p:txBody>
      </p:sp>
      <p:sp>
        <p:nvSpPr>
          <p:cNvPr id="194" name="Google Shape;194;p5"/>
          <p:cNvSpPr/>
          <p:nvPr/>
        </p:nvSpPr>
        <p:spPr>
          <a:xfrm>
            <a:off x="731520" y="2178214"/>
            <a:ext cx="3200400" cy="273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5"/>
          <p:cNvSpPr txBox="1"/>
          <p:nvPr/>
        </p:nvSpPr>
        <p:spPr>
          <a:xfrm>
            <a:off x="551225" y="2500482"/>
            <a:ext cx="3472200" cy="31401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FFFFFF"/>
              </a:buClr>
              <a:buSzPts val="1800"/>
              <a:buFont typeface="Calibri"/>
              <a:buChar char="●"/>
            </a:pPr>
            <a:r>
              <a:rPr b="0" i="0" lang="en-US" sz="1800" u="none" cap="none" strike="noStrike">
                <a:solidFill>
                  <a:srgbClr val="FFFFFF"/>
                </a:solidFill>
                <a:latin typeface="Calibri"/>
                <a:ea typeface="Calibri"/>
                <a:cs typeface="Calibri"/>
                <a:sym typeface="Calibri"/>
              </a:rPr>
              <a:t> </a:t>
            </a:r>
            <a:r>
              <a:rPr lang="en-US" sz="1800">
                <a:solidFill>
                  <a:srgbClr val="FFFFFF"/>
                </a:solidFill>
                <a:latin typeface="Calibri"/>
                <a:ea typeface="Calibri"/>
                <a:cs typeface="Calibri"/>
                <a:sym typeface="Calibri"/>
              </a:rPr>
              <a:t>Ακριβής πρόβλεψη κίνησης φωτιάς βάσει φυσικών μοντέλων</a:t>
            </a:r>
            <a:br>
              <a:rPr lang="en-US" sz="1800">
                <a:solidFill>
                  <a:srgbClr val="FFFFFF"/>
                </a:solidFill>
                <a:latin typeface="Calibri"/>
                <a:ea typeface="Calibri"/>
                <a:cs typeface="Calibri"/>
                <a:sym typeface="Calibri"/>
              </a:rPr>
            </a:br>
            <a:endParaRPr sz="1800">
              <a:solidFill>
                <a:srgbClr val="FFFFFF"/>
              </a:solidFill>
              <a:latin typeface="Calibri"/>
              <a:ea typeface="Calibri"/>
              <a:cs typeface="Calibri"/>
              <a:sym typeface="Calibri"/>
            </a:endParaRPr>
          </a:p>
          <a:p>
            <a:pPr indent="-342900" lvl="0" marL="457200" marR="0" rtl="0" algn="l">
              <a:lnSpc>
                <a:spcPct val="100000"/>
              </a:lnSpc>
              <a:spcBef>
                <a:spcPts val="0"/>
              </a:spcBef>
              <a:spcAft>
                <a:spcPts val="0"/>
              </a:spcAft>
              <a:buClr>
                <a:srgbClr val="FFFFFF"/>
              </a:buClr>
              <a:buSzPts val="1800"/>
              <a:buFont typeface="Calibri"/>
              <a:buChar char="●"/>
            </a:pPr>
            <a:r>
              <a:rPr lang="en-US" sz="1800">
                <a:solidFill>
                  <a:srgbClr val="FFFFFF"/>
                </a:solidFill>
                <a:latin typeface="Calibri"/>
                <a:ea typeface="Calibri"/>
                <a:cs typeface="Calibri"/>
                <a:sym typeface="Calibri"/>
              </a:rPr>
              <a:t>Χρησιμοποιούνται από πυροσβεστικές υπηρεσίες παγκοσμίως</a:t>
            </a:r>
            <a:endParaRPr sz="1800">
              <a:solidFill>
                <a:srgbClr val="FFFFFF"/>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800">
              <a:solidFill>
                <a:srgbClr val="FFFFFF"/>
              </a:solidFill>
              <a:latin typeface="Calibri"/>
              <a:ea typeface="Calibri"/>
              <a:cs typeface="Calibri"/>
              <a:sym typeface="Calibri"/>
            </a:endParaRPr>
          </a:p>
          <a:p>
            <a:pPr indent="-342900" lvl="0" marL="457200" marR="0" rtl="0" algn="l">
              <a:lnSpc>
                <a:spcPct val="100000"/>
              </a:lnSpc>
              <a:spcBef>
                <a:spcPts val="0"/>
              </a:spcBef>
              <a:spcAft>
                <a:spcPts val="0"/>
              </a:spcAft>
              <a:buClr>
                <a:srgbClr val="FFFFFF"/>
              </a:buClr>
              <a:buSzPts val="1800"/>
              <a:buFont typeface="Calibri"/>
              <a:buChar char="●"/>
            </a:pPr>
            <a:r>
              <a:rPr b="1" lang="en-US" sz="1800">
                <a:solidFill>
                  <a:srgbClr val="FFFFFF"/>
                </a:solidFill>
                <a:latin typeface="Calibri"/>
                <a:ea typeface="Calibri"/>
                <a:cs typeface="Calibri"/>
                <a:sym typeface="Calibri"/>
              </a:rPr>
              <a:t>Δεν περιέχουν πληθυσμό, εκκένωση ή δυνάμεις κατάσβεσης</a:t>
            </a:r>
            <a:endParaRPr b="1" sz="1800">
              <a:solidFill>
                <a:srgbClr val="FFFFFF"/>
              </a:solidFill>
              <a:latin typeface="Calibri"/>
              <a:ea typeface="Calibri"/>
              <a:cs typeface="Calibri"/>
              <a:sym typeface="Calibri"/>
            </a:endParaRPr>
          </a:p>
        </p:txBody>
      </p:sp>
      <p:sp>
        <p:nvSpPr>
          <p:cNvPr id="196" name="Google Shape;196;p5"/>
          <p:cNvSpPr/>
          <p:nvPr/>
        </p:nvSpPr>
        <p:spPr>
          <a:xfrm>
            <a:off x="4343400" y="1373531"/>
            <a:ext cx="3383400" cy="45918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5"/>
          <p:cNvSpPr txBox="1"/>
          <p:nvPr/>
        </p:nvSpPr>
        <p:spPr>
          <a:xfrm>
            <a:off x="4744055" y="1552290"/>
            <a:ext cx="3108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Μοντέλα Εκκένωσης</a:t>
            </a:r>
            <a:endParaRPr sz="2000"/>
          </a:p>
        </p:txBody>
      </p:sp>
      <p:sp>
        <p:nvSpPr>
          <p:cNvPr id="198" name="Google Shape;198;p5"/>
          <p:cNvSpPr/>
          <p:nvPr/>
        </p:nvSpPr>
        <p:spPr>
          <a:xfrm>
            <a:off x="4434840" y="2178214"/>
            <a:ext cx="3200400" cy="273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5"/>
          <p:cNvSpPr txBox="1"/>
          <p:nvPr/>
        </p:nvSpPr>
        <p:spPr>
          <a:xfrm>
            <a:off x="4389150" y="2484132"/>
            <a:ext cx="3200400" cy="2862900"/>
          </a:xfrm>
          <a:prstGeom prst="rect">
            <a:avLst/>
          </a:prstGeom>
          <a:noFill/>
          <a:ln>
            <a:noFill/>
          </a:ln>
        </p:spPr>
        <p:txBody>
          <a:bodyPr anchorCtr="0" anchor="t" bIns="45700" lIns="91425" spcFirstLastPara="1" rIns="91425" wrap="square" tIns="45700">
            <a:spAutoFit/>
          </a:bodyPr>
          <a:lstStyle/>
          <a:p>
            <a:pPr indent="-314325" lvl="0" marL="457200" rtl="0" algn="l">
              <a:spcBef>
                <a:spcPts val="0"/>
              </a:spcBef>
              <a:spcAft>
                <a:spcPts val="0"/>
              </a:spcAft>
              <a:buClr>
                <a:srgbClr val="FFFFFF"/>
              </a:buClr>
              <a:buSzPts val="1350"/>
              <a:buFont typeface="Calibri"/>
              <a:buChar char="●"/>
            </a:pPr>
            <a:r>
              <a:rPr lang="en-US" sz="1800">
                <a:solidFill>
                  <a:srgbClr val="FFFFFF"/>
                </a:solidFill>
                <a:latin typeface="Calibri"/>
                <a:ea typeface="Calibri"/>
                <a:cs typeface="Calibri"/>
                <a:sym typeface="Calibri"/>
              </a:rPr>
              <a:t>Προσομοίωση κίνησης οχημάτων και πεζών</a:t>
            </a:r>
            <a:br>
              <a:rPr lang="en-US" sz="1800">
                <a:solidFill>
                  <a:srgbClr val="FFFFFF"/>
                </a:solidFill>
                <a:latin typeface="Calibri"/>
                <a:ea typeface="Calibri"/>
                <a:cs typeface="Calibri"/>
                <a:sym typeface="Calibri"/>
              </a:rPr>
            </a:br>
            <a:endParaRPr sz="1800">
              <a:solidFill>
                <a:srgbClr val="FFFFFF"/>
              </a:solidFill>
              <a:latin typeface="Calibri"/>
              <a:ea typeface="Calibri"/>
              <a:cs typeface="Calibri"/>
              <a:sym typeface="Calibri"/>
            </a:endParaRPr>
          </a:p>
          <a:p>
            <a:pPr indent="-342900" lvl="0" marL="457200" rtl="0" algn="l">
              <a:spcBef>
                <a:spcPts val="0"/>
              </a:spcBef>
              <a:spcAft>
                <a:spcPts val="0"/>
              </a:spcAft>
              <a:buClr>
                <a:srgbClr val="FFFFFF"/>
              </a:buClr>
              <a:buSzPts val="1800"/>
              <a:buFont typeface="Calibri"/>
              <a:buChar char="●"/>
            </a:pPr>
            <a:r>
              <a:rPr lang="en-US" sz="1800">
                <a:solidFill>
                  <a:srgbClr val="FFFFFF"/>
                </a:solidFill>
                <a:latin typeface="Calibri"/>
                <a:ea typeface="Calibri"/>
                <a:cs typeface="Calibri"/>
                <a:sym typeface="Calibri"/>
              </a:rPr>
              <a:t>Μοντελοποίηση συμφόρησης και επιλογής διαδρομής</a:t>
            </a:r>
            <a:br>
              <a:rPr lang="en-US" sz="1800">
                <a:solidFill>
                  <a:srgbClr val="FFFFFF"/>
                </a:solidFill>
                <a:latin typeface="Calibri"/>
                <a:ea typeface="Calibri"/>
                <a:cs typeface="Calibri"/>
                <a:sym typeface="Calibri"/>
              </a:rPr>
            </a:br>
            <a:endParaRPr sz="1800">
              <a:solidFill>
                <a:srgbClr val="FFFFFF"/>
              </a:solidFill>
              <a:latin typeface="Calibri"/>
              <a:ea typeface="Calibri"/>
              <a:cs typeface="Calibri"/>
              <a:sym typeface="Calibri"/>
            </a:endParaRPr>
          </a:p>
          <a:p>
            <a:pPr indent="-342900" lvl="0" marL="457200" rtl="0" algn="l">
              <a:spcBef>
                <a:spcPts val="0"/>
              </a:spcBef>
              <a:spcAft>
                <a:spcPts val="0"/>
              </a:spcAft>
              <a:buClr>
                <a:srgbClr val="FFFFFF"/>
              </a:buClr>
              <a:buSzPts val="1800"/>
              <a:buFont typeface="Calibri"/>
              <a:buChar char="●"/>
            </a:pPr>
            <a:r>
              <a:rPr b="1" lang="en-US" sz="1800">
                <a:solidFill>
                  <a:srgbClr val="FFFFFF"/>
                </a:solidFill>
                <a:latin typeface="Calibri"/>
                <a:ea typeface="Calibri"/>
                <a:cs typeface="Calibri"/>
                <a:sym typeface="Calibri"/>
              </a:rPr>
              <a:t>Η φωτιά είναι στατική, δεν αντιδρά στις κινήσεις των πρακτόρων</a:t>
            </a:r>
            <a:endParaRPr b="1" sz="1800">
              <a:solidFill>
                <a:srgbClr val="FFFFFF"/>
              </a:solidFill>
              <a:latin typeface="Calibri"/>
              <a:ea typeface="Calibri"/>
              <a:cs typeface="Calibri"/>
              <a:sym typeface="Calibri"/>
            </a:endParaRPr>
          </a:p>
        </p:txBody>
      </p:sp>
      <p:sp>
        <p:nvSpPr>
          <p:cNvPr id="200" name="Google Shape;200;p5"/>
          <p:cNvSpPr/>
          <p:nvPr/>
        </p:nvSpPr>
        <p:spPr>
          <a:xfrm>
            <a:off x="8046725" y="1373531"/>
            <a:ext cx="3383400" cy="45918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5"/>
          <p:cNvSpPr txBox="1"/>
          <p:nvPr/>
        </p:nvSpPr>
        <p:spPr>
          <a:xfrm>
            <a:off x="9136380" y="1544068"/>
            <a:ext cx="3108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Τι Λείπει</a:t>
            </a:r>
            <a:endParaRPr sz="2000"/>
          </a:p>
        </p:txBody>
      </p:sp>
      <p:sp>
        <p:nvSpPr>
          <p:cNvPr id="202" name="Google Shape;202;p5"/>
          <p:cNvSpPr/>
          <p:nvPr/>
        </p:nvSpPr>
        <p:spPr>
          <a:xfrm>
            <a:off x="8138160" y="2178214"/>
            <a:ext cx="3200400" cy="273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5"/>
          <p:cNvSpPr txBox="1"/>
          <p:nvPr/>
        </p:nvSpPr>
        <p:spPr>
          <a:xfrm>
            <a:off x="8000950" y="2500482"/>
            <a:ext cx="3383400" cy="3140100"/>
          </a:xfrm>
          <a:prstGeom prst="rect">
            <a:avLst/>
          </a:prstGeom>
          <a:noFill/>
          <a:ln>
            <a:noFill/>
          </a:ln>
        </p:spPr>
        <p:txBody>
          <a:bodyPr anchorCtr="0" anchor="t" bIns="45700" lIns="91425" spcFirstLastPara="1" rIns="91425" wrap="square" tIns="45700">
            <a:spAutoFit/>
          </a:bodyPr>
          <a:lstStyle/>
          <a:p>
            <a:pPr indent="-342900" lvl="0" marL="457200" rtl="0" algn="l">
              <a:spcBef>
                <a:spcPts val="0"/>
              </a:spcBef>
              <a:spcAft>
                <a:spcPts val="0"/>
              </a:spcAft>
              <a:buClr>
                <a:srgbClr val="FFFFFF"/>
              </a:buClr>
              <a:buSzPts val="1800"/>
              <a:buFont typeface="Calibri"/>
              <a:buChar char="●"/>
            </a:pPr>
            <a:r>
              <a:rPr lang="en-US" sz="1800">
                <a:solidFill>
                  <a:srgbClr val="FFFFFF"/>
                </a:solidFill>
                <a:latin typeface="Calibri"/>
                <a:ea typeface="Calibri"/>
                <a:cs typeface="Calibri"/>
                <a:sym typeface="Calibri"/>
              </a:rPr>
              <a:t> Ενοποίηση και των δύο σε έναν ενιαίο βρόχο</a:t>
            </a:r>
            <a:br>
              <a:rPr lang="en-US" sz="1800">
                <a:solidFill>
                  <a:srgbClr val="FFFFFF"/>
                </a:solidFill>
                <a:latin typeface="Calibri"/>
                <a:ea typeface="Calibri"/>
                <a:cs typeface="Calibri"/>
                <a:sym typeface="Calibri"/>
              </a:rPr>
            </a:br>
            <a:endParaRPr sz="1800">
              <a:solidFill>
                <a:srgbClr val="FFFFFF"/>
              </a:solidFill>
              <a:latin typeface="Calibri"/>
              <a:ea typeface="Calibri"/>
              <a:cs typeface="Calibri"/>
              <a:sym typeface="Calibri"/>
            </a:endParaRPr>
          </a:p>
          <a:p>
            <a:pPr indent="-342900" lvl="0" marL="457200" rtl="0" algn="l">
              <a:spcBef>
                <a:spcPts val="0"/>
              </a:spcBef>
              <a:spcAft>
                <a:spcPts val="0"/>
              </a:spcAft>
              <a:buClr>
                <a:srgbClr val="FFFFFF"/>
              </a:buClr>
              <a:buSzPts val="1800"/>
              <a:buFont typeface="Calibri"/>
              <a:buChar char="●"/>
            </a:pPr>
            <a:r>
              <a:rPr lang="en-US" sz="1800">
                <a:solidFill>
                  <a:srgbClr val="FFFFFF"/>
                </a:solidFill>
                <a:latin typeface="Calibri"/>
                <a:ea typeface="Calibri"/>
                <a:cs typeface="Calibri"/>
                <a:sym typeface="Calibri"/>
              </a:rPr>
              <a:t>Δ</a:t>
            </a:r>
            <a:r>
              <a:rPr lang="en-US" sz="1800">
                <a:solidFill>
                  <a:srgbClr val="FFFFFF"/>
                </a:solidFill>
                <a:latin typeface="Calibri"/>
                <a:ea typeface="Calibri"/>
                <a:cs typeface="Calibri"/>
                <a:sym typeface="Calibri"/>
              </a:rPr>
              <a:t>υνάμεις έκτακτης ανάγκης που συντονίζονται δυναμικά</a:t>
            </a:r>
            <a:br>
              <a:rPr lang="en-US" sz="1800">
                <a:solidFill>
                  <a:srgbClr val="FFFFFF"/>
                </a:solidFill>
                <a:latin typeface="Calibri"/>
                <a:ea typeface="Calibri"/>
                <a:cs typeface="Calibri"/>
                <a:sym typeface="Calibri"/>
              </a:rPr>
            </a:br>
            <a:endParaRPr sz="1800">
              <a:solidFill>
                <a:srgbClr val="FFFFFF"/>
              </a:solidFill>
              <a:latin typeface="Calibri"/>
              <a:ea typeface="Calibri"/>
              <a:cs typeface="Calibri"/>
              <a:sym typeface="Calibri"/>
            </a:endParaRPr>
          </a:p>
          <a:p>
            <a:pPr indent="-342900" lvl="0" marL="457200" rtl="0" algn="l">
              <a:spcBef>
                <a:spcPts val="0"/>
              </a:spcBef>
              <a:spcAft>
                <a:spcPts val="0"/>
              </a:spcAft>
              <a:buClr>
                <a:srgbClr val="FFFFFF"/>
              </a:buClr>
              <a:buSzPts val="1800"/>
              <a:buFont typeface="Calibri"/>
              <a:buChar char="●"/>
            </a:pPr>
            <a:r>
              <a:rPr lang="en-US" sz="1800">
                <a:solidFill>
                  <a:srgbClr val="FFFFFF"/>
                </a:solidFill>
                <a:latin typeface="Calibri"/>
                <a:ea typeface="Calibri"/>
                <a:cs typeface="Calibri"/>
                <a:sym typeface="Calibri"/>
              </a:rPr>
              <a:t>Πράκτορες που μαθαίνουν και προσαρμόζονται αντί να ακολουθούν σταθερούς κανόνες</a:t>
            </a:r>
            <a:endParaRPr sz="18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6"/>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6"/>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6"/>
          <p:cNvSpPr txBox="1"/>
          <p:nvPr/>
        </p:nvSpPr>
        <p:spPr>
          <a:xfrm>
            <a:off x="164592" y="17250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Ερευνητικό Ερώτημα</a:t>
            </a:r>
            <a:endParaRPr sz="3500"/>
          </a:p>
        </p:txBody>
      </p:sp>
      <p:sp>
        <p:nvSpPr>
          <p:cNvPr id="212" name="Google Shape;212;p6"/>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6"/>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214" name="Google Shape;214;p6"/>
          <p:cNvSpPr/>
          <p:nvPr/>
        </p:nvSpPr>
        <p:spPr>
          <a:xfrm>
            <a:off x="347600" y="2291850"/>
            <a:ext cx="11457300" cy="27495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6"/>
          <p:cNvSpPr txBox="1"/>
          <p:nvPr/>
        </p:nvSpPr>
        <p:spPr>
          <a:xfrm>
            <a:off x="530449" y="2927846"/>
            <a:ext cx="11091600" cy="1523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SzPts val="1100"/>
              <a:buNone/>
            </a:pPr>
            <a:r>
              <a:rPr b="1" lang="en-US" sz="3100">
                <a:solidFill>
                  <a:schemeClr val="lt1"/>
                </a:solidFill>
                <a:latin typeface="Calibri"/>
                <a:ea typeface="Calibri"/>
                <a:cs typeface="Calibri"/>
                <a:sym typeface="Calibri"/>
              </a:rPr>
              <a:t>Μπορεί ένα υβριδικό σύστημα BDI-MARL να συντονίσει αποτελεσματικά την απόκριση σε πυρκαγιά και να επιτύχει αποτελέσματα συγκρίσιμα με πραγματικά ιστορικά γεγονότα;</a:t>
            </a:r>
            <a:endParaRPr b="1" sz="31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8"/>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8"/>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8"/>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8"/>
          <p:cNvSpPr txBox="1"/>
          <p:nvPr/>
        </p:nvSpPr>
        <p:spPr>
          <a:xfrm>
            <a:off x="164592" y="17250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Στιγμιότυπο Προσομοίωσης AIGIS</a:t>
            </a:r>
            <a:endParaRPr sz="3500"/>
          </a:p>
        </p:txBody>
      </p:sp>
      <p:sp>
        <p:nvSpPr>
          <p:cNvPr id="225" name="Google Shape;225;p8"/>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8"/>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pic>
        <p:nvPicPr>
          <p:cNvPr descr="fig3_1_dashboard_snapshot.png" id="227" name="Google Shape;227;p8"/>
          <p:cNvPicPr preferRelativeResize="0"/>
          <p:nvPr/>
        </p:nvPicPr>
        <p:blipFill rotWithShape="1">
          <a:blip r:embed="rId3">
            <a:alphaModFix/>
          </a:blip>
          <a:srcRect b="0" l="0" r="0" t="0"/>
          <a:stretch/>
        </p:blipFill>
        <p:spPr>
          <a:xfrm>
            <a:off x="365760" y="1143000"/>
            <a:ext cx="11457432" cy="5074920"/>
          </a:xfrm>
          <a:prstGeom prst="rect">
            <a:avLst/>
          </a:prstGeom>
          <a:noFill/>
          <a:ln>
            <a:noFill/>
          </a:ln>
        </p:spPr>
      </p:pic>
      <p:sp>
        <p:nvSpPr>
          <p:cNvPr id="228" name="Google Shape;228;p8"/>
          <p:cNvSpPr/>
          <p:nvPr/>
        </p:nvSpPr>
        <p:spPr>
          <a:xfrm>
            <a:off x="365760" y="6053328"/>
            <a:ext cx="1145743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8"/>
          <p:cNvSpPr txBox="1"/>
          <p:nvPr/>
        </p:nvSpPr>
        <p:spPr>
          <a:xfrm>
            <a:off x="548640" y="6071616"/>
            <a:ext cx="11091672" cy="228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100" u="none" cap="none" strike="noStrike">
                <a:solidFill>
                  <a:srgbClr val="D9DEE8"/>
                </a:solidFill>
                <a:latin typeface="Calibri"/>
                <a:ea typeface="Calibri"/>
                <a:cs typeface="Calibri"/>
                <a:sym typeface="Calibri"/>
              </a:rPr>
              <a:t>Εικόνα 3.1 — Πίνακας ελέγχου AIGIS: φωτιά (πορτοκαλί/κόκκινο), πράκτορες (εικονίδια), γράφος δρόμων, τρέχουσα φάση εκκένωσης</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9"/>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9"/>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9"/>
          <p:cNvSpPr txBox="1"/>
          <p:nvPr/>
        </p:nvSpPr>
        <p:spPr>
          <a:xfrm>
            <a:off x="164592" y="18863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Μοντέλο Εξάπλωσης Φωτιάς</a:t>
            </a:r>
            <a:endParaRPr sz="3500"/>
          </a:p>
        </p:txBody>
      </p:sp>
      <p:sp>
        <p:nvSpPr>
          <p:cNvPr id="238" name="Google Shape;238;p9"/>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9"/>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240" name="Google Shape;240;p9"/>
          <p:cNvSpPr/>
          <p:nvPr/>
        </p:nvSpPr>
        <p:spPr>
          <a:xfrm>
            <a:off x="321225" y="1216275"/>
            <a:ext cx="6350100" cy="52119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9"/>
          <p:cNvSpPr txBox="1"/>
          <p:nvPr/>
        </p:nvSpPr>
        <p:spPr>
          <a:xfrm>
            <a:off x="489325" y="1400250"/>
            <a:ext cx="6088500" cy="87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550" u="none" cap="none" strike="noStrike">
                <a:solidFill>
                  <a:schemeClr val="lt1"/>
                </a:solidFill>
                <a:latin typeface="Calibri"/>
                <a:ea typeface="Calibri"/>
                <a:cs typeface="Calibri"/>
                <a:sym typeface="Calibri"/>
              </a:rPr>
              <a:t>ROS = R_base × (1 + </a:t>
            </a:r>
            <a:r>
              <a:rPr b="0" i="0" lang="en-US" sz="2550" u="none" cap="none" strike="noStrike">
                <a:solidFill>
                  <a:srgbClr val="D46A17"/>
                </a:solidFill>
                <a:latin typeface="Calibri"/>
                <a:ea typeface="Calibri"/>
                <a:cs typeface="Calibri"/>
                <a:sym typeface="Calibri"/>
              </a:rPr>
              <a:t>φ_wind</a:t>
            </a:r>
            <a:r>
              <a:rPr b="0" i="0" lang="en-US" sz="2550" u="none" cap="none" strike="noStrike">
                <a:solidFill>
                  <a:schemeClr val="lt1"/>
                </a:solidFill>
                <a:latin typeface="Calibri"/>
                <a:ea typeface="Calibri"/>
                <a:cs typeface="Calibri"/>
                <a:sym typeface="Calibri"/>
              </a:rPr>
              <a:t>) × (1 + </a:t>
            </a:r>
            <a:r>
              <a:rPr b="0" i="0" lang="en-US" sz="2550" u="none" cap="none" strike="noStrike">
                <a:solidFill>
                  <a:srgbClr val="BF2B2B"/>
                </a:solidFill>
                <a:latin typeface="Calibri"/>
                <a:ea typeface="Calibri"/>
                <a:cs typeface="Calibri"/>
                <a:sym typeface="Calibri"/>
              </a:rPr>
              <a:t>φ_slope</a:t>
            </a:r>
            <a:r>
              <a:rPr b="0" i="0" lang="en-US" sz="2550" u="none" cap="none" strike="noStrike">
                <a:solidFill>
                  <a:schemeClr val="lt1"/>
                </a:solidFill>
                <a:latin typeface="Calibri"/>
                <a:ea typeface="Calibri"/>
                <a:cs typeface="Calibri"/>
                <a:sym typeface="Calibri"/>
              </a:rPr>
              <a:t>) × </a:t>
            </a:r>
            <a:r>
              <a:rPr b="0" i="0" lang="en-US" sz="2550" u="none" cap="none" strike="noStrike">
                <a:solidFill>
                  <a:srgbClr val="1E7A1E"/>
                </a:solidFill>
                <a:latin typeface="Calibri"/>
                <a:ea typeface="Calibri"/>
                <a:cs typeface="Calibri"/>
                <a:sym typeface="Calibri"/>
              </a:rPr>
              <a:t>fuel_factor</a:t>
            </a:r>
            <a:endParaRPr sz="2700">
              <a:solidFill>
                <a:srgbClr val="1E7A1E"/>
              </a:solidFill>
            </a:endParaRPr>
          </a:p>
        </p:txBody>
      </p:sp>
      <p:sp>
        <p:nvSpPr>
          <p:cNvPr id="242" name="Google Shape;242;p9"/>
          <p:cNvSpPr txBox="1"/>
          <p:nvPr/>
        </p:nvSpPr>
        <p:spPr>
          <a:xfrm>
            <a:off x="433200" y="2516425"/>
            <a:ext cx="6350100" cy="43869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rgbClr val="CCDDFF"/>
              </a:buClr>
              <a:buSzPts val="1800"/>
              <a:buFont typeface="Calibri"/>
              <a:buChar char="●"/>
            </a:pPr>
            <a:r>
              <a:rPr lang="en-US" sz="1800">
                <a:solidFill>
                  <a:srgbClr val="CCDDFF"/>
                </a:solidFill>
                <a:latin typeface="Calibri"/>
                <a:ea typeface="Calibri"/>
                <a:cs typeface="Calibri"/>
                <a:sym typeface="Calibri"/>
              </a:rPr>
              <a:t> </a:t>
            </a:r>
            <a:r>
              <a:rPr lang="en-US" sz="1800">
                <a:solidFill>
                  <a:srgbClr val="D46A17"/>
                </a:solidFill>
                <a:latin typeface="Calibri"/>
                <a:ea typeface="Calibri"/>
                <a:cs typeface="Calibri"/>
                <a:sym typeface="Calibri"/>
              </a:rPr>
              <a:t>φ_wind</a:t>
            </a:r>
            <a:r>
              <a:rPr lang="en-US" sz="1800">
                <a:solidFill>
                  <a:srgbClr val="CCDDFF"/>
                </a:solidFill>
                <a:latin typeface="Calibri"/>
                <a:ea typeface="Calibri"/>
                <a:cs typeface="Calibri"/>
                <a:sym typeface="Calibri"/>
              </a:rPr>
              <a:t> : </a:t>
            </a:r>
            <a:r>
              <a:rPr lang="en-US" sz="1800">
                <a:solidFill>
                  <a:srgbClr val="CCDDFF"/>
                </a:solidFill>
                <a:latin typeface="Calibri"/>
                <a:ea typeface="Calibri"/>
                <a:cs typeface="Calibri"/>
                <a:sym typeface="Calibri"/>
              </a:rPr>
              <a:t>συντελεστής ανέμου (ταχύτητα + κατεύθυνση)</a:t>
            </a:r>
            <a:br>
              <a:rPr lang="en-US" sz="1800">
                <a:solidFill>
                  <a:srgbClr val="CCDDFF"/>
                </a:solidFill>
                <a:latin typeface="Calibri"/>
                <a:ea typeface="Calibri"/>
                <a:cs typeface="Calibri"/>
                <a:sym typeface="Calibri"/>
              </a:rPr>
            </a:br>
            <a:endParaRPr sz="1800">
              <a:solidFill>
                <a:srgbClr val="CCDDFF"/>
              </a:solidFill>
              <a:latin typeface="Calibri"/>
              <a:ea typeface="Calibri"/>
              <a:cs typeface="Calibri"/>
              <a:sym typeface="Calibri"/>
            </a:endParaRPr>
          </a:p>
          <a:p>
            <a:pPr indent="-342900" lvl="0" marL="457200" rtl="0" algn="l">
              <a:spcBef>
                <a:spcPts val="0"/>
              </a:spcBef>
              <a:spcAft>
                <a:spcPts val="0"/>
              </a:spcAft>
              <a:buClr>
                <a:srgbClr val="CCDDFF"/>
              </a:buClr>
              <a:buSzPts val="1800"/>
              <a:buFont typeface="Calibri"/>
              <a:buChar char="●"/>
            </a:pPr>
            <a:r>
              <a:rPr lang="en-US" sz="1800">
                <a:solidFill>
                  <a:srgbClr val="BF2B2B"/>
                </a:solidFill>
                <a:latin typeface="Calibri"/>
                <a:ea typeface="Calibri"/>
                <a:cs typeface="Calibri"/>
                <a:sym typeface="Calibri"/>
              </a:rPr>
              <a:t>φ_slope </a:t>
            </a:r>
            <a:r>
              <a:rPr lang="en-US" sz="1800">
                <a:solidFill>
                  <a:srgbClr val="CCDDFF"/>
                </a:solidFill>
                <a:latin typeface="Calibri"/>
                <a:ea typeface="Calibri"/>
                <a:cs typeface="Calibri"/>
                <a:sym typeface="Calibri"/>
              </a:rPr>
              <a:t>: συντελεστής κλίσης εδάφους</a:t>
            </a:r>
            <a:br>
              <a:rPr lang="en-US" sz="1800">
                <a:solidFill>
                  <a:srgbClr val="CCDDFF"/>
                </a:solidFill>
                <a:latin typeface="Calibri"/>
                <a:ea typeface="Calibri"/>
                <a:cs typeface="Calibri"/>
                <a:sym typeface="Calibri"/>
              </a:rPr>
            </a:br>
            <a:endParaRPr sz="1800">
              <a:solidFill>
                <a:srgbClr val="CCDDFF"/>
              </a:solidFill>
              <a:latin typeface="Calibri"/>
              <a:ea typeface="Calibri"/>
              <a:cs typeface="Calibri"/>
              <a:sym typeface="Calibri"/>
            </a:endParaRPr>
          </a:p>
          <a:p>
            <a:pPr indent="-342900" lvl="0" marL="457200" rtl="0" algn="l">
              <a:spcBef>
                <a:spcPts val="0"/>
              </a:spcBef>
              <a:spcAft>
                <a:spcPts val="0"/>
              </a:spcAft>
              <a:buClr>
                <a:srgbClr val="CCDDFF"/>
              </a:buClr>
              <a:buSzPts val="1800"/>
              <a:buFont typeface="Calibri"/>
              <a:buChar char="●"/>
            </a:pPr>
            <a:r>
              <a:rPr lang="en-US" sz="1800">
                <a:solidFill>
                  <a:srgbClr val="1E7A1E"/>
                </a:solidFill>
                <a:latin typeface="Calibri"/>
                <a:ea typeface="Calibri"/>
                <a:cs typeface="Calibri"/>
                <a:sym typeface="Calibri"/>
              </a:rPr>
              <a:t>f</a:t>
            </a:r>
            <a:r>
              <a:rPr lang="en-US" sz="1800">
                <a:solidFill>
                  <a:srgbClr val="1A7A1A"/>
                </a:solidFill>
                <a:latin typeface="Calibri"/>
                <a:ea typeface="Calibri"/>
                <a:cs typeface="Calibri"/>
                <a:sym typeface="Calibri"/>
              </a:rPr>
              <a:t>uel_factor </a:t>
            </a:r>
            <a:r>
              <a:rPr lang="en-US" sz="1800">
                <a:solidFill>
                  <a:srgbClr val="CCDDFF"/>
                </a:solidFill>
                <a:latin typeface="Calibri"/>
                <a:ea typeface="Calibri"/>
                <a:cs typeface="Calibri"/>
                <a:sym typeface="Calibri"/>
              </a:rPr>
              <a:t>— τύπος βλάστησης (11 κλάσεις NFFL, Anderson 1982)</a:t>
            </a:r>
            <a:endParaRPr sz="1800">
              <a:solidFill>
                <a:srgbClr val="CCDDFF"/>
              </a:solidFill>
              <a:latin typeface="Calibri"/>
              <a:ea typeface="Calibri"/>
              <a:cs typeface="Calibri"/>
              <a:sym typeface="Calibri"/>
            </a:endParaRPr>
          </a:p>
          <a:p>
            <a:pPr indent="0" lvl="0" marL="0" rtl="0" algn="l">
              <a:spcBef>
                <a:spcPts val="0"/>
              </a:spcBef>
              <a:spcAft>
                <a:spcPts val="0"/>
              </a:spcAft>
              <a:buNone/>
            </a:pPr>
            <a:r>
              <a:t/>
            </a:r>
            <a:endParaRPr sz="1900">
              <a:solidFill>
                <a:srgbClr val="CCDDFF"/>
              </a:solidFill>
              <a:latin typeface="Calibri"/>
              <a:ea typeface="Calibri"/>
              <a:cs typeface="Calibri"/>
              <a:sym typeface="Calibri"/>
            </a:endParaRPr>
          </a:p>
          <a:p>
            <a:pPr indent="0" lvl="0" marL="0" rtl="0" algn="l">
              <a:spcBef>
                <a:spcPts val="0"/>
              </a:spcBef>
              <a:spcAft>
                <a:spcPts val="0"/>
              </a:spcAft>
              <a:buNone/>
            </a:pPr>
            <a:r>
              <a:rPr b="1" lang="en-US" sz="1900">
                <a:solidFill>
                  <a:srgbClr val="CCDDFF"/>
                </a:solidFill>
                <a:latin typeface="Calibri"/>
                <a:ea typeface="Calibri"/>
                <a:cs typeface="Calibri"/>
                <a:sym typeface="Calibri"/>
              </a:rPr>
              <a:t>Cellular Automaton</a:t>
            </a:r>
            <a:r>
              <a:rPr lang="en-US" sz="1900">
                <a:solidFill>
                  <a:srgbClr val="CCDDFF"/>
                </a:solidFill>
                <a:latin typeface="Calibri"/>
                <a:ea typeface="Calibri"/>
                <a:cs typeface="Calibri"/>
                <a:sym typeface="Calibri"/>
              </a:rPr>
              <a:t> : κάθε κελί επηρεάζει τους 8 γείτονές του με πιθανότητα ανάλογη του ROS</a:t>
            </a:r>
            <a:endParaRPr sz="1900">
              <a:solidFill>
                <a:srgbClr val="CCDDFF"/>
              </a:solidFill>
              <a:latin typeface="Calibri"/>
              <a:ea typeface="Calibri"/>
              <a:cs typeface="Calibri"/>
              <a:sym typeface="Calibri"/>
            </a:endParaRPr>
          </a:p>
          <a:p>
            <a:pPr indent="0" lvl="0" marL="0" rtl="0" algn="l">
              <a:spcBef>
                <a:spcPts val="0"/>
              </a:spcBef>
              <a:spcAft>
                <a:spcPts val="0"/>
              </a:spcAft>
              <a:buNone/>
            </a:pPr>
            <a:r>
              <a:t/>
            </a:r>
            <a:endParaRPr sz="1900">
              <a:solidFill>
                <a:srgbClr val="CCDDFF"/>
              </a:solidFill>
              <a:latin typeface="Calibri"/>
              <a:ea typeface="Calibri"/>
              <a:cs typeface="Calibri"/>
              <a:sym typeface="Calibri"/>
            </a:endParaRPr>
          </a:p>
          <a:p>
            <a:pPr indent="0" lvl="0" marL="0" rtl="0" algn="l">
              <a:spcBef>
                <a:spcPts val="0"/>
              </a:spcBef>
              <a:spcAft>
                <a:spcPts val="0"/>
              </a:spcAft>
              <a:buNone/>
            </a:pPr>
            <a:r>
              <a:rPr b="1" lang="en-US" sz="1900">
                <a:solidFill>
                  <a:srgbClr val="CCDDFF"/>
                </a:solidFill>
                <a:latin typeface="Calibri"/>
                <a:ea typeface="Calibri"/>
                <a:cs typeface="Calibri"/>
                <a:sym typeface="Calibri"/>
              </a:rPr>
              <a:t>Firebrand</a:t>
            </a:r>
            <a:r>
              <a:rPr lang="en-US" sz="1900">
                <a:solidFill>
                  <a:srgbClr val="CCDDFF"/>
                </a:solidFill>
                <a:latin typeface="Calibri"/>
                <a:ea typeface="Calibri"/>
                <a:cs typeface="Calibri"/>
                <a:sym typeface="Calibri"/>
              </a:rPr>
              <a:t> :  όταν ο άνεμος είναι ισχυρός, η φωτιά ξεπερνά τους άμεσους γείτονες και δημιουργεί νέες εστίες σε απόσταση</a:t>
            </a:r>
            <a:endParaRPr sz="1900">
              <a:solidFill>
                <a:srgbClr val="CCDD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900">
              <a:solidFill>
                <a:srgbClr val="CCDDFF"/>
              </a:solidFill>
              <a:latin typeface="Calibri"/>
              <a:ea typeface="Calibri"/>
              <a:cs typeface="Calibri"/>
              <a:sym typeface="Calibri"/>
            </a:endParaRPr>
          </a:p>
          <a:p>
            <a:pPr indent="0" lvl="0" marL="0" rtl="0" algn="l">
              <a:spcBef>
                <a:spcPts val="0"/>
              </a:spcBef>
              <a:spcAft>
                <a:spcPts val="0"/>
              </a:spcAft>
              <a:buNone/>
            </a:pPr>
            <a:r>
              <a:t/>
            </a:r>
            <a:endParaRPr sz="1900">
              <a:solidFill>
                <a:srgbClr val="CCDDFF"/>
              </a:solidFill>
              <a:latin typeface="Calibri"/>
              <a:ea typeface="Calibri"/>
              <a:cs typeface="Calibri"/>
              <a:sym typeface="Calibri"/>
            </a:endParaRPr>
          </a:p>
        </p:txBody>
      </p:sp>
      <p:pic>
        <p:nvPicPr>
          <p:cNvPr id="243" name="Google Shape;243;p9" title="mati_fire_spread.gif"/>
          <p:cNvPicPr preferRelativeResize="0"/>
          <p:nvPr/>
        </p:nvPicPr>
        <p:blipFill>
          <a:blip r:embed="rId3">
            <a:alphaModFix/>
          </a:blip>
          <a:stretch>
            <a:fillRect/>
          </a:stretch>
        </p:blipFill>
        <p:spPr>
          <a:xfrm>
            <a:off x="6850525" y="1197921"/>
            <a:ext cx="5029200" cy="521194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0"/>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10"/>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10"/>
          <p:cNvSpPr txBox="1"/>
          <p:nvPr/>
        </p:nvSpPr>
        <p:spPr>
          <a:xfrm>
            <a:off x="164592" y="202196"/>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Ενσωμάτωση Γεωχωρικών Δεδομένων</a:t>
            </a:r>
            <a:endParaRPr sz="3500"/>
          </a:p>
        </p:txBody>
      </p:sp>
      <p:sp>
        <p:nvSpPr>
          <p:cNvPr id="252" name="Google Shape;252;p10"/>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10"/>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pic>
        <p:nvPicPr>
          <p:cNvPr id="254" name="Google Shape;254;p10" title="geodata_diagram.png"/>
          <p:cNvPicPr preferRelativeResize="0"/>
          <p:nvPr/>
        </p:nvPicPr>
        <p:blipFill>
          <a:blip r:embed="rId3">
            <a:alphaModFix/>
          </a:blip>
          <a:stretch>
            <a:fillRect/>
          </a:stretch>
        </p:blipFill>
        <p:spPr>
          <a:xfrm>
            <a:off x="2461928" y="1045666"/>
            <a:ext cx="7228631" cy="5502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1"/>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11"/>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11"/>
          <p:cNvSpPr txBox="1"/>
          <p:nvPr/>
        </p:nvSpPr>
        <p:spPr>
          <a:xfrm>
            <a:off x="164592" y="224347"/>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Αρχιτεκτονική Πρακτόρων </a:t>
            </a:r>
            <a:endParaRPr sz="3500"/>
          </a:p>
        </p:txBody>
      </p:sp>
      <p:sp>
        <p:nvSpPr>
          <p:cNvPr id="263" name="Google Shape;263;p11"/>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11"/>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pic>
        <p:nvPicPr>
          <p:cNvPr id="265" name="Google Shape;265;p11"/>
          <p:cNvPicPr preferRelativeResize="0"/>
          <p:nvPr/>
        </p:nvPicPr>
        <p:blipFill>
          <a:blip r:embed="rId3">
            <a:alphaModFix/>
          </a:blip>
          <a:stretch>
            <a:fillRect/>
          </a:stretch>
        </p:blipFill>
        <p:spPr>
          <a:xfrm>
            <a:off x="1163275" y="1118613"/>
            <a:ext cx="9825946" cy="54071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2"/>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12"/>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12"/>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12"/>
          <p:cNvSpPr txBox="1"/>
          <p:nvPr/>
        </p:nvSpPr>
        <p:spPr>
          <a:xfrm>
            <a:off x="164592" y="207668"/>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Αρχιτεκτονική BDI &amp; CNP</a:t>
            </a:r>
            <a:endParaRPr sz="3500"/>
          </a:p>
        </p:txBody>
      </p:sp>
      <p:sp>
        <p:nvSpPr>
          <p:cNvPr id="275" name="Google Shape;275;p12"/>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12"/>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277" name="Google Shape;277;p12"/>
          <p:cNvSpPr/>
          <p:nvPr/>
        </p:nvSpPr>
        <p:spPr>
          <a:xfrm>
            <a:off x="365760" y="1188720"/>
            <a:ext cx="5029200" cy="493776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12"/>
          <p:cNvSpPr/>
          <p:nvPr/>
        </p:nvSpPr>
        <p:spPr>
          <a:xfrm>
            <a:off x="502920" y="1331150"/>
            <a:ext cx="4663500" cy="1280100"/>
          </a:xfrm>
          <a:prstGeom prst="rect">
            <a:avLst/>
          </a:prstGeom>
          <a:solidFill>
            <a:srgbClr val="253F6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12"/>
          <p:cNvSpPr txBox="1"/>
          <p:nvPr/>
        </p:nvSpPr>
        <p:spPr>
          <a:xfrm>
            <a:off x="640080" y="1386015"/>
            <a:ext cx="438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D46A17"/>
                </a:solidFill>
                <a:latin typeface="Calibri"/>
                <a:ea typeface="Calibri"/>
                <a:cs typeface="Calibri"/>
                <a:sym typeface="Calibri"/>
              </a:rPr>
              <a:t>Πεποιθήσεις (Beliefs)</a:t>
            </a:r>
            <a:endParaRPr sz="2000"/>
          </a:p>
        </p:txBody>
      </p:sp>
      <p:sp>
        <p:nvSpPr>
          <p:cNvPr id="280" name="Google Shape;280;p12"/>
          <p:cNvSpPr txBox="1"/>
          <p:nvPr/>
        </p:nvSpPr>
        <p:spPr>
          <a:xfrm>
            <a:off x="640080" y="1751775"/>
            <a:ext cx="43890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900" u="none" cap="none" strike="noStrike">
                <a:solidFill>
                  <a:srgbClr val="FFFFFF"/>
                </a:solidFill>
                <a:latin typeface="Calibri"/>
                <a:ea typeface="Calibri"/>
                <a:cs typeface="Calibri"/>
                <a:sym typeface="Calibri"/>
              </a:rPr>
              <a:t>Γράφος δρόμων · μέτωπο φωτιάς · θέσεις </a:t>
            </a:r>
            <a:r>
              <a:rPr lang="en-US" sz="1900">
                <a:solidFill>
                  <a:srgbClr val="FFFFFF"/>
                </a:solidFill>
                <a:latin typeface="Calibri"/>
                <a:ea typeface="Calibri"/>
                <a:cs typeface="Calibri"/>
                <a:sym typeface="Calibri"/>
              </a:rPr>
              <a:t>πολιτών</a:t>
            </a:r>
            <a:endParaRPr sz="1900"/>
          </a:p>
        </p:txBody>
      </p:sp>
      <p:sp>
        <p:nvSpPr>
          <p:cNvPr id="281" name="Google Shape;281;p12"/>
          <p:cNvSpPr/>
          <p:nvPr/>
        </p:nvSpPr>
        <p:spPr>
          <a:xfrm>
            <a:off x="502920" y="2701195"/>
            <a:ext cx="4663500" cy="1280100"/>
          </a:xfrm>
          <a:prstGeom prst="rect">
            <a:avLst/>
          </a:prstGeom>
          <a:solidFill>
            <a:srgbClr val="253F6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12"/>
          <p:cNvSpPr txBox="1"/>
          <p:nvPr/>
        </p:nvSpPr>
        <p:spPr>
          <a:xfrm>
            <a:off x="640080" y="2756059"/>
            <a:ext cx="438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D46A17"/>
                </a:solidFill>
                <a:latin typeface="Calibri"/>
                <a:ea typeface="Calibri"/>
                <a:cs typeface="Calibri"/>
                <a:sym typeface="Calibri"/>
              </a:rPr>
              <a:t>Επιθυμίες (Desires)</a:t>
            </a:r>
            <a:endParaRPr sz="2000"/>
          </a:p>
        </p:txBody>
      </p:sp>
      <p:sp>
        <p:nvSpPr>
          <p:cNvPr id="283" name="Google Shape;283;p12"/>
          <p:cNvSpPr txBox="1"/>
          <p:nvPr/>
        </p:nvSpPr>
        <p:spPr>
          <a:xfrm>
            <a:off x="640080" y="3121819"/>
            <a:ext cx="43890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900" u="none" cap="none" strike="noStrike">
                <a:solidFill>
                  <a:srgbClr val="FFFFFF"/>
                </a:solidFill>
                <a:latin typeface="Calibri"/>
                <a:ea typeface="Calibri"/>
                <a:cs typeface="Calibri"/>
                <a:sym typeface="Calibri"/>
              </a:rPr>
              <a:t>Ελαχιστοποίηση θνησιμότητας · </a:t>
            </a:r>
            <a:r>
              <a:rPr lang="en-US" sz="1900">
                <a:solidFill>
                  <a:srgbClr val="FFFFFF"/>
                </a:solidFill>
                <a:latin typeface="Calibri"/>
                <a:ea typeface="Calibri"/>
                <a:cs typeface="Calibri"/>
                <a:sym typeface="Calibri"/>
              </a:rPr>
              <a:t>διατήρηση ανοιχτών οδεύσεων διαφυγής</a:t>
            </a:r>
            <a:endParaRPr sz="1900"/>
          </a:p>
        </p:txBody>
      </p:sp>
      <p:sp>
        <p:nvSpPr>
          <p:cNvPr id="284" name="Google Shape;284;p12"/>
          <p:cNvSpPr/>
          <p:nvPr/>
        </p:nvSpPr>
        <p:spPr>
          <a:xfrm>
            <a:off x="502925" y="4071255"/>
            <a:ext cx="4663500" cy="1909800"/>
          </a:xfrm>
          <a:prstGeom prst="rect">
            <a:avLst/>
          </a:prstGeom>
          <a:solidFill>
            <a:srgbClr val="253F6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12"/>
          <p:cNvSpPr txBox="1"/>
          <p:nvPr/>
        </p:nvSpPr>
        <p:spPr>
          <a:xfrm>
            <a:off x="640080" y="4126103"/>
            <a:ext cx="438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D46A17"/>
                </a:solidFill>
                <a:latin typeface="Calibri"/>
                <a:ea typeface="Calibri"/>
                <a:cs typeface="Calibri"/>
                <a:sym typeface="Calibri"/>
              </a:rPr>
              <a:t>Προθέσεις (Intentions)</a:t>
            </a:r>
            <a:endParaRPr sz="2000"/>
          </a:p>
        </p:txBody>
      </p:sp>
      <p:sp>
        <p:nvSpPr>
          <p:cNvPr id="286" name="Google Shape;286;p12"/>
          <p:cNvSpPr txBox="1"/>
          <p:nvPr/>
        </p:nvSpPr>
        <p:spPr>
          <a:xfrm>
            <a:off x="640080" y="4531551"/>
            <a:ext cx="43890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900" u="none" cap="none" strike="noStrike">
                <a:solidFill>
                  <a:srgbClr val="FFFFFF"/>
                </a:solidFill>
                <a:latin typeface="Calibri"/>
                <a:ea typeface="Calibri"/>
                <a:cs typeface="Calibri"/>
                <a:sym typeface="Calibri"/>
              </a:rPr>
              <a:t>Δεσμευμένη διαδρομή A* · αναθεώρηση μόνο σε </a:t>
            </a:r>
            <a:r>
              <a:rPr lang="en-US" sz="1900">
                <a:solidFill>
                  <a:srgbClr val="FFFFFF"/>
                </a:solidFill>
                <a:latin typeface="Calibri"/>
                <a:ea typeface="Calibri"/>
                <a:cs typeface="Calibri"/>
                <a:sym typeface="Calibri"/>
              </a:rPr>
              <a:t>4</a:t>
            </a:r>
            <a:r>
              <a:rPr b="0" i="0" lang="en-US" sz="1900" u="none" cap="none" strike="noStrike">
                <a:solidFill>
                  <a:srgbClr val="FFFFFF"/>
                </a:solidFill>
                <a:latin typeface="Calibri"/>
                <a:ea typeface="Calibri"/>
                <a:cs typeface="Calibri"/>
                <a:sym typeface="Calibri"/>
              </a:rPr>
              <a:t> συνθήκες :</a:t>
            </a:r>
            <a:endParaRPr sz="1900"/>
          </a:p>
        </p:txBody>
      </p:sp>
      <p:sp>
        <p:nvSpPr>
          <p:cNvPr id="287" name="Google Shape;287;p12"/>
          <p:cNvSpPr txBox="1"/>
          <p:nvPr/>
        </p:nvSpPr>
        <p:spPr>
          <a:xfrm>
            <a:off x="685850" y="5184435"/>
            <a:ext cx="43890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CCDDFF"/>
                </a:solidFill>
                <a:latin typeface="Calibri"/>
                <a:ea typeface="Calibri"/>
                <a:cs typeface="Calibri"/>
                <a:sym typeface="Calibri"/>
              </a:rPr>
              <a:t>▸  Αποκλεισμός  	</a:t>
            </a:r>
            <a:r>
              <a:rPr lang="en-US" sz="1600">
                <a:solidFill>
                  <a:srgbClr val="CCDDFF"/>
                </a:solidFill>
                <a:latin typeface="Calibri"/>
                <a:ea typeface="Calibri"/>
                <a:cs typeface="Calibri"/>
                <a:sym typeface="Calibri"/>
              </a:rPr>
              <a:t>▸ Ανεπαρκές καύσιμο</a:t>
            </a:r>
            <a:endParaRPr b="0" i="0" sz="1600" u="none" cap="none" strike="noStrike">
              <a:solidFill>
                <a:srgbClr val="CCDDFF"/>
              </a:solidFill>
              <a:latin typeface="Calibri"/>
              <a:ea typeface="Calibri"/>
              <a:cs typeface="Calibri"/>
              <a:sym typeface="Calibri"/>
            </a:endParaRPr>
          </a:p>
          <a:p>
            <a:pPr indent="0" lvl="0" marL="0" marR="0" rtl="0" algn="l">
              <a:spcBef>
                <a:spcPts val="0"/>
              </a:spcBef>
              <a:spcAft>
                <a:spcPts val="0"/>
              </a:spcAft>
              <a:buNone/>
            </a:pPr>
            <a:r>
              <a:rPr b="0" i="0" lang="en-US" sz="1600" u="none" cap="none" strike="noStrike">
                <a:solidFill>
                  <a:srgbClr val="CCDDFF"/>
                </a:solidFill>
                <a:latin typeface="Calibri"/>
                <a:ea typeface="Calibri"/>
                <a:cs typeface="Calibri"/>
                <a:sym typeface="Calibri"/>
              </a:rPr>
              <a:t>▸  MISSION_ABORT  	▸  </a:t>
            </a:r>
            <a:r>
              <a:rPr lang="en-US" sz="1600">
                <a:solidFill>
                  <a:srgbClr val="CCDDFF"/>
                </a:solidFill>
                <a:latin typeface="Calibri"/>
                <a:ea typeface="Calibri"/>
                <a:cs typeface="Calibri"/>
                <a:sym typeface="Calibri"/>
              </a:rPr>
              <a:t>Περιοδική επανεκτίμηση</a:t>
            </a:r>
            <a:r>
              <a:rPr lang="en-US" sz="1600">
                <a:solidFill>
                  <a:srgbClr val="CCDDFF"/>
                </a:solidFill>
                <a:latin typeface="Calibri"/>
                <a:ea typeface="Calibri"/>
                <a:cs typeface="Calibri"/>
                <a:sym typeface="Calibri"/>
              </a:rPr>
              <a:t> </a:t>
            </a:r>
            <a:endParaRPr sz="1600"/>
          </a:p>
        </p:txBody>
      </p:sp>
      <p:sp>
        <p:nvSpPr>
          <p:cNvPr id="288" name="Google Shape;288;p12"/>
          <p:cNvSpPr/>
          <p:nvPr/>
        </p:nvSpPr>
        <p:spPr>
          <a:xfrm>
            <a:off x="5577840" y="1188720"/>
            <a:ext cx="6217920" cy="4937760"/>
          </a:xfrm>
          <a:prstGeom prst="rect">
            <a:avLst/>
          </a:prstGeom>
          <a:solidFill>
            <a:srgbClr val="F0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12"/>
          <p:cNvSpPr txBox="1"/>
          <p:nvPr/>
        </p:nvSpPr>
        <p:spPr>
          <a:xfrm>
            <a:off x="5760720" y="1298448"/>
            <a:ext cx="58521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A2A4A"/>
                </a:solidFill>
                <a:latin typeface="Calibri"/>
                <a:ea typeface="Calibri"/>
                <a:cs typeface="Calibri"/>
                <a:sym typeface="Calibri"/>
              </a:rPr>
              <a:t>CNP — Contract Net Protocol (Smith 1980)</a:t>
            </a:r>
            <a:endParaRPr sz="2000"/>
          </a:p>
        </p:txBody>
      </p:sp>
      <p:sp>
        <p:nvSpPr>
          <p:cNvPr id="290" name="Google Shape;290;p12"/>
          <p:cNvSpPr/>
          <p:nvPr/>
        </p:nvSpPr>
        <p:spPr>
          <a:xfrm>
            <a:off x="5715000" y="1874519"/>
            <a:ext cx="5852160" cy="70408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12"/>
          <p:cNvSpPr txBox="1"/>
          <p:nvPr/>
        </p:nvSpPr>
        <p:spPr>
          <a:xfrm>
            <a:off x="5852160" y="1848453"/>
            <a:ext cx="55779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1. Commander εκπέμπει CFP (Πρόσκληση Υποβολής Προσφορών)</a:t>
            </a:r>
            <a:endParaRPr sz="2000"/>
          </a:p>
        </p:txBody>
      </p:sp>
      <p:sp>
        <p:nvSpPr>
          <p:cNvPr id="292" name="Google Shape;292;p12"/>
          <p:cNvSpPr/>
          <p:nvPr/>
        </p:nvSpPr>
        <p:spPr>
          <a:xfrm>
            <a:off x="5715000" y="2679191"/>
            <a:ext cx="5852160" cy="704088"/>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12"/>
          <p:cNvSpPr txBox="1"/>
          <p:nvPr/>
        </p:nvSpPr>
        <p:spPr>
          <a:xfrm>
            <a:off x="5852160" y="2752344"/>
            <a:ext cx="5577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2. Πράκτορες υποβάλλουν προσφορές</a:t>
            </a:r>
            <a:endParaRPr sz="2000"/>
          </a:p>
        </p:txBody>
      </p:sp>
      <p:sp>
        <p:nvSpPr>
          <p:cNvPr id="294" name="Google Shape;294;p12"/>
          <p:cNvSpPr/>
          <p:nvPr/>
        </p:nvSpPr>
        <p:spPr>
          <a:xfrm>
            <a:off x="5715000" y="3483863"/>
            <a:ext cx="5852160" cy="704088"/>
          </a:xfrm>
          <a:prstGeom prst="rect">
            <a:avLst/>
          </a:prstGeom>
          <a:solidFill>
            <a:srgbClr val="1E8A4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2"/>
          <p:cNvSpPr txBox="1"/>
          <p:nvPr/>
        </p:nvSpPr>
        <p:spPr>
          <a:xfrm>
            <a:off x="5852150" y="3517325"/>
            <a:ext cx="57606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3. Commander αναθέτει στον χαμηλότερο</a:t>
            </a:r>
            <a:r>
              <a:rPr lang="en-US" sz="2000">
                <a:solidFill>
                  <a:srgbClr val="FFFFFF"/>
                </a:solidFill>
                <a:latin typeface="Calibri"/>
                <a:ea typeface="Calibri"/>
                <a:cs typeface="Calibri"/>
                <a:sym typeface="Calibri"/>
              </a:rPr>
              <a:t>υ</a:t>
            </a:r>
            <a:r>
              <a:rPr b="0" i="0" lang="en-US" sz="2000" u="none" cap="none" strike="noStrike">
                <a:solidFill>
                  <a:srgbClr val="FFFFFF"/>
                </a:solidFill>
                <a:latin typeface="Calibri"/>
                <a:ea typeface="Calibri"/>
                <a:cs typeface="Calibri"/>
                <a:sym typeface="Calibri"/>
              </a:rPr>
              <a:t> κόστους</a:t>
            </a:r>
            <a:endParaRPr b="0" i="0" sz="2000" u="none" cap="none" strike="noStrike">
              <a:solidFill>
                <a:srgbClr val="FFFFFF"/>
              </a:solidFill>
              <a:latin typeface="Calibri"/>
              <a:ea typeface="Calibri"/>
              <a:cs typeface="Calibri"/>
              <a:sym typeface="Calibri"/>
            </a:endParaRPr>
          </a:p>
          <a:p>
            <a:pPr indent="0" lvl="0" marL="0" marR="0" rtl="0" algn="l">
              <a:spcBef>
                <a:spcPts val="0"/>
              </a:spcBef>
              <a:spcAft>
                <a:spcPts val="0"/>
              </a:spcAft>
              <a:buNone/>
            </a:pPr>
            <a:r>
              <a:rPr lang="en-US" sz="1300">
                <a:solidFill>
                  <a:srgbClr val="FFFFFF"/>
                </a:solidFill>
                <a:latin typeface="Calibri"/>
                <a:ea typeface="Calibri"/>
                <a:cs typeface="Calibri"/>
                <a:sym typeface="Calibri"/>
              </a:rPr>
              <a:t>Cost = (απόσταση/ταχύτητα) + (κίνδυνος_διαδρομής × α) + (100 − καύσιμο)</a:t>
            </a:r>
            <a:endParaRPr sz="1300">
              <a:solidFill>
                <a:srgbClr val="FFFFFF"/>
              </a:solidFill>
              <a:latin typeface="Calibri"/>
              <a:ea typeface="Calibri"/>
              <a:cs typeface="Calibri"/>
              <a:sym typeface="Calibri"/>
            </a:endParaRPr>
          </a:p>
        </p:txBody>
      </p:sp>
      <p:sp>
        <p:nvSpPr>
          <p:cNvPr id="296" name="Google Shape;296;p12"/>
          <p:cNvSpPr/>
          <p:nvPr/>
        </p:nvSpPr>
        <p:spPr>
          <a:xfrm>
            <a:off x="5715000" y="4288536"/>
            <a:ext cx="5852160" cy="704088"/>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12"/>
          <p:cNvSpPr txBox="1"/>
          <p:nvPr/>
        </p:nvSpPr>
        <p:spPr>
          <a:xfrm>
            <a:off x="5852160" y="4361688"/>
            <a:ext cx="5577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4. Υπόλοιποι λαμβάνουν REJECT_PROPOSAL</a:t>
            </a:r>
            <a:endParaRPr sz="2000"/>
          </a:p>
        </p:txBody>
      </p:sp>
      <p:sp>
        <p:nvSpPr>
          <p:cNvPr id="298" name="Google Shape;298;p12"/>
          <p:cNvSpPr/>
          <p:nvPr/>
        </p:nvSpPr>
        <p:spPr>
          <a:xfrm>
            <a:off x="5715000" y="5093208"/>
            <a:ext cx="5852160" cy="70408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12"/>
          <p:cNvSpPr txBox="1"/>
          <p:nvPr/>
        </p:nvSpPr>
        <p:spPr>
          <a:xfrm>
            <a:off x="5852160" y="5166360"/>
            <a:ext cx="5577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5. Νικητής στέλνει CONFIRM μετά την ολοκλήρωση</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3"/>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13"/>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3"/>
          <p:cNvSpPr txBox="1"/>
          <p:nvPr/>
        </p:nvSpPr>
        <p:spPr>
          <a:xfrm>
            <a:off x="164592" y="210502"/>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Φάσεις Εκκένωσης </a:t>
            </a:r>
            <a:endParaRPr sz="3500"/>
          </a:p>
        </p:txBody>
      </p:sp>
      <p:sp>
        <p:nvSpPr>
          <p:cNvPr id="308" name="Google Shape;308;p13"/>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13"/>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310" name="Google Shape;310;p13"/>
          <p:cNvSpPr/>
          <p:nvPr/>
        </p:nvSpPr>
        <p:spPr>
          <a:xfrm>
            <a:off x="411475" y="1234450"/>
            <a:ext cx="2651700" cy="3604500"/>
          </a:xfrm>
          <a:prstGeom prst="rect">
            <a:avLst/>
          </a:prstGeom>
          <a:solidFill>
            <a:srgbClr val="1A7A1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13"/>
          <p:cNvSpPr txBox="1"/>
          <p:nvPr/>
        </p:nvSpPr>
        <p:spPr>
          <a:xfrm>
            <a:off x="521208" y="1325880"/>
            <a:ext cx="2469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Φάση 0</a:t>
            </a:r>
            <a:endParaRPr sz="2200"/>
          </a:p>
        </p:txBody>
      </p:sp>
      <p:sp>
        <p:nvSpPr>
          <p:cNvPr id="312" name="Google Shape;312;p13"/>
          <p:cNvSpPr txBox="1"/>
          <p:nvPr/>
        </p:nvSpPr>
        <p:spPr>
          <a:xfrm>
            <a:off x="521208" y="1772571"/>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Παρακολούθηση</a:t>
            </a:r>
            <a:endParaRPr sz="2000"/>
          </a:p>
        </p:txBody>
      </p:sp>
      <p:sp>
        <p:nvSpPr>
          <p:cNvPr id="313" name="Google Shape;313;p13"/>
          <p:cNvSpPr/>
          <p:nvPr/>
        </p:nvSpPr>
        <p:spPr>
          <a:xfrm>
            <a:off x="502920" y="2258568"/>
            <a:ext cx="246888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13"/>
          <p:cNvSpPr txBox="1"/>
          <p:nvPr/>
        </p:nvSpPr>
        <p:spPr>
          <a:xfrm>
            <a:off x="521208" y="2350008"/>
            <a:ext cx="24690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500" u="none" cap="none" strike="noStrike">
                <a:solidFill>
                  <a:srgbClr val="FFEECC"/>
                </a:solidFill>
                <a:latin typeface="Calibri"/>
                <a:ea typeface="Calibri"/>
                <a:cs typeface="Calibri"/>
                <a:sym typeface="Calibri"/>
              </a:rPr>
              <a:t>TTI &gt; 2.5 × ECT</a:t>
            </a:r>
            <a:endParaRPr sz="2500"/>
          </a:p>
        </p:txBody>
      </p:sp>
      <p:sp>
        <p:nvSpPr>
          <p:cNvPr id="315" name="Google Shape;315;p13"/>
          <p:cNvSpPr txBox="1"/>
          <p:nvPr/>
        </p:nvSpPr>
        <p:spPr>
          <a:xfrm>
            <a:off x="235769" y="3000988"/>
            <a:ext cx="2847300" cy="1939500"/>
          </a:xfrm>
          <a:prstGeom prst="rect">
            <a:avLst/>
          </a:prstGeom>
          <a:noFill/>
          <a:ln>
            <a:noFill/>
          </a:ln>
        </p:spPr>
        <p:txBody>
          <a:bodyPr anchorCtr="0" anchor="t" bIns="45700" lIns="91425" spcFirstLastPara="1" rIns="91425" wrap="square" tIns="45700">
            <a:spAutoFit/>
          </a:bodyPr>
          <a:lstStyle/>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Αναμονή </a:t>
            </a:r>
            <a:endParaRPr sz="1500">
              <a:solidFill>
                <a:srgbClr val="FFFFFF"/>
              </a:solidFill>
              <a:latin typeface="Calibri"/>
              <a:ea typeface="Calibri"/>
              <a:cs typeface="Calibri"/>
              <a:sym typeface="Calibri"/>
            </a:endParaRPr>
          </a:p>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FWI ≥ 30 →  προειδοποίηση  πολιτών για  ενδεχόμενο κίνδυνο</a:t>
            </a:r>
            <a:endParaRPr sz="1500">
              <a:solidFill>
                <a:srgbClr val="FFFFFF"/>
              </a:solidFill>
              <a:latin typeface="Calibri"/>
              <a:ea typeface="Calibri"/>
              <a:cs typeface="Calibri"/>
              <a:sym typeface="Calibri"/>
            </a:endParaRPr>
          </a:p>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FWI ≥ 50 → άμεση  ειδοποίηση πολιτών  για εξεύρεση εξόδων</a:t>
            </a:r>
            <a:endParaRPr sz="15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500">
              <a:solidFill>
                <a:srgbClr val="FFFFFF"/>
              </a:solidFill>
              <a:latin typeface="Calibri"/>
              <a:ea typeface="Calibri"/>
              <a:cs typeface="Calibri"/>
              <a:sym typeface="Calibri"/>
            </a:endParaRPr>
          </a:p>
        </p:txBody>
      </p:sp>
      <p:sp>
        <p:nvSpPr>
          <p:cNvPr id="316" name="Google Shape;316;p13"/>
          <p:cNvSpPr/>
          <p:nvPr/>
        </p:nvSpPr>
        <p:spPr>
          <a:xfrm>
            <a:off x="3291850" y="1234450"/>
            <a:ext cx="2651700" cy="3604500"/>
          </a:xfrm>
          <a:prstGeom prst="rect">
            <a:avLst/>
          </a:prstGeom>
          <a:solidFill>
            <a:srgbClr val="CC8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13"/>
          <p:cNvSpPr txBox="1"/>
          <p:nvPr/>
        </p:nvSpPr>
        <p:spPr>
          <a:xfrm>
            <a:off x="3401568" y="1325880"/>
            <a:ext cx="2469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Φάση 1</a:t>
            </a:r>
            <a:endParaRPr sz="2200"/>
          </a:p>
        </p:txBody>
      </p:sp>
      <p:sp>
        <p:nvSpPr>
          <p:cNvPr id="318" name="Google Shape;318;p13"/>
          <p:cNvSpPr txBox="1"/>
          <p:nvPr/>
        </p:nvSpPr>
        <p:spPr>
          <a:xfrm>
            <a:off x="3381724" y="1752727"/>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Προ-ειδοποίηση</a:t>
            </a:r>
            <a:endParaRPr sz="2000"/>
          </a:p>
        </p:txBody>
      </p:sp>
      <p:sp>
        <p:nvSpPr>
          <p:cNvPr id="319" name="Google Shape;319;p13"/>
          <p:cNvSpPr/>
          <p:nvPr/>
        </p:nvSpPr>
        <p:spPr>
          <a:xfrm>
            <a:off x="3383280" y="2258568"/>
            <a:ext cx="246888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13"/>
          <p:cNvSpPr txBox="1"/>
          <p:nvPr/>
        </p:nvSpPr>
        <p:spPr>
          <a:xfrm>
            <a:off x="3401568" y="2350008"/>
            <a:ext cx="2469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FFEECC"/>
                </a:solidFill>
                <a:latin typeface="Calibri"/>
                <a:ea typeface="Calibri"/>
                <a:cs typeface="Calibri"/>
                <a:sym typeface="Calibri"/>
              </a:rPr>
              <a:t>1.5×ECT &lt; TTI ≤ 2.5×ECT</a:t>
            </a:r>
            <a:endParaRPr sz="1800"/>
          </a:p>
        </p:txBody>
      </p:sp>
      <p:sp>
        <p:nvSpPr>
          <p:cNvPr id="321" name="Google Shape;321;p13"/>
          <p:cNvSpPr txBox="1"/>
          <p:nvPr/>
        </p:nvSpPr>
        <p:spPr>
          <a:xfrm>
            <a:off x="3128044" y="2987213"/>
            <a:ext cx="2847300" cy="1477500"/>
          </a:xfrm>
          <a:prstGeom prst="rect">
            <a:avLst/>
          </a:prstGeom>
          <a:noFill/>
          <a:ln>
            <a:noFill/>
          </a:ln>
        </p:spPr>
        <p:txBody>
          <a:bodyPr anchorCtr="0" anchor="t" bIns="45700" lIns="91425" spcFirstLastPara="1" rIns="91425" wrap="square" tIns="45700">
            <a:spAutoFit/>
          </a:bodyPr>
          <a:lstStyle/>
          <a:p>
            <a:pPr indent="-323850" lvl="0" marL="457200" marR="0" rtl="0" algn="l">
              <a:spcBef>
                <a:spcPts val="0"/>
              </a:spcBef>
              <a:spcAft>
                <a:spcPts val="0"/>
              </a:spcAft>
              <a:buClr>
                <a:srgbClr val="FFFFFF"/>
              </a:buClr>
              <a:buSzPts val="1500"/>
              <a:buFont typeface="Calibri"/>
              <a:buChar char="●"/>
            </a:pPr>
            <a:r>
              <a:rPr i="0" lang="en-US" sz="1500" u="none" cap="none" strike="noStrike">
                <a:solidFill>
                  <a:srgbClr val="FFFFFF"/>
                </a:solidFill>
                <a:latin typeface="Calibri"/>
                <a:ea typeface="Calibri"/>
                <a:cs typeface="Calibri"/>
                <a:sym typeface="Calibri"/>
              </a:rPr>
              <a:t>Μηνύματα WARNING στους </a:t>
            </a:r>
            <a:r>
              <a:rPr lang="en-US" sz="1500">
                <a:solidFill>
                  <a:srgbClr val="FFFFFF"/>
                </a:solidFill>
                <a:latin typeface="Calibri"/>
                <a:ea typeface="Calibri"/>
                <a:cs typeface="Calibri"/>
                <a:sym typeface="Calibri"/>
              </a:rPr>
              <a:t>πολίτες</a:t>
            </a:r>
            <a:endParaRPr sz="1500">
              <a:solidFill>
                <a:srgbClr val="FFFFFF"/>
              </a:solidFill>
              <a:latin typeface="Calibri"/>
              <a:ea typeface="Calibri"/>
              <a:cs typeface="Calibri"/>
              <a:sym typeface="Calibri"/>
            </a:endParaRPr>
          </a:p>
          <a:p>
            <a:pPr indent="-323850" lvl="0" marL="457200" marR="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Αποστολή πυροσβεστών μέσω CNP (CFP → προσφορές → ανάθεση αποστολής)</a:t>
            </a:r>
            <a:endParaRPr sz="1500">
              <a:latin typeface="Calibri"/>
              <a:ea typeface="Calibri"/>
              <a:cs typeface="Calibri"/>
              <a:sym typeface="Calibri"/>
            </a:endParaRPr>
          </a:p>
        </p:txBody>
      </p:sp>
      <p:sp>
        <p:nvSpPr>
          <p:cNvPr id="322" name="Google Shape;322;p13"/>
          <p:cNvSpPr/>
          <p:nvPr/>
        </p:nvSpPr>
        <p:spPr>
          <a:xfrm>
            <a:off x="6172200" y="1234450"/>
            <a:ext cx="2651700" cy="36045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3" name="Google Shape;323;p13"/>
          <p:cNvSpPr txBox="1"/>
          <p:nvPr/>
        </p:nvSpPr>
        <p:spPr>
          <a:xfrm>
            <a:off x="6281928" y="1325880"/>
            <a:ext cx="2469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Φάση 2</a:t>
            </a:r>
            <a:endParaRPr sz="2200"/>
          </a:p>
        </p:txBody>
      </p:sp>
      <p:sp>
        <p:nvSpPr>
          <p:cNvPr id="324" name="Google Shape;324;p13"/>
          <p:cNvSpPr txBox="1"/>
          <p:nvPr/>
        </p:nvSpPr>
        <p:spPr>
          <a:xfrm>
            <a:off x="6281928" y="1772571"/>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Μαζική Εκκένωση</a:t>
            </a:r>
            <a:endParaRPr sz="2000"/>
          </a:p>
        </p:txBody>
      </p:sp>
      <p:sp>
        <p:nvSpPr>
          <p:cNvPr id="325" name="Google Shape;325;p13"/>
          <p:cNvSpPr/>
          <p:nvPr/>
        </p:nvSpPr>
        <p:spPr>
          <a:xfrm>
            <a:off x="6263640" y="2258568"/>
            <a:ext cx="246888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13"/>
          <p:cNvSpPr txBox="1"/>
          <p:nvPr/>
        </p:nvSpPr>
        <p:spPr>
          <a:xfrm>
            <a:off x="6281928" y="2350008"/>
            <a:ext cx="2469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FFEECC"/>
                </a:solidFill>
                <a:latin typeface="Calibri"/>
                <a:ea typeface="Calibri"/>
                <a:cs typeface="Calibri"/>
                <a:sym typeface="Calibri"/>
              </a:rPr>
              <a:t>ECT &lt; TTI ≤ 1.5×ECT</a:t>
            </a:r>
            <a:endParaRPr sz="1800"/>
          </a:p>
        </p:txBody>
      </p:sp>
      <p:sp>
        <p:nvSpPr>
          <p:cNvPr id="327" name="Google Shape;327;p13"/>
          <p:cNvSpPr txBox="1"/>
          <p:nvPr/>
        </p:nvSpPr>
        <p:spPr>
          <a:xfrm>
            <a:off x="6015038" y="2945919"/>
            <a:ext cx="2934300" cy="1939500"/>
          </a:xfrm>
          <a:prstGeom prst="rect">
            <a:avLst/>
          </a:prstGeom>
          <a:noFill/>
          <a:ln>
            <a:noFill/>
          </a:ln>
        </p:spPr>
        <p:txBody>
          <a:bodyPr anchorCtr="0" anchor="t" bIns="45700" lIns="91425" spcFirstLastPara="1" rIns="91425" wrap="square" tIns="45700">
            <a:spAutoFit/>
          </a:bodyPr>
          <a:lstStyle/>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Εκπέμπεται EVACUATE REQUEST </a:t>
            </a:r>
            <a:endParaRPr sz="1500">
              <a:solidFill>
                <a:srgbClr val="FFFFFF"/>
              </a:solidFill>
              <a:latin typeface="Calibri"/>
              <a:ea typeface="Calibri"/>
              <a:cs typeface="Calibri"/>
              <a:sym typeface="Calibri"/>
            </a:endParaRPr>
          </a:p>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Αποστολή όλων των μονάδων μέσω CNP (Διασώστες, Ασθενοφόρα, Πυροσβέστες → συνεχίζεται από Φάση 1)</a:t>
            </a:r>
            <a:endParaRPr sz="15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500">
              <a:solidFill>
                <a:srgbClr val="FFFFFF"/>
              </a:solidFill>
              <a:latin typeface="Calibri"/>
              <a:ea typeface="Calibri"/>
              <a:cs typeface="Calibri"/>
              <a:sym typeface="Calibri"/>
            </a:endParaRPr>
          </a:p>
        </p:txBody>
      </p:sp>
      <p:sp>
        <p:nvSpPr>
          <p:cNvPr id="328" name="Google Shape;328;p13"/>
          <p:cNvSpPr/>
          <p:nvPr/>
        </p:nvSpPr>
        <p:spPr>
          <a:xfrm>
            <a:off x="9052550" y="1234450"/>
            <a:ext cx="2651700" cy="360450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13"/>
          <p:cNvSpPr txBox="1"/>
          <p:nvPr/>
        </p:nvSpPr>
        <p:spPr>
          <a:xfrm>
            <a:off x="9162288" y="1325880"/>
            <a:ext cx="2469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Φάση 3</a:t>
            </a:r>
            <a:endParaRPr sz="2200"/>
          </a:p>
        </p:txBody>
      </p:sp>
      <p:sp>
        <p:nvSpPr>
          <p:cNvPr id="330" name="Google Shape;330;p13"/>
          <p:cNvSpPr txBox="1"/>
          <p:nvPr/>
        </p:nvSpPr>
        <p:spPr>
          <a:xfrm>
            <a:off x="9162300" y="1752725"/>
            <a:ext cx="2469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Καταφύγιο</a:t>
            </a:r>
            <a:endParaRPr sz="2000"/>
          </a:p>
        </p:txBody>
      </p:sp>
      <p:sp>
        <p:nvSpPr>
          <p:cNvPr id="331" name="Google Shape;331;p13"/>
          <p:cNvSpPr/>
          <p:nvPr/>
        </p:nvSpPr>
        <p:spPr>
          <a:xfrm>
            <a:off x="9144000" y="2258568"/>
            <a:ext cx="2468880" cy="3657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13"/>
          <p:cNvSpPr txBox="1"/>
          <p:nvPr/>
        </p:nvSpPr>
        <p:spPr>
          <a:xfrm>
            <a:off x="9162288" y="2350008"/>
            <a:ext cx="2469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FFEECC"/>
                </a:solidFill>
                <a:latin typeface="Calibri"/>
                <a:ea typeface="Calibri"/>
                <a:cs typeface="Calibri"/>
                <a:sym typeface="Calibri"/>
              </a:rPr>
              <a:t>TTI ≤ ECT</a:t>
            </a:r>
            <a:endParaRPr sz="1800"/>
          </a:p>
        </p:txBody>
      </p:sp>
      <p:sp>
        <p:nvSpPr>
          <p:cNvPr id="333" name="Google Shape;333;p13"/>
          <p:cNvSpPr txBox="1"/>
          <p:nvPr/>
        </p:nvSpPr>
        <p:spPr>
          <a:xfrm>
            <a:off x="8863375" y="2886400"/>
            <a:ext cx="2934300" cy="1939500"/>
          </a:xfrm>
          <a:prstGeom prst="rect">
            <a:avLst/>
          </a:prstGeom>
          <a:noFill/>
          <a:ln>
            <a:noFill/>
          </a:ln>
        </p:spPr>
        <p:txBody>
          <a:bodyPr anchorCtr="0" anchor="t" bIns="45700" lIns="91425" spcFirstLastPara="1" rIns="91425" wrap="square" tIns="45700">
            <a:spAutoFit/>
          </a:bodyPr>
          <a:lstStyle/>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Αργά για εκκένωση,  η φωτιά θα φτάσει πριν ολοκληρωθεί</a:t>
            </a:r>
            <a:endParaRPr sz="1500">
              <a:solidFill>
                <a:srgbClr val="FFFFFF"/>
              </a:solidFill>
              <a:latin typeface="Calibri"/>
              <a:ea typeface="Calibri"/>
              <a:cs typeface="Calibri"/>
              <a:sym typeface="Calibri"/>
            </a:endParaRPr>
          </a:p>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Εκπέμπεται REDIRECT_TO_SAFE_ZONE</a:t>
            </a:r>
            <a:endParaRPr sz="1500">
              <a:solidFill>
                <a:srgbClr val="FFFFFF"/>
              </a:solidFill>
              <a:latin typeface="Calibri"/>
              <a:ea typeface="Calibri"/>
              <a:cs typeface="Calibri"/>
              <a:sym typeface="Calibri"/>
            </a:endParaRPr>
          </a:p>
          <a:p>
            <a:pPr indent="-323850" lvl="0" marL="457200" rtl="0" algn="l">
              <a:spcBef>
                <a:spcPts val="0"/>
              </a:spcBef>
              <a:spcAft>
                <a:spcPts val="0"/>
              </a:spcAft>
              <a:buClr>
                <a:srgbClr val="FFFFFF"/>
              </a:buClr>
              <a:buSzPts val="1500"/>
              <a:buFont typeface="Calibri"/>
              <a:buChar char="●"/>
            </a:pPr>
            <a:r>
              <a:rPr lang="en-US" sz="1500">
                <a:solidFill>
                  <a:srgbClr val="FFFFFF"/>
                </a:solidFill>
                <a:latin typeface="Calibri"/>
                <a:ea typeface="Calibri"/>
                <a:cs typeface="Calibri"/>
                <a:sym typeface="Calibri"/>
              </a:rPr>
              <a:t>Μόνο τα ασθενοφόρα συνεχίζουν να αποστέλλονται (διασώστες &amp; πυροσβέστες σταματούν)</a:t>
            </a:r>
            <a:endParaRPr sz="1500">
              <a:solidFill>
                <a:srgbClr val="FFFFFF"/>
              </a:solidFill>
              <a:latin typeface="Calibri"/>
              <a:ea typeface="Calibri"/>
              <a:cs typeface="Calibri"/>
              <a:sym typeface="Calibri"/>
            </a:endParaRPr>
          </a:p>
        </p:txBody>
      </p:sp>
      <p:sp>
        <p:nvSpPr>
          <p:cNvPr id="334" name="Google Shape;334;p13"/>
          <p:cNvSpPr txBox="1"/>
          <p:nvPr/>
        </p:nvSpPr>
        <p:spPr>
          <a:xfrm>
            <a:off x="411475" y="4991200"/>
            <a:ext cx="5606400" cy="1416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253F6A"/>
                </a:solidFill>
                <a:latin typeface="Calibri"/>
                <a:ea typeface="Calibri"/>
                <a:cs typeface="Calibri"/>
                <a:sym typeface="Calibri"/>
              </a:rPr>
              <a:t>TTI </a:t>
            </a:r>
            <a:r>
              <a:rPr lang="en-US" sz="2000">
                <a:solidFill>
                  <a:srgbClr val="253F6A"/>
                </a:solidFill>
                <a:latin typeface="Calibri"/>
                <a:ea typeface="Calibri"/>
                <a:cs typeface="Calibri"/>
                <a:sym typeface="Calibri"/>
              </a:rPr>
              <a:t>(Time To Impact) : Πόσος χρόνος απομένει μέχρι η φωτιά να φτάσει τον πληθυσμό.</a:t>
            </a:r>
            <a:br>
              <a:rPr lang="en-US" sz="2000">
                <a:solidFill>
                  <a:srgbClr val="253F6A"/>
                </a:solidFill>
                <a:latin typeface="Calibri"/>
                <a:ea typeface="Calibri"/>
                <a:cs typeface="Calibri"/>
                <a:sym typeface="Calibri"/>
              </a:rPr>
            </a:br>
            <a:endParaRPr sz="2000">
              <a:solidFill>
                <a:srgbClr val="253F6A"/>
              </a:solidFill>
              <a:latin typeface="Calibri"/>
              <a:ea typeface="Calibri"/>
              <a:cs typeface="Calibri"/>
              <a:sym typeface="Calibri"/>
            </a:endParaRPr>
          </a:p>
          <a:p>
            <a:pPr indent="0" lvl="0" marL="0" rtl="0" algn="l">
              <a:spcBef>
                <a:spcPts val="0"/>
              </a:spcBef>
              <a:spcAft>
                <a:spcPts val="0"/>
              </a:spcAft>
              <a:buNone/>
            </a:pPr>
            <a:r>
              <a:rPr b="1" lang="en-US" sz="2000">
                <a:solidFill>
                  <a:srgbClr val="253F6A"/>
                </a:solidFill>
                <a:latin typeface="Calibri"/>
                <a:ea typeface="Calibri"/>
                <a:cs typeface="Calibri"/>
                <a:sym typeface="Calibri"/>
              </a:rPr>
              <a:t>TTI = απόσταση_από_φωτιά / ROS</a:t>
            </a:r>
            <a:endParaRPr sz="2000">
              <a:solidFill>
                <a:srgbClr val="253F6A"/>
              </a:solidFill>
              <a:latin typeface="Calibri"/>
              <a:ea typeface="Calibri"/>
              <a:cs typeface="Calibri"/>
              <a:sym typeface="Calibri"/>
            </a:endParaRPr>
          </a:p>
        </p:txBody>
      </p:sp>
      <p:sp>
        <p:nvSpPr>
          <p:cNvPr id="335" name="Google Shape;335;p13"/>
          <p:cNvSpPr txBox="1"/>
          <p:nvPr/>
        </p:nvSpPr>
        <p:spPr>
          <a:xfrm>
            <a:off x="6281925" y="4921256"/>
            <a:ext cx="5706000" cy="1569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253F6A"/>
                </a:solidFill>
              </a:rPr>
              <a:t>ECT</a:t>
            </a:r>
            <a:r>
              <a:rPr lang="en-US" sz="1800">
                <a:solidFill>
                  <a:srgbClr val="253F6A"/>
                </a:solidFill>
              </a:rPr>
              <a:t> (Evacuation Clearance Time) :  Πόσος χρόνος χρειάζεται για να εκκενωθεί η περιοχή.</a:t>
            </a:r>
            <a:br>
              <a:rPr lang="en-US" sz="1800">
                <a:solidFill>
                  <a:srgbClr val="253F6A"/>
                </a:solidFill>
              </a:rPr>
            </a:br>
            <a:endParaRPr sz="1800">
              <a:solidFill>
                <a:srgbClr val="253F6A"/>
              </a:solidFill>
            </a:endParaRPr>
          </a:p>
          <a:p>
            <a:pPr indent="0" lvl="0" marL="0" rtl="0" algn="l">
              <a:spcBef>
                <a:spcPts val="0"/>
              </a:spcBef>
              <a:spcAft>
                <a:spcPts val="0"/>
              </a:spcAft>
              <a:buNone/>
            </a:pPr>
            <a:r>
              <a:rPr b="1" lang="en-US" sz="1800">
                <a:solidFill>
                  <a:srgbClr val="253F6A"/>
                </a:solidFill>
              </a:rPr>
              <a:t> ECT = (αριθμός_πολιτών / χωρητικότητα_εξόδων) × συντελεστής_συμφόρησης</a:t>
            </a:r>
            <a:endParaRPr sz="1800">
              <a:solidFill>
                <a:srgbClr val="253F6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4"/>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14"/>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14"/>
          <p:cNvSpPr txBox="1"/>
          <p:nvPr/>
        </p:nvSpPr>
        <p:spPr>
          <a:xfrm>
            <a:off x="164592" y="190659"/>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Μοντέλο Συμπεριφοράς </a:t>
            </a:r>
            <a:r>
              <a:rPr b="1" lang="en-US" sz="3500">
                <a:solidFill>
                  <a:srgbClr val="FFFFFF"/>
                </a:solidFill>
                <a:latin typeface="Calibri"/>
                <a:ea typeface="Calibri"/>
                <a:cs typeface="Calibri"/>
                <a:sym typeface="Calibri"/>
              </a:rPr>
              <a:t>Πολιτών</a:t>
            </a:r>
            <a:endParaRPr sz="3500"/>
          </a:p>
        </p:txBody>
      </p:sp>
      <p:sp>
        <p:nvSpPr>
          <p:cNvPr id="344" name="Google Shape;344;p14"/>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14"/>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346" name="Google Shape;346;p14"/>
          <p:cNvSpPr/>
          <p:nvPr/>
        </p:nvSpPr>
        <p:spPr>
          <a:xfrm>
            <a:off x="365760" y="1188720"/>
            <a:ext cx="4937760" cy="493776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14"/>
          <p:cNvSpPr txBox="1"/>
          <p:nvPr/>
        </p:nvSpPr>
        <p:spPr>
          <a:xfrm>
            <a:off x="706902" y="1298448"/>
            <a:ext cx="4572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D46A17"/>
                </a:solidFill>
                <a:latin typeface="Calibri"/>
                <a:ea typeface="Calibri"/>
                <a:cs typeface="Calibri"/>
                <a:sym typeface="Calibri"/>
              </a:rPr>
              <a:t>Επίπεδα Πανικού &amp; Συμπεριφορά</a:t>
            </a:r>
            <a:endParaRPr sz="1900"/>
          </a:p>
        </p:txBody>
      </p:sp>
      <p:sp>
        <p:nvSpPr>
          <p:cNvPr id="348" name="Google Shape;348;p14"/>
          <p:cNvSpPr/>
          <p:nvPr/>
        </p:nvSpPr>
        <p:spPr>
          <a:xfrm>
            <a:off x="502920" y="1874519"/>
            <a:ext cx="4663440" cy="1234440"/>
          </a:xfrm>
          <a:prstGeom prst="rect">
            <a:avLst/>
          </a:prstGeom>
          <a:solidFill>
            <a:srgbClr val="1E8A4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14"/>
          <p:cNvSpPr txBox="1"/>
          <p:nvPr/>
        </p:nvSpPr>
        <p:spPr>
          <a:xfrm>
            <a:off x="640080" y="1938527"/>
            <a:ext cx="20118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ΛΟΓΙΚΟΣ</a:t>
            </a:r>
            <a:endParaRPr sz="2000"/>
          </a:p>
        </p:txBody>
      </p:sp>
      <p:sp>
        <p:nvSpPr>
          <p:cNvPr id="350" name="Google Shape;350;p14"/>
          <p:cNvSpPr txBox="1"/>
          <p:nvPr/>
        </p:nvSpPr>
        <p:spPr>
          <a:xfrm>
            <a:off x="640080" y="2468879"/>
            <a:ext cx="2011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FFEECC"/>
                </a:solidFill>
                <a:latin typeface="Calibri"/>
                <a:ea typeface="Calibri"/>
                <a:cs typeface="Calibri"/>
                <a:sym typeface="Calibri"/>
              </a:rPr>
              <a:t>πανικός &lt; 0.4</a:t>
            </a:r>
            <a:endParaRPr sz="1700"/>
          </a:p>
        </p:txBody>
      </p:sp>
      <p:sp>
        <p:nvSpPr>
          <p:cNvPr id="351" name="Google Shape;351;p14"/>
          <p:cNvSpPr txBox="1"/>
          <p:nvPr/>
        </p:nvSpPr>
        <p:spPr>
          <a:xfrm>
            <a:off x="2651760" y="2214957"/>
            <a:ext cx="23775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900" u="none" cap="none" strike="noStrike">
                <a:solidFill>
                  <a:srgbClr val="FFFFFF"/>
                </a:solidFill>
                <a:latin typeface="Calibri"/>
                <a:ea typeface="Calibri"/>
                <a:cs typeface="Calibri"/>
                <a:sym typeface="Calibri"/>
              </a:rPr>
              <a:t>Βέλτιστη διαδρομή A*</a:t>
            </a:r>
            <a:br>
              <a:rPr i="0" lang="en-US" sz="1900" u="none" cap="none" strike="noStrike">
                <a:solidFill>
                  <a:srgbClr val="FFFFFF"/>
                </a:solidFill>
                <a:latin typeface="Calibri"/>
                <a:ea typeface="Calibri"/>
                <a:cs typeface="Calibri"/>
                <a:sym typeface="Calibri"/>
              </a:rPr>
            </a:br>
            <a:r>
              <a:rPr i="0" lang="en-US" sz="1900" u="none" cap="none" strike="noStrike">
                <a:solidFill>
                  <a:srgbClr val="FFFFFF"/>
                </a:solidFill>
                <a:latin typeface="Calibri"/>
                <a:ea typeface="Calibri"/>
                <a:cs typeface="Calibri"/>
                <a:sym typeface="Calibri"/>
              </a:rPr>
              <a:t>Πλήρης ταχύτητα</a:t>
            </a:r>
            <a:endParaRPr sz="2000">
              <a:latin typeface="Calibri"/>
              <a:ea typeface="Calibri"/>
              <a:cs typeface="Calibri"/>
              <a:sym typeface="Calibri"/>
            </a:endParaRPr>
          </a:p>
        </p:txBody>
      </p:sp>
      <p:sp>
        <p:nvSpPr>
          <p:cNvPr id="352" name="Google Shape;352;p14"/>
          <p:cNvSpPr/>
          <p:nvPr/>
        </p:nvSpPr>
        <p:spPr>
          <a:xfrm>
            <a:off x="502920" y="3246120"/>
            <a:ext cx="4663440" cy="1234440"/>
          </a:xfrm>
          <a:prstGeom prst="rect">
            <a:avLst/>
          </a:prstGeom>
          <a:solidFill>
            <a:srgbClr val="CC8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14"/>
          <p:cNvSpPr txBox="1"/>
          <p:nvPr/>
        </p:nvSpPr>
        <p:spPr>
          <a:xfrm>
            <a:off x="640080" y="3310128"/>
            <a:ext cx="20118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FFFF"/>
                </a:solidFill>
                <a:latin typeface="Calibri"/>
                <a:ea typeface="Calibri"/>
                <a:cs typeface="Calibri"/>
                <a:sym typeface="Calibri"/>
              </a:rPr>
              <a:t>ΣΥΓΧΥΣΜΈΝΟΣ</a:t>
            </a:r>
            <a:endParaRPr sz="2000"/>
          </a:p>
        </p:txBody>
      </p:sp>
      <p:sp>
        <p:nvSpPr>
          <p:cNvPr id="354" name="Google Shape;354;p14"/>
          <p:cNvSpPr txBox="1"/>
          <p:nvPr/>
        </p:nvSpPr>
        <p:spPr>
          <a:xfrm>
            <a:off x="640080" y="3840480"/>
            <a:ext cx="2011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FFEECC"/>
                </a:solidFill>
                <a:latin typeface="Calibri"/>
                <a:ea typeface="Calibri"/>
                <a:cs typeface="Calibri"/>
                <a:sym typeface="Calibri"/>
              </a:rPr>
              <a:t>0.4 &lt; </a:t>
            </a:r>
            <a:r>
              <a:rPr lang="en-US" sz="1600">
                <a:solidFill>
                  <a:srgbClr val="FFEECC"/>
                </a:solidFill>
                <a:latin typeface="Calibri"/>
                <a:ea typeface="Calibri"/>
                <a:cs typeface="Calibri"/>
                <a:sym typeface="Calibri"/>
              </a:rPr>
              <a:t>πανικός</a:t>
            </a:r>
            <a:r>
              <a:rPr b="0" i="0" lang="en-US" sz="1600" u="none" cap="none" strike="noStrike">
                <a:solidFill>
                  <a:srgbClr val="FFEECC"/>
                </a:solidFill>
                <a:latin typeface="Calibri"/>
                <a:ea typeface="Calibri"/>
                <a:cs typeface="Calibri"/>
                <a:sym typeface="Calibri"/>
              </a:rPr>
              <a:t> &lt; 0.7</a:t>
            </a:r>
            <a:endParaRPr sz="1600"/>
          </a:p>
        </p:txBody>
      </p:sp>
      <p:sp>
        <p:nvSpPr>
          <p:cNvPr id="355" name="Google Shape;355;p14"/>
          <p:cNvSpPr txBox="1"/>
          <p:nvPr/>
        </p:nvSpPr>
        <p:spPr>
          <a:xfrm>
            <a:off x="2651760" y="3604143"/>
            <a:ext cx="23775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Διαδρομή A*</a:t>
            </a:r>
            <a:br>
              <a:rPr b="0" i="0" lang="en-US" sz="1800" u="none" cap="none" strike="noStrike">
                <a:solidFill>
                  <a:srgbClr val="FFFFFF"/>
                </a:solidFill>
                <a:latin typeface="Calibri"/>
                <a:ea typeface="Calibri"/>
                <a:cs typeface="Calibri"/>
                <a:sym typeface="Calibri"/>
              </a:rPr>
            </a:br>
            <a:r>
              <a:rPr b="0" i="0" lang="en-US" sz="1800" u="none" cap="none" strike="noStrike">
                <a:solidFill>
                  <a:srgbClr val="FFFFFF"/>
                </a:solidFill>
                <a:latin typeface="Calibri"/>
                <a:ea typeface="Calibri"/>
                <a:cs typeface="Calibri"/>
                <a:sym typeface="Calibri"/>
              </a:rPr>
              <a:t>50% ταχύτητας</a:t>
            </a:r>
            <a:endParaRPr sz="1800"/>
          </a:p>
        </p:txBody>
      </p:sp>
      <p:sp>
        <p:nvSpPr>
          <p:cNvPr id="356" name="Google Shape;356;p14"/>
          <p:cNvSpPr/>
          <p:nvPr/>
        </p:nvSpPr>
        <p:spPr>
          <a:xfrm>
            <a:off x="502920" y="4617720"/>
            <a:ext cx="4663440" cy="123444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7" name="Google Shape;357;p14"/>
          <p:cNvSpPr txBox="1"/>
          <p:nvPr/>
        </p:nvSpPr>
        <p:spPr>
          <a:xfrm>
            <a:off x="640075" y="4681725"/>
            <a:ext cx="33201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FFFF"/>
                </a:solidFill>
                <a:latin typeface="Calibri"/>
                <a:ea typeface="Calibri"/>
                <a:cs typeface="Calibri"/>
                <a:sym typeface="Calibri"/>
              </a:rPr>
              <a:t>ΣΥΜΠΕΡΙΦΟΡΑ ΑΓΕΛΗΣ</a:t>
            </a:r>
            <a:endParaRPr sz="2000"/>
          </a:p>
        </p:txBody>
      </p:sp>
      <p:sp>
        <p:nvSpPr>
          <p:cNvPr id="358" name="Google Shape;358;p14"/>
          <p:cNvSpPr txBox="1"/>
          <p:nvPr/>
        </p:nvSpPr>
        <p:spPr>
          <a:xfrm>
            <a:off x="640080" y="5212080"/>
            <a:ext cx="2011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FFEECC"/>
                </a:solidFill>
                <a:latin typeface="Calibri"/>
                <a:ea typeface="Calibri"/>
                <a:cs typeface="Calibri"/>
                <a:sym typeface="Calibri"/>
              </a:rPr>
              <a:t>πανικός &gt; 0.7</a:t>
            </a:r>
            <a:endParaRPr sz="1600"/>
          </a:p>
        </p:txBody>
      </p:sp>
      <p:sp>
        <p:nvSpPr>
          <p:cNvPr id="359" name="Google Shape;359;p14"/>
          <p:cNvSpPr txBox="1"/>
          <p:nvPr/>
        </p:nvSpPr>
        <p:spPr>
          <a:xfrm>
            <a:off x="2651760" y="5134004"/>
            <a:ext cx="23775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900" u="none" cap="none" strike="noStrike">
                <a:solidFill>
                  <a:srgbClr val="FFFFFF"/>
                </a:solidFill>
                <a:latin typeface="Calibri"/>
                <a:ea typeface="Calibri"/>
                <a:cs typeface="Calibri"/>
                <a:sym typeface="Calibri"/>
              </a:rPr>
              <a:t>Ακολουθεί το πλήθος</a:t>
            </a:r>
            <a:endParaRPr sz="1900"/>
          </a:p>
        </p:txBody>
      </p:sp>
      <p:sp>
        <p:nvSpPr>
          <p:cNvPr id="360" name="Google Shape;360;p14"/>
          <p:cNvSpPr/>
          <p:nvPr/>
        </p:nvSpPr>
        <p:spPr>
          <a:xfrm>
            <a:off x="5486400" y="1188720"/>
            <a:ext cx="6309360" cy="4937760"/>
          </a:xfrm>
          <a:prstGeom prst="rect">
            <a:avLst/>
          </a:prstGeom>
          <a:solidFill>
            <a:srgbClr val="F0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14"/>
          <p:cNvSpPr txBox="1"/>
          <p:nvPr/>
        </p:nvSpPr>
        <p:spPr>
          <a:xfrm>
            <a:off x="6298602" y="1298450"/>
            <a:ext cx="46635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1A2A4A"/>
                </a:solidFill>
                <a:latin typeface="Calibri"/>
                <a:ea typeface="Calibri"/>
                <a:cs typeface="Calibri"/>
                <a:sym typeface="Calibri"/>
              </a:rPr>
              <a:t>Φυσικοί Μηχανισμοί Προσομοίωσης</a:t>
            </a:r>
            <a:endParaRPr sz="2000"/>
          </a:p>
        </p:txBody>
      </p:sp>
      <p:sp>
        <p:nvSpPr>
          <p:cNvPr id="362" name="Google Shape;362;p14"/>
          <p:cNvSpPr/>
          <p:nvPr/>
        </p:nvSpPr>
        <p:spPr>
          <a:xfrm>
            <a:off x="5623550" y="1874526"/>
            <a:ext cx="6035100" cy="11199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3" name="Google Shape;363;p14"/>
          <p:cNvSpPr txBox="1"/>
          <p:nvPr/>
        </p:nvSpPr>
        <p:spPr>
          <a:xfrm>
            <a:off x="5760720" y="1929383"/>
            <a:ext cx="57606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FFFFFF"/>
                </a:solidFill>
                <a:latin typeface="Calibri"/>
                <a:ea typeface="Calibri"/>
                <a:cs typeface="Calibri"/>
                <a:sym typeface="Calibri"/>
              </a:rPr>
              <a:t>Εξίσωση Πανικού</a:t>
            </a:r>
            <a:endParaRPr sz="1800"/>
          </a:p>
        </p:txBody>
      </p:sp>
      <p:sp>
        <p:nvSpPr>
          <p:cNvPr id="364" name="Google Shape;364;p14"/>
          <p:cNvSpPr txBox="1"/>
          <p:nvPr/>
        </p:nvSpPr>
        <p:spPr>
          <a:xfrm>
            <a:off x="5760720" y="2258567"/>
            <a:ext cx="57606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FFFFFF"/>
                </a:solidFill>
                <a:latin typeface="Calibri"/>
                <a:ea typeface="Calibri"/>
                <a:cs typeface="Calibri"/>
                <a:sym typeface="Calibri"/>
              </a:rPr>
              <a:t>Panic(t) = Panic(t-1) + α·(1/d_fire) + β·family_separated − decay</a:t>
            </a:r>
            <a:endParaRPr sz="1500">
              <a:solidFill>
                <a:srgbClr val="FFFFFF"/>
              </a:solidFill>
              <a:latin typeface="Calibri"/>
              <a:ea typeface="Calibri"/>
              <a:cs typeface="Calibri"/>
              <a:sym typeface="Calibri"/>
            </a:endParaRPr>
          </a:p>
          <a:p>
            <a:pPr indent="0" lvl="0" marL="0" marR="0" rtl="0" algn="l">
              <a:spcBef>
                <a:spcPts val="0"/>
              </a:spcBef>
              <a:spcAft>
                <a:spcPts val="0"/>
              </a:spcAft>
              <a:buNone/>
            </a:pPr>
            <a:r>
              <a:rPr lang="en-US" sz="1500">
                <a:solidFill>
                  <a:srgbClr val="FFFFFF"/>
                </a:solidFill>
                <a:latin typeface="Calibri"/>
                <a:ea typeface="Calibri"/>
                <a:cs typeface="Calibri"/>
                <a:sym typeface="Calibri"/>
              </a:rPr>
              <a:t>α = 0.05 · β = 0.2 · decay = 0.01 · 30% πολιτών έχουν οικογένεια</a:t>
            </a:r>
            <a:endParaRPr sz="1500">
              <a:solidFill>
                <a:srgbClr val="FFFFFF"/>
              </a:solidFill>
              <a:latin typeface="Calibri"/>
              <a:ea typeface="Calibri"/>
              <a:cs typeface="Calibri"/>
              <a:sym typeface="Calibri"/>
            </a:endParaRPr>
          </a:p>
        </p:txBody>
      </p:sp>
      <p:sp>
        <p:nvSpPr>
          <p:cNvPr id="365" name="Google Shape;365;p14"/>
          <p:cNvSpPr/>
          <p:nvPr/>
        </p:nvSpPr>
        <p:spPr>
          <a:xfrm>
            <a:off x="5623550" y="3305475"/>
            <a:ext cx="6035100" cy="1119900"/>
          </a:xfrm>
          <a:prstGeom prst="rect">
            <a:avLst/>
          </a:prstGeom>
          <a:solidFill>
            <a:srgbClr val="40704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14"/>
          <p:cNvSpPr txBox="1"/>
          <p:nvPr/>
        </p:nvSpPr>
        <p:spPr>
          <a:xfrm>
            <a:off x="5760720" y="3424455"/>
            <a:ext cx="5760600" cy="354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1700">
                <a:solidFill>
                  <a:schemeClr val="lt1"/>
                </a:solidFill>
                <a:latin typeface="Calibri"/>
                <a:ea typeface="Calibri"/>
                <a:cs typeface="Calibri"/>
                <a:sym typeface="Calibri"/>
              </a:rPr>
              <a:t>Τριγωνικό Διάγραμμα LWR (Lighthill-Whitham-Richards 1955)</a:t>
            </a:r>
            <a:endParaRPr b="1" sz="1700"/>
          </a:p>
        </p:txBody>
      </p:sp>
      <p:sp>
        <p:nvSpPr>
          <p:cNvPr id="367" name="Google Shape;367;p14"/>
          <p:cNvSpPr txBox="1"/>
          <p:nvPr/>
        </p:nvSpPr>
        <p:spPr>
          <a:xfrm>
            <a:off x="5794738" y="3821675"/>
            <a:ext cx="5760600" cy="323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US" sz="1500">
                <a:solidFill>
                  <a:srgbClr val="FFFFFF"/>
                </a:solidFill>
                <a:latin typeface="Calibri"/>
                <a:ea typeface="Calibri"/>
                <a:cs typeface="Calibri"/>
                <a:sym typeface="Calibri"/>
              </a:rPr>
              <a:t>ρ &lt; ρ_κρίσιμη → ελεύθερη ροή / ρ ≥ ρ_κρίσιμη → συμφόρηση</a:t>
            </a:r>
            <a:endParaRPr sz="1500">
              <a:solidFill>
                <a:srgbClr val="FFFFFF"/>
              </a:solidFill>
              <a:latin typeface="Calibri"/>
              <a:ea typeface="Calibri"/>
              <a:cs typeface="Calibri"/>
              <a:sym typeface="Calibri"/>
            </a:endParaRPr>
          </a:p>
        </p:txBody>
      </p:sp>
      <p:sp>
        <p:nvSpPr>
          <p:cNvPr id="368" name="Google Shape;368;p14"/>
          <p:cNvSpPr/>
          <p:nvPr/>
        </p:nvSpPr>
        <p:spPr>
          <a:xfrm>
            <a:off x="5623550" y="4721776"/>
            <a:ext cx="6035100" cy="1119900"/>
          </a:xfrm>
          <a:prstGeom prst="rect">
            <a:avLst/>
          </a:prstGeom>
          <a:solidFill>
            <a:srgbClr val="80202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14"/>
          <p:cNvSpPr txBox="1"/>
          <p:nvPr/>
        </p:nvSpPr>
        <p:spPr>
          <a:xfrm>
            <a:off x="5794745" y="4909108"/>
            <a:ext cx="57606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FFFFFF"/>
                </a:solidFill>
                <a:latin typeface="Calibri"/>
                <a:ea typeface="Calibri"/>
                <a:cs typeface="Calibri"/>
                <a:sym typeface="Calibri"/>
              </a:rPr>
              <a:t>Βλάβη από Καπνό</a:t>
            </a:r>
            <a:endParaRPr sz="1700"/>
          </a:p>
        </p:txBody>
      </p:sp>
      <p:sp>
        <p:nvSpPr>
          <p:cNvPr id="370" name="Google Shape;370;p14"/>
          <p:cNvSpPr txBox="1"/>
          <p:nvPr/>
        </p:nvSpPr>
        <p:spPr>
          <a:xfrm>
            <a:off x="5760720" y="5263117"/>
            <a:ext cx="57606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FFFFFF"/>
                </a:solidFill>
                <a:latin typeface="Calibri"/>
                <a:ea typeface="Calibri"/>
                <a:cs typeface="Calibri"/>
                <a:sym typeface="Calibri"/>
              </a:rPr>
              <a:t>Αθροιστική έκθεση &gt; 5.0 → τραυματισμός → INJURY_REPORT</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5"/>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15"/>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15"/>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15"/>
          <p:cNvSpPr txBox="1"/>
          <p:nvPr/>
        </p:nvSpPr>
        <p:spPr>
          <a:xfrm>
            <a:off x="164592" y="19349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Πλαίσιο MARL</a:t>
            </a:r>
            <a:endParaRPr sz="3500"/>
          </a:p>
        </p:txBody>
      </p:sp>
      <p:sp>
        <p:nvSpPr>
          <p:cNvPr id="380" name="Google Shape;380;p15"/>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15"/>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382" name="Google Shape;382;p15"/>
          <p:cNvSpPr txBox="1"/>
          <p:nvPr/>
        </p:nvSpPr>
        <p:spPr>
          <a:xfrm>
            <a:off x="548640" y="1247421"/>
            <a:ext cx="49377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300">
                <a:solidFill>
                  <a:srgbClr val="D46A17"/>
                </a:solidFill>
                <a:latin typeface="Calibri"/>
                <a:ea typeface="Calibri"/>
                <a:cs typeface="Calibri"/>
                <a:sym typeface="Calibri"/>
              </a:rPr>
              <a:t>Δομή</a:t>
            </a:r>
            <a:endParaRPr sz="2000"/>
          </a:p>
        </p:txBody>
      </p:sp>
      <p:sp>
        <p:nvSpPr>
          <p:cNvPr id="383" name="Google Shape;383;p15"/>
          <p:cNvSpPr/>
          <p:nvPr/>
        </p:nvSpPr>
        <p:spPr>
          <a:xfrm>
            <a:off x="5852150" y="1188725"/>
            <a:ext cx="5943600" cy="4406100"/>
          </a:xfrm>
          <a:prstGeom prst="rect">
            <a:avLst/>
          </a:prstGeom>
          <a:solidFill>
            <a:srgbClr val="F0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p15"/>
          <p:cNvSpPr txBox="1"/>
          <p:nvPr/>
        </p:nvSpPr>
        <p:spPr>
          <a:xfrm>
            <a:off x="6035040" y="1264430"/>
            <a:ext cx="5577900" cy="41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100">
                <a:solidFill>
                  <a:srgbClr val="1A2A4A"/>
                </a:solidFill>
                <a:latin typeface="Calibri"/>
                <a:ea typeface="Calibri"/>
                <a:cs typeface="Calibri"/>
                <a:sym typeface="Calibri"/>
              </a:rPr>
              <a:t>Αρχιτεκτονική &amp; Συνεργασία</a:t>
            </a:r>
            <a:endParaRPr sz="1800"/>
          </a:p>
        </p:txBody>
      </p:sp>
      <p:sp>
        <p:nvSpPr>
          <p:cNvPr id="385" name="Google Shape;385;p15"/>
          <p:cNvSpPr/>
          <p:nvPr/>
        </p:nvSpPr>
        <p:spPr>
          <a:xfrm>
            <a:off x="5989325" y="1874525"/>
            <a:ext cx="5669400" cy="20262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15"/>
          <p:cNvSpPr txBox="1"/>
          <p:nvPr/>
        </p:nvSpPr>
        <p:spPr>
          <a:xfrm>
            <a:off x="6126480" y="1920239"/>
            <a:ext cx="53949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FFFFFF"/>
                </a:solidFill>
                <a:latin typeface="Calibri"/>
                <a:ea typeface="Calibri"/>
                <a:cs typeface="Calibri"/>
                <a:sym typeface="Calibri"/>
              </a:rPr>
              <a:t>Αρχιτεκτονική Εκπαίδευσης</a:t>
            </a:r>
            <a:endParaRPr sz="1800"/>
          </a:p>
        </p:txBody>
      </p:sp>
      <p:sp>
        <p:nvSpPr>
          <p:cNvPr id="387" name="Google Shape;387;p15"/>
          <p:cNvSpPr txBox="1"/>
          <p:nvPr/>
        </p:nvSpPr>
        <p:spPr>
          <a:xfrm>
            <a:off x="5852150" y="2301930"/>
            <a:ext cx="5852100" cy="1816200"/>
          </a:xfrm>
          <a:prstGeom prst="rect">
            <a:avLst/>
          </a:prstGeom>
          <a:noFill/>
          <a:ln>
            <a:noFill/>
          </a:ln>
        </p:spPr>
        <p:txBody>
          <a:bodyPr anchorCtr="0" anchor="t" bIns="45700" lIns="91425" spcFirstLastPara="1" rIns="91425" wrap="square" tIns="45700">
            <a:spAutoFit/>
          </a:bodyPr>
          <a:lstStyle/>
          <a:p>
            <a:pPr indent="-317500" lvl="0" marL="457200" rtl="0" algn="l">
              <a:spcBef>
                <a:spcPts val="0"/>
              </a:spcBef>
              <a:spcAft>
                <a:spcPts val="0"/>
              </a:spcAft>
              <a:buClr>
                <a:srgbClr val="FFFFFF"/>
              </a:buClr>
              <a:buSzPts val="1400"/>
              <a:buFont typeface="Calibri"/>
              <a:buChar char="●"/>
            </a:pPr>
            <a:r>
              <a:rPr i="1" lang="en-US">
                <a:solidFill>
                  <a:srgbClr val="FFFFFF"/>
                </a:solidFill>
                <a:latin typeface="Calibri"/>
                <a:ea typeface="Calibri"/>
                <a:cs typeface="Calibri"/>
                <a:sym typeface="Calibri"/>
              </a:rPr>
              <a:t> Κάθε πράκτορας βλέπει μόνο τις δικές του παρατηρήσεις και δρα αυτόνομα</a:t>
            </a:r>
            <a:endParaRPr i="1">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i="1" lang="en-US">
                <a:solidFill>
                  <a:srgbClr val="FFFFFF"/>
                </a:solidFill>
                <a:latin typeface="Calibri"/>
                <a:ea typeface="Calibri"/>
                <a:cs typeface="Calibri"/>
                <a:sym typeface="Calibri"/>
              </a:rPr>
              <a:t>Κατά την εκπαίδευση, ένα κεντρικό δίκτυο αξιολόγησης (critic) λαμβάνει τις παρατηρήσεις και των τριών πρακτόρων για να καθοδηγεί καλύτερα τη μάθηση </a:t>
            </a:r>
            <a:endParaRPr i="1">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i="1" lang="en-US">
                <a:solidFill>
                  <a:srgbClr val="FFFFFF"/>
                </a:solidFill>
                <a:latin typeface="Calibri"/>
                <a:ea typeface="Calibri"/>
                <a:cs typeface="Calibri"/>
                <a:sym typeface="Calibri"/>
              </a:rPr>
              <a:t>Αλγόριθμος PPO: ο πράκτορας δοκιμάζει ενέργειες και βελτιώνει σταδιακά την πολιτική του</a:t>
            </a:r>
            <a:endParaRPr i="1">
              <a:solidFill>
                <a:srgbClr val="FFFFFF"/>
              </a:solidFill>
              <a:latin typeface="Calibri"/>
              <a:ea typeface="Calibri"/>
              <a:cs typeface="Calibri"/>
              <a:sym typeface="Calibri"/>
            </a:endParaRPr>
          </a:p>
          <a:p>
            <a:pPr indent="0" lvl="0" marL="0" marR="0" rtl="0" algn="l">
              <a:spcBef>
                <a:spcPts val="0"/>
              </a:spcBef>
              <a:spcAft>
                <a:spcPts val="0"/>
              </a:spcAft>
              <a:buNone/>
            </a:pPr>
            <a:r>
              <a:t/>
            </a:r>
            <a:endParaRPr i="1">
              <a:solidFill>
                <a:srgbClr val="FFFFFF"/>
              </a:solidFill>
              <a:latin typeface="Calibri"/>
              <a:ea typeface="Calibri"/>
              <a:cs typeface="Calibri"/>
              <a:sym typeface="Calibri"/>
            </a:endParaRPr>
          </a:p>
        </p:txBody>
      </p:sp>
      <p:sp>
        <p:nvSpPr>
          <p:cNvPr id="388" name="Google Shape;388;p15"/>
          <p:cNvSpPr/>
          <p:nvPr/>
        </p:nvSpPr>
        <p:spPr>
          <a:xfrm>
            <a:off x="5989325" y="4063613"/>
            <a:ext cx="5669400" cy="140370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p15"/>
          <p:cNvSpPr txBox="1"/>
          <p:nvPr/>
        </p:nvSpPr>
        <p:spPr>
          <a:xfrm>
            <a:off x="6126480" y="4247697"/>
            <a:ext cx="53949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FFFFFF"/>
                </a:solidFill>
                <a:latin typeface="Calibri"/>
                <a:ea typeface="Calibri"/>
                <a:cs typeface="Calibri"/>
                <a:sym typeface="Calibri"/>
              </a:rPr>
              <a:t>Συνεργασία </a:t>
            </a:r>
            <a:r>
              <a:rPr b="1" lang="en-US">
                <a:solidFill>
                  <a:srgbClr val="FFFFFF"/>
                </a:solidFill>
                <a:latin typeface="Calibri"/>
                <a:ea typeface="Calibri"/>
                <a:cs typeface="Calibri"/>
                <a:sym typeface="Calibri"/>
              </a:rPr>
              <a:t>μεταξύ Πρακτόρων</a:t>
            </a:r>
            <a:endParaRPr sz="1500"/>
          </a:p>
        </p:txBody>
      </p:sp>
      <p:sp>
        <p:nvSpPr>
          <p:cNvPr id="390" name="Google Shape;390;p15"/>
          <p:cNvSpPr txBox="1"/>
          <p:nvPr/>
        </p:nvSpPr>
        <p:spPr>
          <a:xfrm>
            <a:off x="5852150" y="4619570"/>
            <a:ext cx="5852100" cy="915900"/>
          </a:xfrm>
          <a:prstGeom prst="rect">
            <a:avLst/>
          </a:prstGeom>
          <a:noFill/>
          <a:ln>
            <a:noFill/>
          </a:ln>
        </p:spPr>
        <p:txBody>
          <a:bodyPr anchorCtr="0" anchor="t" bIns="45700" lIns="91425" spcFirstLastPara="1" rIns="91425" wrap="square" tIns="45700">
            <a:spAutoFit/>
          </a:bodyPr>
          <a:lstStyle/>
          <a:p>
            <a:pPr indent="-317500" lvl="0" marL="457200" rtl="0" algn="l">
              <a:spcBef>
                <a:spcPts val="0"/>
              </a:spcBef>
              <a:spcAft>
                <a:spcPts val="0"/>
              </a:spcAft>
              <a:buClr>
                <a:srgbClr val="FFFFFF"/>
              </a:buClr>
              <a:buSzPts val="1400"/>
              <a:buFont typeface="Calibri"/>
              <a:buChar char="●"/>
            </a:pPr>
            <a:r>
              <a:rPr i="1" lang="en-US">
                <a:solidFill>
                  <a:srgbClr val="FFFFFF"/>
                </a:solidFill>
                <a:latin typeface="Calibri"/>
                <a:ea typeface="Calibri"/>
                <a:cs typeface="Calibri"/>
                <a:sym typeface="Calibri"/>
              </a:rPr>
              <a:t>Όταν οι τρεις πράκτορες πετυχαίνουν μαζί, το QMIX κατανέμει την κοινή επιτυχία σε κάθε έναν ξεχωριστά, ώστε ο καθένας να ξέρει πόσο συνέβαλε</a:t>
            </a:r>
            <a:endParaRPr i="1">
              <a:solidFill>
                <a:srgbClr val="FFFFFF"/>
              </a:solidFill>
              <a:latin typeface="Calibri"/>
              <a:ea typeface="Calibri"/>
              <a:cs typeface="Calibri"/>
              <a:sym typeface="Calibri"/>
            </a:endParaRPr>
          </a:p>
          <a:p>
            <a:pPr indent="0" lvl="0" marL="0" marR="0" rtl="0" algn="l">
              <a:spcBef>
                <a:spcPts val="0"/>
              </a:spcBef>
              <a:spcAft>
                <a:spcPts val="0"/>
              </a:spcAft>
              <a:buNone/>
            </a:pPr>
            <a:r>
              <a:t/>
            </a:r>
            <a:endParaRPr i="1" sz="1150">
              <a:solidFill>
                <a:srgbClr val="FFFFFF"/>
              </a:solidFill>
              <a:latin typeface="Calibri"/>
              <a:ea typeface="Calibri"/>
              <a:cs typeface="Calibri"/>
              <a:sym typeface="Calibri"/>
            </a:endParaRPr>
          </a:p>
        </p:txBody>
      </p:sp>
      <p:sp>
        <p:nvSpPr>
          <p:cNvPr id="391" name="Google Shape;391;p15"/>
          <p:cNvSpPr/>
          <p:nvPr/>
        </p:nvSpPr>
        <p:spPr>
          <a:xfrm>
            <a:off x="365750" y="5680075"/>
            <a:ext cx="11430000" cy="876300"/>
          </a:xfrm>
          <a:prstGeom prst="rect">
            <a:avLst/>
          </a:prstGeom>
          <a:solidFill>
            <a:srgbClr val="FFF4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2" name="Google Shape;392;p15"/>
          <p:cNvSpPr txBox="1"/>
          <p:nvPr/>
        </p:nvSpPr>
        <p:spPr>
          <a:xfrm>
            <a:off x="480604" y="5622471"/>
            <a:ext cx="41148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D46A17"/>
                </a:solidFill>
                <a:latin typeface="Calibri"/>
                <a:ea typeface="Calibri"/>
                <a:cs typeface="Calibri"/>
                <a:sym typeface="Calibri"/>
              </a:rPr>
              <a:t>Γιατί RL και όχι μόνο κανόνες BDI;</a:t>
            </a:r>
            <a:endParaRPr sz="1700"/>
          </a:p>
        </p:txBody>
      </p:sp>
      <p:sp>
        <p:nvSpPr>
          <p:cNvPr id="393" name="Google Shape;393;p15"/>
          <p:cNvSpPr txBox="1"/>
          <p:nvPr/>
        </p:nvSpPr>
        <p:spPr>
          <a:xfrm>
            <a:off x="479650" y="5887450"/>
            <a:ext cx="11316000" cy="7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350" u="none" cap="none" strike="noStrike">
                <a:solidFill>
                  <a:srgbClr val="3A3A3A"/>
                </a:solidFill>
                <a:latin typeface="Calibri"/>
                <a:ea typeface="Calibri"/>
                <a:cs typeface="Calibri"/>
                <a:sym typeface="Calibri"/>
              </a:rPr>
              <a:t>Οι κανόνες BDI ορίζουν τι επιτρέπεται (action masking). Το PPO ανακαλύπτει πότε και πού να δράσει βέλτιστα — π.χ. ποια ζώνη να αντιμετωπίσει πρώτα, πότε να εγκαταλείψει τη γραμμή πυρός. Αυτές οι αποφάσεις απαιτούν προσαρμογή στο δυναμικό περιβάλλον, κάτι που δεν μπορεί να κωδικοποιηθεί εξαντλητικά με κανόνες.</a:t>
            </a:r>
            <a:endParaRPr sz="1500">
              <a:latin typeface="Calibri"/>
              <a:ea typeface="Calibri"/>
              <a:cs typeface="Calibri"/>
              <a:sym typeface="Calibri"/>
            </a:endParaRPr>
          </a:p>
        </p:txBody>
      </p:sp>
      <p:graphicFrame>
        <p:nvGraphicFramePr>
          <p:cNvPr id="394" name="Google Shape;394;p15"/>
          <p:cNvGraphicFramePr/>
          <p:nvPr/>
        </p:nvGraphicFramePr>
        <p:xfrm>
          <a:off x="548638" y="1779938"/>
          <a:ext cx="3000000" cy="3000000"/>
        </p:xfrm>
        <a:graphic>
          <a:graphicData uri="http://schemas.openxmlformats.org/drawingml/2006/table">
            <a:tbl>
              <a:tblPr>
                <a:noFill/>
                <a:tableStyleId>{792AC379-F5C1-423C-9747-326DEF00050D}</a:tableStyleId>
              </a:tblPr>
              <a:tblGrid>
                <a:gridCol w="1213475"/>
                <a:gridCol w="1300850"/>
                <a:gridCol w="2423400"/>
              </a:tblGrid>
              <a:tr h="356800">
                <a:tc>
                  <a:txBody>
                    <a:bodyPr/>
                    <a:lstStyle/>
                    <a:p>
                      <a:pPr indent="0" lvl="0" marL="0" rtl="0" algn="l">
                        <a:spcBef>
                          <a:spcPts val="0"/>
                        </a:spcBef>
                        <a:spcAft>
                          <a:spcPts val="0"/>
                        </a:spcAft>
                        <a:buNone/>
                      </a:pPr>
                      <a:r>
                        <a:rPr b="1" lang="en-US" sz="1500">
                          <a:solidFill>
                            <a:schemeClr val="lt1"/>
                          </a:solidFill>
                          <a:latin typeface="Calibri"/>
                          <a:ea typeface="Calibri"/>
                          <a:cs typeface="Calibri"/>
                          <a:sym typeface="Calibri"/>
                        </a:rPr>
                        <a:t>Πράκτορας </a:t>
                      </a:r>
                      <a:endParaRPr b="1" sz="1600"/>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b="1" lang="en-US" sz="1500">
                          <a:solidFill>
                            <a:schemeClr val="lt1"/>
                          </a:solidFill>
                          <a:latin typeface="Calibri"/>
                          <a:ea typeface="Calibri"/>
                          <a:cs typeface="Calibri"/>
                          <a:sym typeface="Calibri"/>
                        </a:rPr>
                        <a:t>Τι Μαθαίνει</a:t>
                      </a:r>
                      <a:endParaRPr b="1" sz="1600"/>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b="1" lang="en-US" sz="1500">
                          <a:solidFill>
                            <a:schemeClr val="lt1"/>
                          </a:solidFill>
                          <a:latin typeface="Calibri"/>
                          <a:ea typeface="Calibri"/>
                          <a:cs typeface="Calibri"/>
                          <a:sym typeface="Calibri"/>
                        </a:rPr>
                        <a:t>Συνάρτηση Αμοιβής</a:t>
                      </a:r>
                      <a:endParaRPr b="1" sz="1500">
                        <a:solidFill>
                          <a:schemeClr val="lt1"/>
                        </a:solidFill>
                        <a:latin typeface="Calibri"/>
                        <a:ea typeface="Calibri"/>
                        <a:cs typeface="Calibri"/>
                        <a:sym typeface="Calibri"/>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r>
              <a:tr h="343100">
                <a:tc>
                  <a:txBody>
                    <a:bodyPr/>
                    <a:lstStyle/>
                    <a:p>
                      <a:pPr indent="0" lvl="0" marL="0" rtl="0" algn="l">
                        <a:spcBef>
                          <a:spcPts val="0"/>
                        </a:spcBef>
                        <a:spcAft>
                          <a:spcPts val="0"/>
                        </a:spcAft>
                        <a:buNone/>
                      </a:pPr>
                      <a:r>
                        <a:rPr lang="en-US" sz="1300">
                          <a:solidFill>
                            <a:schemeClr val="lt1"/>
                          </a:solidFill>
                          <a:latin typeface="Calibri"/>
                          <a:ea typeface="Calibri"/>
                          <a:cs typeface="Calibri"/>
                          <a:sym typeface="Calibri"/>
                        </a:rPr>
                        <a:t>Commander </a:t>
                      </a:r>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lang="en-US" sz="1300">
                          <a:solidFill>
                            <a:schemeClr val="lt1"/>
                          </a:solidFill>
                          <a:latin typeface="Calibri"/>
                          <a:ea typeface="Calibri"/>
                          <a:cs typeface="Calibri"/>
                          <a:sym typeface="Calibri"/>
                        </a:rPr>
                        <a:t>Πότε να εκδώσει εντολή εκκένωσης </a:t>
                      </a:r>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lang="en-US" sz="1300">
                          <a:solidFill>
                            <a:schemeClr val="lt1"/>
                          </a:solidFill>
                          <a:highlight>
                            <a:srgbClr val="1E8A44"/>
                          </a:highlight>
                          <a:latin typeface="Calibri"/>
                          <a:ea typeface="Calibri"/>
                          <a:cs typeface="Calibri"/>
                          <a:sym typeface="Calibri"/>
                        </a:rPr>
                        <a:t>+εκκένωση πολιτών </a:t>
                      </a:r>
                      <a:br>
                        <a:rPr lang="en-US" sz="1300">
                          <a:solidFill>
                            <a:schemeClr val="lt1"/>
                          </a:solidFill>
                          <a:latin typeface="Calibri"/>
                          <a:ea typeface="Calibri"/>
                          <a:cs typeface="Calibri"/>
                          <a:sym typeface="Calibri"/>
                        </a:rPr>
                      </a:br>
                      <a:r>
                        <a:rPr lang="en-US" sz="1300">
                          <a:solidFill>
                            <a:schemeClr val="lt1"/>
                          </a:solidFill>
                          <a:highlight>
                            <a:srgbClr val="BF2B2B"/>
                          </a:highlight>
                          <a:latin typeface="Calibri"/>
                          <a:ea typeface="Calibri"/>
                          <a:cs typeface="Calibri"/>
                          <a:sym typeface="Calibri"/>
                        </a:rPr>
                        <a:t>−απώλειες </a:t>
                      </a:r>
                      <a:br>
                        <a:rPr lang="en-US" sz="1300">
                          <a:solidFill>
                            <a:schemeClr val="lt1"/>
                          </a:solidFill>
                          <a:highlight>
                            <a:srgbClr val="BF2B2B"/>
                          </a:highlight>
                          <a:latin typeface="Calibri"/>
                          <a:ea typeface="Calibri"/>
                          <a:cs typeface="Calibri"/>
                          <a:sym typeface="Calibri"/>
                        </a:rPr>
                      </a:br>
                      <a:r>
                        <a:rPr lang="en-US" sz="1300">
                          <a:solidFill>
                            <a:schemeClr val="lt1"/>
                          </a:solidFill>
                          <a:highlight>
                            <a:srgbClr val="BF2B2B"/>
                          </a:highlight>
                          <a:latin typeface="Calibri"/>
                          <a:ea typeface="Calibri"/>
                          <a:cs typeface="Calibri"/>
                          <a:sym typeface="Calibri"/>
                        </a:rPr>
                        <a:t>−λανθασμένη απόφαση εκκένωσης </a:t>
                      </a:r>
                      <a:br>
                        <a:rPr lang="en-US" sz="1300">
                          <a:solidFill>
                            <a:schemeClr val="lt1"/>
                          </a:solidFill>
                          <a:highlight>
                            <a:srgbClr val="BF2B2B"/>
                          </a:highlight>
                          <a:latin typeface="Calibri"/>
                          <a:ea typeface="Calibri"/>
                          <a:cs typeface="Calibri"/>
                          <a:sym typeface="Calibri"/>
                        </a:rPr>
                      </a:br>
                      <a:r>
                        <a:rPr lang="en-US" sz="1300">
                          <a:solidFill>
                            <a:schemeClr val="lt1"/>
                          </a:solidFill>
                          <a:highlight>
                            <a:srgbClr val="BF2B2B"/>
                          </a:highlight>
                          <a:latin typeface="Calibri"/>
                          <a:ea typeface="Calibri"/>
                          <a:cs typeface="Calibri"/>
                          <a:sym typeface="Calibri"/>
                        </a:rPr>
                        <a:t>−καμένη έκταση</a:t>
                      </a:r>
                      <a:endParaRPr sz="1300">
                        <a:solidFill>
                          <a:schemeClr val="lt1"/>
                        </a:solidFill>
                        <a:highlight>
                          <a:srgbClr val="BF2B2B"/>
                        </a:highlight>
                        <a:latin typeface="Calibri"/>
                        <a:ea typeface="Calibri"/>
                        <a:cs typeface="Calibri"/>
                        <a:sym typeface="Calibri"/>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r>
              <a:tr h="983450">
                <a:tc>
                  <a:txBody>
                    <a:bodyPr/>
                    <a:lstStyle/>
                    <a:p>
                      <a:pPr indent="0" lvl="0" marL="0" rtl="0" algn="l">
                        <a:spcBef>
                          <a:spcPts val="0"/>
                        </a:spcBef>
                        <a:spcAft>
                          <a:spcPts val="0"/>
                        </a:spcAft>
                        <a:buNone/>
                      </a:pPr>
                      <a:r>
                        <a:rPr lang="en-US" sz="1300">
                          <a:solidFill>
                            <a:schemeClr val="lt1"/>
                          </a:solidFill>
                          <a:latin typeface="Calibri"/>
                          <a:ea typeface="Calibri"/>
                          <a:cs typeface="Calibri"/>
                          <a:sym typeface="Calibri"/>
                        </a:rPr>
                        <a:t>Rescuer </a:t>
                      </a:r>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lang="en-US" sz="1300">
                          <a:solidFill>
                            <a:schemeClr val="lt1"/>
                          </a:solidFill>
                          <a:latin typeface="Calibri"/>
                          <a:ea typeface="Calibri"/>
                          <a:cs typeface="Calibri"/>
                          <a:sym typeface="Calibri"/>
                        </a:rPr>
                        <a:t>Ποιον πολίτη να διασώσει πρώτα </a:t>
                      </a:r>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lang="en-US" sz="1300">
                          <a:solidFill>
                            <a:schemeClr val="lt1"/>
                          </a:solidFill>
                          <a:highlight>
                            <a:srgbClr val="1E8A44"/>
                          </a:highlight>
                          <a:latin typeface="Calibri"/>
                          <a:ea typeface="Calibri"/>
                          <a:cs typeface="Calibri"/>
                          <a:sym typeface="Calibri"/>
                        </a:rPr>
                        <a:t>+διάσωση πολιτών </a:t>
                      </a:r>
                      <a:br>
                        <a:rPr lang="en-US" sz="1300">
                          <a:solidFill>
                            <a:schemeClr val="lt1"/>
                          </a:solidFill>
                          <a:latin typeface="Calibri"/>
                          <a:ea typeface="Calibri"/>
                          <a:cs typeface="Calibri"/>
                          <a:sym typeface="Calibri"/>
                        </a:rPr>
                      </a:br>
                      <a:r>
                        <a:rPr lang="en-US" sz="1300">
                          <a:solidFill>
                            <a:schemeClr val="lt1"/>
                          </a:solidFill>
                          <a:highlight>
                            <a:srgbClr val="BF2B2B"/>
                          </a:highlight>
                          <a:latin typeface="Calibri"/>
                          <a:ea typeface="Calibri"/>
                          <a:cs typeface="Calibri"/>
                          <a:sym typeface="Calibri"/>
                        </a:rPr>
                        <a:t>−απώλειες </a:t>
                      </a:r>
                      <a:br>
                        <a:rPr lang="en-US" sz="1300">
                          <a:solidFill>
                            <a:schemeClr val="lt1"/>
                          </a:solidFill>
                          <a:highlight>
                            <a:srgbClr val="BF2B2B"/>
                          </a:highlight>
                          <a:latin typeface="Calibri"/>
                          <a:ea typeface="Calibri"/>
                          <a:cs typeface="Calibri"/>
                          <a:sym typeface="Calibri"/>
                        </a:rPr>
                      </a:br>
                      <a:r>
                        <a:rPr lang="en-US" sz="1300">
                          <a:solidFill>
                            <a:schemeClr val="lt1"/>
                          </a:solidFill>
                          <a:highlight>
                            <a:srgbClr val="BF2B2B"/>
                          </a:highlight>
                          <a:latin typeface="Calibri"/>
                          <a:ea typeface="Calibri"/>
                          <a:cs typeface="Calibri"/>
                          <a:sym typeface="Calibri"/>
                        </a:rPr>
                        <a:t>−κίνηση μέσα από επικίνδυνες ζώνες</a:t>
                      </a:r>
                      <a:endParaRPr sz="1300">
                        <a:solidFill>
                          <a:schemeClr val="lt1"/>
                        </a:solidFill>
                        <a:highlight>
                          <a:srgbClr val="BF2B2B"/>
                        </a:highlight>
                        <a:latin typeface="Calibri"/>
                        <a:ea typeface="Calibri"/>
                        <a:cs typeface="Calibri"/>
                        <a:sym typeface="Calibri"/>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r>
              <a:tr h="343100">
                <a:tc>
                  <a:txBody>
                    <a:bodyPr/>
                    <a:lstStyle/>
                    <a:p>
                      <a:pPr indent="0" lvl="0" marL="0" rtl="0" algn="l">
                        <a:spcBef>
                          <a:spcPts val="0"/>
                        </a:spcBef>
                        <a:spcAft>
                          <a:spcPts val="0"/>
                        </a:spcAft>
                        <a:buNone/>
                      </a:pPr>
                      <a:r>
                        <a:rPr lang="en-US" sz="1300">
                          <a:solidFill>
                            <a:schemeClr val="lt1"/>
                          </a:solidFill>
                          <a:latin typeface="Calibri"/>
                          <a:ea typeface="Calibri"/>
                          <a:cs typeface="Calibri"/>
                          <a:sym typeface="Calibri"/>
                        </a:rPr>
                        <a:t>Firefighter </a:t>
                      </a:r>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lang="en-US" sz="1300">
                          <a:solidFill>
                            <a:schemeClr val="lt1"/>
                          </a:solidFill>
                          <a:latin typeface="Calibri"/>
                          <a:ea typeface="Calibri"/>
                          <a:cs typeface="Calibri"/>
                          <a:sym typeface="Calibri"/>
                        </a:rPr>
                        <a:t>Πού να επικεντρωθεί για κατάσβεση </a:t>
                      </a:r>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c>
                  <a:txBody>
                    <a:bodyPr/>
                    <a:lstStyle/>
                    <a:p>
                      <a:pPr indent="0" lvl="0" marL="0" rtl="0" algn="l">
                        <a:spcBef>
                          <a:spcPts val="0"/>
                        </a:spcBef>
                        <a:spcAft>
                          <a:spcPts val="0"/>
                        </a:spcAft>
                        <a:buNone/>
                      </a:pPr>
                      <a:r>
                        <a:rPr lang="en-US">
                          <a:solidFill>
                            <a:schemeClr val="lt1"/>
                          </a:solidFill>
                          <a:highlight>
                            <a:srgbClr val="1E8A44"/>
                          </a:highlight>
                          <a:latin typeface="Calibri"/>
                          <a:ea typeface="Calibri"/>
                          <a:cs typeface="Calibri"/>
                          <a:sym typeface="Calibri"/>
                        </a:rPr>
                        <a:t>+κατάσβεση φωτιάς </a:t>
                      </a:r>
                      <a:br>
                        <a:rPr lang="en-US">
                          <a:solidFill>
                            <a:schemeClr val="lt1"/>
                          </a:solidFill>
                          <a:highlight>
                            <a:srgbClr val="1E8A44"/>
                          </a:highlight>
                          <a:latin typeface="Calibri"/>
                          <a:ea typeface="Calibri"/>
                          <a:cs typeface="Calibri"/>
                          <a:sym typeface="Calibri"/>
                        </a:rPr>
                      </a:br>
                      <a:r>
                        <a:rPr lang="en-US">
                          <a:solidFill>
                            <a:schemeClr val="lt1"/>
                          </a:solidFill>
                          <a:highlight>
                            <a:srgbClr val="1E8A44"/>
                          </a:highlight>
                          <a:latin typeface="Calibri"/>
                          <a:ea typeface="Calibri"/>
                          <a:cs typeface="Calibri"/>
                          <a:sym typeface="Calibri"/>
                        </a:rPr>
                        <a:t>+δημιουργία γραμμών πυρκαγιάς </a:t>
                      </a:r>
                      <a:br>
                        <a:rPr lang="en-US">
                          <a:solidFill>
                            <a:schemeClr val="lt1"/>
                          </a:solidFill>
                          <a:latin typeface="Calibri"/>
                          <a:ea typeface="Calibri"/>
                          <a:cs typeface="Calibri"/>
                          <a:sym typeface="Calibri"/>
                        </a:rPr>
                      </a:br>
                      <a:r>
                        <a:rPr lang="en-US">
                          <a:solidFill>
                            <a:schemeClr val="lt1"/>
                          </a:solidFill>
                          <a:highlight>
                            <a:srgbClr val="BF2B2B"/>
                          </a:highlight>
                          <a:latin typeface="Calibri"/>
                          <a:ea typeface="Calibri"/>
                          <a:cs typeface="Calibri"/>
                          <a:sym typeface="Calibri"/>
                        </a:rPr>
                        <a:t>−επέκταση της φωτιάς</a:t>
                      </a:r>
                      <a:endParaRPr>
                        <a:solidFill>
                          <a:schemeClr val="lt1"/>
                        </a:solidFill>
                        <a:highlight>
                          <a:srgbClr val="BF2B2B"/>
                        </a:highlight>
                        <a:latin typeface="Calibri"/>
                        <a:ea typeface="Calibri"/>
                        <a:cs typeface="Calibri"/>
                        <a:sym typeface="Calibri"/>
                      </a:endParaRPr>
                    </a:p>
                  </a:txBody>
                  <a:tcPr marT="91425" marB="91425" marR="91425" marL="91425">
                    <a:lnL cap="flat" cmpd="sng" w="28575">
                      <a:solidFill>
                        <a:srgbClr val="FFCCAA"/>
                      </a:solidFill>
                      <a:prstDash val="solid"/>
                      <a:round/>
                      <a:headEnd len="sm" w="sm" type="none"/>
                      <a:tailEnd len="sm" w="sm" type="none"/>
                    </a:lnL>
                    <a:lnR cap="flat" cmpd="sng" w="28575">
                      <a:solidFill>
                        <a:srgbClr val="FFCCAA"/>
                      </a:solidFill>
                      <a:prstDash val="solid"/>
                      <a:round/>
                      <a:headEnd len="sm" w="sm" type="none"/>
                      <a:tailEnd len="sm" w="sm" type="none"/>
                    </a:lnR>
                    <a:lnT cap="flat" cmpd="sng" w="28575">
                      <a:solidFill>
                        <a:srgbClr val="FFCCAA"/>
                      </a:solidFill>
                      <a:prstDash val="solid"/>
                      <a:round/>
                      <a:headEnd len="sm" w="sm" type="none"/>
                      <a:tailEnd len="sm" w="sm" type="none"/>
                    </a:lnT>
                    <a:lnB cap="flat" cmpd="sng" w="28575">
                      <a:solidFill>
                        <a:srgbClr val="FFCCAA"/>
                      </a:solidFill>
                      <a:prstDash val="solid"/>
                      <a:round/>
                      <a:headEnd len="sm" w="sm" type="none"/>
                      <a:tailEnd len="sm" w="sm" type="none"/>
                    </a:lnB>
                    <a:solidFill>
                      <a:srgbClr val="D46A17"/>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16"/>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1" name="Google Shape;401;p16"/>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2" name="Google Shape;402;p16"/>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16"/>
          <p:cNvSpPr txBox="1"/>
          <p:nvPr/>
        </p:nvSpPr>
        <p:spPr>
          <a:xfrm>
            <a:off x="164592" y="19349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Εκπαίδευση</a:t>
            </a:r>
            <a:endParaRPr sz="3500"/>
          </a:p>
        </p:txBody>
      </p:sp>
      <p:sp>
        <p:nvSpPr>
          <p:cNvPr id="404" name="Google Shape;404;p16"/>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5" name="Google Shape;405;p16"/>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406" name="Google Shape;406;p16"/>
          <p:cNvSpPr/>
          <p:nvPr/>
        </p:nvSpPr>
        <p:spPr>
          <a:xfrm>
            <a:off x="411480" y="1234440"/>
            <a:ext cx="3474720" cy="4754880"/>
          </a:xfrm>
          <a:prstGeom prst="rect">
            <a:avLst/>
          </a:prstGeom>
          <a:solidFill>
            <a:srgbClr val="1E7A1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16"/>
          <p:cNvSpPr txBox="1"/>
          <p:nvPr/>
        </p:nvSpPr>
        <p:spPr>
          <a:xfrm>
            <a:off x="548650" y="1307601"/>
            <a:ext cx="3200400" cy="789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US" sz="2200" u="none" cap="none" strike="noStrike">
                <a:solidFill>
                  <a:srgbClr val="FFFFFF"/>
                </a:solidFill>
                <a:latin typeface="Calibri"/>
                <a:ea typeface="Calibri"/>
                <a:cs typeface="Calibri"/>
                <a:sym typeface="Calibri"/>
              </a:rPr>
              <a:t>Φάση 1</a:t>
            </a:r>
            <a:br>
              <a:rPr b="1" i="0" lang="en-US" sz="2000" u="none" cap="none" strike="noStrike">
                <a:solidFill>
                  <a:srgbClr val="FFFFFF"/>
                </a:solidFill>
                <a:latin typeface="Calibri"/>
                <a:ea typeface="Calibri"/>
                <a:cs typeface="Calibri"/>
                <a:sym typeface="Calibri"/>
              </a:rPr>
            </a:br>
            <a:r>
              <a:rPr b="1" i="0" lang="en-US" sz="2000" u="none" cap="none" strike="noStrike">
                <a:solidFill>
                  <a:srgbClr val="FFFFFF"/>
                </a:solidFill>
                <a:latin typeface="Calibri"/>
                <a:ea typeface="Calibri"/>
                <a:cs typeface="Calibri"/>
                <a:sym typeface="Calibri"/>
              </a:rPr>
              <a:t>Επεισόδια </a:t>
            </a:r>
            <a:r>
              <a:rPr b="1" lang="en-US" sz="2000">
                <a:solidFill>
                  <a:srgbClr val="FFFFFF"/>
                </a:solidFill>
                <a:latin typeface="Calibri"/>
                <a:ea typeface="Calibri"/>
                <a:cs typeface="Calibri"/>
                <a:sym typeface="Calibri"/>
              </a:rPr>
              <a:t>1</a:t>
            </a:r>
            <a:r>
              <a:rPr b="1" i="0" lang="en-US" sz="2000" u="none" cap="none" strike="noStrike">
                <a:solidFill>
                  <a:srgbClr val="FFFFFF"/>
                </a:solidFill>
                <a:latin typeface="Calibri"/>
                <a:ea typeface="Calibri"/>
                <a:cs typeface="Calibri"/>
                <a:sym typeface="Calibri"/>
              </a:rPr>
              <a:t>–</a:t>
            </a:r>
            <a:r>
              <a:rPr b="1" i="0" lang="en-US" sz="2000" u="none" cap="none" strike="noStrike">
                <a:solidFill>
                  <a:srgbClr val="FFFFFF"/>
                </a:solidFill>
                <a:latin typeface="Calibri"/>
                <a:ea typeface="Calibri"/>
                <a:cs typeface="Calibri"/>
                <a:sym typeface="Calibri"/>
              </a:rPr>
              <a:t>800</a:t>
            </a:r>
            <a:endParaRPr sz="2000"/>
          </a:p>
        </p:txBody>
      </p:sp>
      <p:sp>
        <p:nvSpPr>
          <p:cNvPr id="408" name="Google Shape;408;p16"/>
          <p:cNvSpPr txBox="1"/>
          <p:nvPr/>
        </p:nvSpPr>
        <p:spPr>
          <a:xfrm>
            <a:off x="548640" y="2287851"/>
            <a:ext cx="3200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EECC"/>
                </a:solidFill>
                <a:latin typeface="Calibri"/>
                <a:ea typeface="Calibri"/>
                <a:cs typeface="Calibri"/>
                <a:sym typeface="Calibri"/>
              </a:rPr>
              <a:t>5 σενάρια</a:t>
            </a:r>
            <a:endParaRPr sz="1900"/>
          </a:p>
        </p:txBody>
      </p:sp>
      <p:sp>
        <p:nvSpPr>
          <p:cNvPr id="409" name="Google Shape;409;p16"/>
          <p:cNvSpPr txBox="1"/>
          <p:nvPr/>
        </p:nvSpPr>
        <p:spPr>
          <a:xfrm>
            <a:off x="548640" y="2830286"/>
            <a:ext cx="32004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FFCCAA"/>
                </a:solidFill>
                <a:latin typeface="Calibri"/>
                <a:ea typeface="Calibri"/>
                <a:cs typeface="Calibri"/>
                <a:sym typeface="Calibri"/>
              </a:rPr>
              <a:t>Άνεμος: 9–14 m/s </a:t>
            </a:r>
            <a:br>
              <a:rPr i="1" lang="en-US" sz="1600">
                <a:solidFill>
                  <a:srgbClr val="FFCCAA"/>
                </a:solidFill>
                <a:latin typeface="Calibri"/>
                <a:ea typeface="Calibri"/>
                <a:cs typeface="Calibri"/>
                <a:sym typeface="Calibri"/>
              </a:rPr>
            </a:br>
            <a:r>
              <a:rPr i="1" lang="en-US" sz="1600">
                <a:solidFill>
                  <a:srgbClr val="FFCCAA"/>
                </a:solidFill>
                <a:latin typeface="Calibri"/>
                <a:ea typeface="Calibri"/>
                <a:cs typeface="Calibri"/>
                <a:sym typeface="Calibri"/>
              </a:rPr>
              <a:t>· ROS: 0.50–0.72 </a:t>
            </a:r>
            <a:br>
              <a:rPr i="1" lang="en-US" sz="1600">
                <a:solidFill>
                  <a:srgbClr val="FFCCAA"/>
                </a:solidFill>
                <a:latin typeface="Calibri"/>
                <a:ea typeface="Calibri"/>
                <a:cs typeface="Calibri"/>
                <a:sym typeface="Calibri"/>
              </a:rPr>
            </a:br>
            <a:r>
              <a:rPr i="1" lang="en-US" sz="1600">
                <a:solidFill>
                  <a:srgbClr val="FFCCAA"/>
                </a:solidFill>
                <a:latin typeface="Calibri"/>
                <a:ea typeface="Calibri"/>
                <a:cs typeface="Calibri"/>
                <a:sym typeface="Calibri"/>
              </a:rPr>
              <a:t>· Πολίτες: 35–50</a:t>
            </a:r>
            <a:endParaRPr sz="1600"/>
          </a:p>
        </p:txBody>
      </p:sp>
      <p:sp>
        <p:nvSpPr>
          <p:cNvPr id="410" name="Google Shape;410;p16"/>
          <p:cNvSpPr/>
          <p:nvPr/>
        </p:nvSpPr>
        <p:spPr>
          <a:xfrm>
            <a:off x="502920" y="2697480"/>
            <a:ext cx="329184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16"/>
          <p:cNvSpPr txBox="1"/>
          <p:nvPr/>
        </p:nvSpPr>
        <p:spPr>
          <a:xfrm>
            <a:off x="521197" y="3813358"/>
            <a:ext cx="3200400" cy="1169700"/>
          </a:xfrm>
          <a:prstGeom prst="rect">
            <a:avLst/>
          </a:prstGeom>
          <a:noFill/>
          <a:ln>
            <a:noFill/>
          </a:ln>
        </p:spPr>
        <p:txBody>
          <a:bodyPr anchorCtr="0" anchor="t" bIns="45700" lIns="91425" spcFirstLastPara="1" rIns="91425" wrap="square" tIns="45700">
            <a:spAutoFit/>
          </a:bodyPr>
          <a:lstStyle/>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Bages (Ισπανία)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Var (Γαλλία)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Πεντέλη (Αθήνα)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Corte (Κορσική)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Pisan Hills (Τοσκάνη)</a:t>
            </a:r>
            <a:endParaRPr/>
          </a:p>
        </p:txBody>
      </p:sp>
      <p:sp>
        <p:nvSpPr>
          <p:cNvPr id="412" name="Google Shape;412;p16"/>
          <p:cNvSpPr/>
          <p:nvPr/>
        </p:nvSpPr>
        <p:spPr>
          <a:xfrm>
            <a:off x="4069080" y="1234440"/>
            <a:ext cx="3474720" cy="4754880"/>
          </a:xfrm>
          <a:prstGeom prst="rect">
            <a:avLst/>
          </a:prstGeom>
          <a:solidFill>
            <a:srgbClr val="CC8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16"/>
          <p:cNvSpPr txBox="1"/>
          <p:nvPr/>
        </p:nvSpPr>
        <p:spPr>
          <a:xfrm>
            <a:off x="4206240" y="1307592"/>
            <a:ext cx="32004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US" sz="2000" u="none" cap="none" strike="noStrike">
                <a:solidFill>
                  <a:srgbClr val="FFFFFF"/>
                </a:solidFill>
                <a:latin typeface="Calibri"/>
                <a:ea typeface="Calibri"/>
                <a:cs typeface="Calibri"/>
                <a:sym typeface="Calibri"/>
              </a:rPr>
              <a:t>Φάση 2</a:t>
            </a:r>
            <a:br>
              <a:rPr b="1" i="0" lang="en-US" sz="2000" u="none" cap="none" strike="noStrike">
                <a:solidFill>
                  <a:srgbClr val="FFFFFF"/>
                </a:solidFill>
                <a:latin typeface="Calibri"/>
                <a:ea typeface="Calibri"/>
                <a:cs typeface="Calibri"/>
                <a:sym typeface="Calibri"/>
              </a:rPr>
            </a:br>
            <a:r>
              <a:rPr b="1" i="0" lang="en-US" sz="2000" u="none" cap="none" strike="noStrike">
                <a:solidFill>
                  <a:srgbClr val="FFFFFF"/>
                </a:solidFill>
                <a:latin typeface="Calibri"/>
                <a:ea typeface="Calibri"/>
                <a:cs typeface="Calibri"/>
                <a:sym typeface="Calibri"/>
              </a:rPr>
              <a:t>Επεισόδια 80</a:t>
            </a:r>
            <a:r>
              <a:rPr b="1" lang="en-US" sz="2000">
                <a:solidFill>
                  <a:srgbClr val="FFFFFF"/>
                </a:solidFill>
                <a:latin typeface="Calibri"/>
                <a:ea typeface="Calibri"/>
                <a:cs typeface="Calibri"/>
                <a:sym typeface="Calibri"/>
              </a:rPr>
              <a:t>1</a:t>
            </a:r>
            <a:r>
              <a:rPr b="1" i="0" lang="en-US" sz="2000" u="none" cap="none" strike="noStrike">
                <a:solidFill>
                  <a:srgbClr val="FFFFFF"/>
                </a:solidFill>
                <a:latin typeface="Calibri"/>
                <a:ea typeface="Calibri"/>
                <a:cs typeface="Calibri"/>
                <a:sym typeface="Calibri"/>
              </a:rPr>
              <a:t>–2</a:t>
            </a:r>
            <a:r>
              <a:rPr b="1" i="0" lang="en-US" sz="2000" u="none" cap="none" strike="noStrike">
                <a:solidFill>
                  <a:srgbClr val="FFFFFF"/>
                </a:solidFill>
                <a:latin typeface="Calibri"/>
                <a:ea typeface="Calibri"/>
                <a:cs typeface="Calibri"/>
                <a:sym typeface="Calibri"/>
              </a:rPr>
              <a:t>400</a:t>
            </a:r>
            <a:endParaRPr sz="2000"/>
          </a:p>
        </p:txBody>
      </p:sp>
      <p:sp>
        <p:nvSpPr>
          <p:cNvPr id="414" name="Google Shape;414;p16"/>
          <p:cNvSpPr txBox="1"/>
          <p:nvPr/>
        </p:nvSpPr>
        <p:spPr>
          <a:xfrm>
            <a:off x="4206240" y="2321868"/>
            <a:ext cx="3200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EECC"/>
                </a:solidFill>
                <a:latin typeface="Calibri"/>
                <a:ea typeface="Calibri"/>
                <a:cs typeface="Calibri"/>
                <a:sym typeface="Calibri"/>
              </a:rPr>
              <a:t>5 + 8 = 13 </a:t>
            </a:r>
            <a:r>
              <a:rPr b="0" i="0" lang="en-US" sz="1800" u="none" cap="none" strike="noStrike">
                <a:solidFill>
                  <a:srgbClr val="FFEECC"/>
                </a:solidFill>
                <a:latin typeface="Calibri"/>
                <a:ea typeface="Calibri"/>
                <a:cs typeface="Calibri"/>
                <a:sym typeface="Calibri"/>
              </a:rPr>
              <a:t>σενάρια</a:t>
            </a:r>
            <a:endParaRPr sz="1900"/>
          </a:p>
        </p:txBody>
      </p:sp>
      <p:sp>
        <p:nvSpPr>
          <p:cNvPr id="415" name="Google Shape;415;p16"/>
          <p:cNvSpPr txBox="1"/>
          <p:nvPr/>
        </p:nvSpPr>
        <p:spPr>
          <a:xfrm>
            <a:off x="4206240" y="2830268"/>
            <a:ext cx="32004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FFCCAA"/>
                </a:solidFill>
                <a:latin typeface="Calibri"/>
                <a:ea typeface="Calibri"/>
                <a:cs typeface="Calibri"/>
                <a:sym typeface="Calibri"/>
              </a:rPr>
              <a:t>Άνεμος: 10–17 m/s </a:t>
            </a:r>
            <a:br>
              <a:rPr i="1" lang="en-US" sz="1600">
                <a:solidFill>
                  <a:srgbClr val="FFCCAA"/>
                </a:solidFill>
                <a:latin typeface="Calibri"/>
                <a:ea typeface="Calibri"/>
                <a:cs typeface="Calibri"/>
                <a:sym typeface="Calibri"/>
              </a:rPr>
            </a:br>
            <a:r>
              <a:rPr i="1" lang="en-US" sz="1600">
                <a:solidFill>
                  <a:srgbClr val="FFCCAA"/>
                </a:solidFill>
                <a:latin typeface="Calibri"/>
                <a:ea typeface="Calibri"/>
                <a:cs typeface="Calibri"/>
                <a:sym typeface="Calibri"/>
              </a:rPr>
              <a:t>· ROS: 0.70–0.90 </a:t>
            </a:r>
            <a:br>
              <a:rPr i="1" lang="en-US" sz="1600">
                <a:solidFill>
                  <a:srgbClr val="FFCCAA"/>
                </a:solidFill>
                <a:latin typeface="Calibri"/>
                <a:ea typeface="Calibri"/>
                <a:cs typeface="Calibri"/>
                <a:sym typeface="Calibri"/>
              </a:rPr>
            </a:br>
            <a:r>
              <a:rPr i="1" lang="en-US" sz="1600">
                <a:solidFill>
                  <a:srgbClr val="FFCCAA"/>
                </a:solidFill>
                <a:latin typeface="Calibri"/>
                <a:ea typeface="Calibri"/>
                <a:cs typeface="Calibri"/>
                <a:sym typeface="Calibri"/>
              </a:rPr>
              <a:t>· Πολίτες: 45–80</a:t>
            </a:r>
            <a:endParaRPr sz="1600"/>
          </a:p>
        </p:txBody>
      </p:sp>
      <p:sp>
        <p:nvSpPr>
          <p:cNvPr id="416" name="Google Shape;416;p16"/>
          <p:cNvSpPr/>
          <p:nvPr/>
        </p:nvSpPr>
        <p:spPr>
          <a:xfrm>
            <a:off x="4160520" y="2697480"/>
            <a:ext cx="329184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16"/>
          <p:cNvSpPr txBox="1"/>
          <p:nvPr/>
        </p:nvSpPr>
        <p:spPr>
          <a:xfrm>
            <a:off x="4206235" y="3800131"/>
            <a:ext cx="3200400" cy="2031900"/>
          </a:xfrm>
          <a:prstGeom prst="rect">
            <a:avLst/>
          </a:prstGeom>
          <a:noFill/>
          <a:ln>
            <a:noFill/>
          </a:ln>
        </p:spPr>
        <p:txBody>
          <a:bodyPr anchorCtr="0" anchor="t" bIns="45700" lIns="91425" spcFirstLastPara="1" rIns="91425" wrap="square" tIns="45700">
            <a:spAutoFit/>
          </a:bodyPr>
          <a:lstStyle/>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Manavgat (Τουρκία)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Ρόδος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Κινέτα (Κόρινθος)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Βαρυμπόμπη (Αθήνα)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Δαδιά (Έβρος)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 </a:t>
            </a:r>
            <a:r>
              <a:rPr lang="en-US">
                <a:solidFill>
                  <a:srgbClr val="FFFFFF"/>
                </a:solidFill>
                <a:latin typeface="Calibri"/>
                <a:ea typeface="Calibri"/>
                <a:cs typeface="Calibri"/>
                <a:sym typeface="Calibri"/>
              </a:rPr>
              <a:t>C</a:t>
            </a:r>
            <a:r>
              <a:rPr lang="en-US">
                <a:solidFill>
                  <a:srgbClr val="FFFFFF"/>
                </a:solidFill>
                <a:latin typeface="Calibri"/>
                <a:ea typeface="Calibri"/>
                <a:cs typeface="Calibri"/>
                <a:sym typeface="Calibri"/>
              </a:rPr>
              <a:t>armel (Ισραήλ)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Dwellingup (Δ. Αυστραλία) </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Monchique (Πορτογαλία)</a:t>
            </a:r>
            <a:endParaRPr>
              <a:solidFill>
                <a:srgbClr val="FFFFFF"/>
              </a:solidFill>
              <a:latin typeface="Calibri"/>
              <a:ea typeface="Calibri"/>
              <a:cs typeface="Calibri"/>
              <a:sym typeface="Calibri"/>
            </a:endParaRPr>
          </a:p>
          <a:p>
            <a:pPr indent="0" lvl="0" marL="0" marR="0" rtl="0" algn="l">
              <a:spcBef>
                <a:spcPts val="0"/>
              </a:spcBef>
              <a:spcAft>
                <a:spcPts val="0"/>
              </a:spcAft>
              <a:buNone/>
            </a:pPr>
            <a:r>
              <a:t/>
            </a:r>
            <a:endParaRPr>
              <a:solidFill>
                <a:srgbClr val="FFFFFF"/>
              </a:solidFill>
              <a:latin typeface="Calibri"/>
              <a:ea typeface="Calibri"/>
              <a:cs typeface="Calibri"/>
              <a:sym typeface="Calibri"/>
            </a:endParaRPr>
          </a:p>
        </p:txBody>
      </p:sp>
      <p:sp>
        <p:nvSpPr>
          <p:cNvPr id="418" name="Google Shape;418;p16"/>
          <p:cNvSpPr/>
          <p:nvPr/>
        </p:nvSpPr>
        <p:spPr>
          <a:xfrm>
            <a:off x="7726680" y="1234440"/>
            <a:ext cx="3474720" cy="475488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9" name="Google Shape;419;p16"/>
          <p:cNvSpPr txBox="1"/>
          <p:nvPr/>
        </p:nvSpPr>
        <p:spPr>
          <a:xfrm>
            <a:off x="7863840" y="1307592"/>
            <a:ext cx="32004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US" sz="2000" u="none" cap="none" strike="noStrike">
                <a:solidFill>
                  <a:srgbClr val="FFFFFF"/>
                </a:solidFill>
                <a:latin typeface="Calibri"/>
                <a:ea typeface="Calibri"/>
                <a:cs typeface="Calibri"/>
                <a:sym typeface="Calibri"/>
              </a:rPr>
              <a:t>Φάση 3</a:t>
            </a:r>
            <a:br>
              <a:rPr b="1" i="0" lang="en-US" sz="2000" u="none" cap="none" strike="noStrike">
                <a:solidFill>
                  <a:srgbClr val="FFFFFF"/>
                </a:solidFill>
                <a:latin typeface="Calibri"/>
                <a:ea typeface="Calibri"/>
                <a:cs typeface="Calibri"/>
                <a:sym typeface="Calibri"/>
              </a:rPr>
            </a:br>
            <a:r>
              <a:rPr b="1" i="0" lang="en-US" sz="2000" u="none" cap="none" strike="noStrike">
                <a:solidFill>
                  <a:srgbClr val="FFFFFF"/>
                </a:solidFill>
                <a:latin typeface="Calibri"/>
                <a:ea typeface="Calibri"/>
                <a:cs typeface="Calibri"/>
                <a:sym typeface="Calibri"/>
              </a:rPr>
              <a:t>Επεισόδια 240</a:t>
            </a:r>
            <a:r>
              <a:rPr b="1" lang="en-US" sz="2000">
                <a:solidFill>
                  <a:srgbClr val="FFFFFF"/>
                </a:solidFill>
                <a:latin typeface="Calibri"/>
                <a:ea typeface="Calibri"/>
                <a:cs typeface="Calibri"/>
                <a:sym typeface="Calibri"/>
              </a:rPr>
              <a:t>1</a:t>
            </a:r>
            <a:r>
              <a:rPr b="1" i="0" lang="en-US" sz="2000" u="none" cap="none" strike="noStrike">
                <a:solidFill>
                  <a:srgbClr val="FFFFFF"/>
                </a:solidFill>
                <a:latin typeface="Calibri"/>
                <a:ea typeface="Calibri"/>
                <a:cs typeface="Calibri"/>
                <a:sym typeface="Calibri"/>
              </a:rPr>
              <a:t>–</a:t>
            </a:r>
            <a:r>
              <a:rPr b="1" i="0" lang="en-US" sz="2000" u="none" cap="none" strike="noStrike">
                <a:solidFill>
                  <a:srgbClr val="FFFFFF"/>
                </a:solidFill>
                <a:latin typeface="Calibri"/>
                <a:ea typeface="Calibri"/>
                <a:cs typeface="Calibri"/>
                <a:sym typeface="Calibri"/>
              </a:rPr>
              <a:t>4000</a:t>
            </a:r>
            <a:endParaRPr sz="2000"/>
          </a:p>
        </p:txBody>
      </p:sp>
      <p:sp>
        <p:nvSpPr>
          <p:cNvPr id="420" name="Google Shape;420;p16"/>
          <p:cNvSpPr txBox="1"/>
          <p:nvPr/>
        </p:nvSpPr>
        <p:spPr>
          <a:xfrm>
            <a:off x="7863840" y="2304859"/>
            <a:ext cx="3200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EECC"/>
                </a:solidFill>
                <a:latin typeface="Calibri"/>
                <a:ea typeface="Calibri"/>
                <a:cs typeface="Calibri"/>
                <a:sym typeface="Calibri"/>
              </a:rPr>
              <a:t>5 + 8 + 10 = 23</a:t>
            </a:r>
            <a:r>
              <a:rPr b="0" i="0" lang="en-US" sz="1800" u="none" cap="none" strike="noStrike">
                <a:solidFill>
                  <a:srgbClr val="FFEECC"/>
                </a:solidFill>
                <a:latin typeface="Calibri"/>
                <a:ea typeface="Calibri"/>
                <a:cs typeface="Calibri"/>
                <a:sym typeface="Calibri"/>
              </a:rPr>
              <a:t> σενάρια</a:t>
            </a:r>
            <a:endParaRPr sz="1900"/>
          </a:p>
        </p:txBody>
      </p:sp>
      <p:sp>
        <p:nvSpPr>
          <p:cNvPr id="421" name="Google Shape;421;p16"/>
          <p:cNvSpPr txBox="1"/>
          <p:nvPr/>
        </p:nvSpPr>
        <p:spPr>
          <a:xfrm>
            <a:off x="7863815" y="2792620"/>
            <a:ext cx="32004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FFCCAA"/>
                </a:solidFill>
                <a:latin typeface="Calibri"/>
                <a:ea typeface="Calibri"/>
                <a:cs typeface="Calibri"/>
                <a:sym typeface="Calibri"/>
              </a:rPr>
              <a:t>Άνεμος: 15–28 m/s </a:t>
            </a:r>
            <a:endParaRPr i="1" sz="1600">
              <a:solidFill>
                <a:srgbClr val="FFCCAA"/>
              </a:solidFill>
              <a:latin typeface="Calibri"/>
              <a:ea typeface="Calibri"/>
              <a:cs typeface="Calibri"/>
              <a:sym typeface="Calibri"/>
            </a:endParaRPr>
          </a:p>
          <a:p>
            <a:pPr indent="0" lvl="0" marL="0" marR="0" rtl="0" algn="l">
              <a:spcBef>
                <a:spcPts val="0"/>
              </a:spcBef>
              <a:spcAft>
                <a:spcPts val="0"/>
              </a:spcAft>
              <a:buNone/>
            </a:pPr>
            <a:r>
              <a:rPr i="1" lang="en-US" sz="1600">
                <a:solidFill>
                  <a:srgbClr val="FFCCAA"/>
                </a:solidFill>
                <a:latin typeface="Calibri"/>
                <a:ea typeface="Calibri"/>
                <a:cs typeface="Calibri"/>
                <a:sym typeface="Calibri"/>
              </a:rPr>
              <a:t>· ROS: 0.95–1.20 </a:t>
            </a:r>
            <a:endParaRPr i="1" sz="1600">
              <a:solidFill>
                <a:srgbClr val="FFCCAA"/>
              </a:solidFill>
              <a:latin typeface="Calibri"/>
              <a:ea typeface="Calibri"/>
              <a:cs typeface="Calibri"/>
              <a:sym typeface="Calibri"/>
            </a:endParaRPr>
          </a:p>
          <a:p>
            <a:pPr indent="0" lvl="0" marL="0" marR="0" rtl="0" algn="l">
              <a:spcBef>
                <a:spcPts val="0"/>
              </a:spcBef>
              <a:spcAft>
                <a:spcPts val="0"/>
              </a:spcAft>
              <a:buNone/>
            </a:pPr>
            <a:r>
              <a:rPr i="1" lang="en-US" sz="1600">
                <a:solidFill>
                  <a:srgbClr val="FFCCAA"/>
                </a:solidFill>
                <a:latin typeface="Calibri"/>
                <a:ea typeface="Calibri"/>
                <a:cs typeface="Calibri"/>
                <a:sym typeface="Calibri"/>
              </a:rPr>
              <a:t>· Πολίτες: 55–90</a:t>
            </a:r>
            <a:endParaRPr sz="1600"/>
          </a:p>
        </p:txBody>
      </p:sp>
      <p:sp>
        <p:nvSpPr>
          <p:cNvPr id="422" name="Google Shape;422;p16"/>
          <p:cNvSpPr/>
          <p:nvPr/>
        </p:nvSpPr>
        <p:spPr>
          <a:xfrm>
            <a:off x="7818120" y="2697480"/>
            <a:ext cx="329184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16"/>
          <p:cNvSpPr txBox="1"/>
          <p:nvPr/>
        </p:nvSpPr>
        <p:spPr>
          <a:xfrm>
            <a:off x="7891272" y="3725082"/>
            <a:ext cx="3200400" cy="2462700"/>
          </a:xfrm>
          <a:prstGeom prst="rect">
            <a:avLst/>
          </a:prstGeom>
          <a:noFill/>
          <a:ln>
            <a:noFill/>
          </a:ln>
        </p:spPr>
        <p:txBody>
          <a:bodyPr anchorCtr="0" anchor="t" bIns="45700" lIns="91425" spcFirstLastPara="1" rIns="91425" wrap="square" tIns="45700">
            <a:spAutoFit/>
          </a:bodyPr>
          <a:lstStyle/>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Fort McMurray (Αλμπέρτα)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Gospers Mountain (NSW)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Carr Fire (Redding CA) · Glass Fire (Napa CA)</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Woolsey Fire (Thousand Oaks CA)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 Thomas Fire (Ventura CA)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 Εύβοια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 Oristano (Σαρδηνία)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 Lytton Creek (BC) </a:t>
            </a:r>
            <a:endParaRPr>
              <a:solidFill>
                <a:srgbClr val="FFFFFF"/>
              </a:solidFill>
              <a:latin typeface="Calibri"/>
              <a:ea typeface="Calibri"/>
              <a:cs typeface="Calibri"/>
              <a:sym typeface="Calibri"/>
            </a:endParaRPr>
          </a:p>
          <a:p>
            <a:pPr indent="-317500" lvl="0" marL="457200" marR="0" rtl="0" algn="l">
              <a:spcBef>
                <a:spcPts val="0"/>
              </a:spcBef>
              <a:spcAft>
                <a:spcPts val="0"/>
              </a:spcAft>
              <a:buClr>
                <a:srgbClr val="FFFFFF"/>
              </a:buClr>
              <a:buSzPts val="1400"/>
              <a:buFont typeface="Calibri"/>
              <a:buChar char="●"/>
            </a:pPr>
            <a:r>
              <a:rPr lang="en-US">
                <a:solidFill>
                  <a:srgbClr val="FFFFFF"/>
                </a:solidFill>
                <a:latin typeface="Calibri"/>
                <a:ea typeface="Calibri"/>
                <a:cs typeface="Calibri"/>
                <a:sym typeface="Calibri"/>
              </a:rPr>
              <a:t> Knysna (Ν. Αφρική)</a:t>
            </a:r>
            <a:endParaRPr>
              <a:solidFill>
                <a:srgbClr val="FFFFFF"/>
              </a:solidFill>
              <a:latin typeface="Calibri"/>
              <a:ea typeface="Calibri"/>
              <a:cs typeface="Calibri"/>
              <a:sym typeface="Calibri"/>
            </a:endParaRPr>
          </a:p>
          <a:p>
            <a:pPr indent="0" lvl="0" marL="0" marR="0" rtl="0" algn="l">
              <a:spcBef>
                <a:spcPts val="0"/>
              </a:spcBef>
              <a:spcAft>
                <a:spcPts val="0"/>
              </a:spcAft>
              <a:buNone/>
            </a:pPr>
            <a:r>
              <a:t/>
            </a:r>
            <a:endParaRPr>
              <a:solidFill>
                <a:srgbClr val="FFFFFF"/>
              </a:solidFill>
              <a:latin typeface="Calibri"/>
              <a:ea typeface="Calibri"/>
              <a:cs typeface="Calibri"/>
              <a:sym typeface="Calibri"/>
            </a:endParaRPr>
          </a:p>
        </p:txBody>
      </p:sp>
      <p:sp>
        <p:nvSpPr>
          <p:cNvPr id="424" name="Google Shape;424;p16"/>
          <p:cNvSpPr txBox="1"/>
          <p:nvPr/>
        </p:nvSpPr>
        <p:spPr>
          <a:xfrm>
            <a:off x="7891272" y="6025896"/>
            <a:ext cx="3200400" cy="4023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Calibri"/>
                <a:ea typeface="Calibri"/>
                <a:cs typeface="Calibri"/>
                <a:sym typeface="Calibri"/>
              </a:rPr>
              <a:t>▸  Glass Fire</a:t>
            </a:r>
            <a:endParaRPr/>
          </a:p>
        </p:txBody>
      </p:sp>
      <p:sp>
        <p:nvSpPr>
          <p:cNvPr id="425" name="Google Shape;425;p16"/>
          <p:cNvSpPr txBox="1"/>
          <p:nvPr/>
        </p:nvSpPr>
        <p:spPr>
          <a:xfrm>
            <a:off x="7891272" y="6428232"/>
            <a:ext cx="3200400" cy="4023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Calibri"/>
                <a:ea typeface="Calibri"/>
                <a:cs typeface="Calibri"/>
                <a:sym typeface="Calibri"/>
              </a:rPr>
              <a:t>▸  Woolsey Fire</a:t>
            </a:r>
            <a:endParaRPr/>
          </a:p>
        </p:txBody>
      </p:sp>
      <p:sp>
        <p:nvSpPr>
          <p:cNvPr id="426" name="Google Shape;426;p16"/>
          <p:cNvSpPr txBox="1"/>
          <p:nvPr/>
        </p:nvSpPr>
        <p:spPr>
          <a:xfrm>
            <a:off x="551229" y="5984668"/>
            <a:ext cx="110865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1A2A4A"/>
                </a:solidFill>
                <a:latin typeface="Calibri"/>
                <a:ea typeface="Calibri"/>
                <a:cs typeface="Calibri"/>
                <a:sym typeface="Calibri"/>
              </a:rPr>
              <a:t>Εκτός εκπαίδευσης (αποκλειστικά για αξιολόγηση):  </a:t>
            </a:r>
            <a:r>
              <a:rPr b="1" lang="en-US" sz="1600">
                <a:solidFill>
                  <a:srgbClr val="1A2A4A"/>
                </a:solidFill>
                <a:latin typeface="Calibri"/>
                <a:ea typeface="Calibri"/>
                <a:cs typeface="Calibri"/>
                <a:sym typeface="Calibri"/>
              </a:rPr>
              <a:t>Μάτι (Αθήνα) · Camp Fire (Καλιφόρνια) · Pedrógão Grande</a:t>
            </a:r>
            <a:r>
              <a:rPr b="1" lang="en-US" sz="1600">
                <a:solidFill>
                  <a:srgbClr val="1A2A4A"/>
                </a:solidFill>
                <a:latin typeface="Calibri"/>
                <a:ea typeface="Calibri"/>
                <a:cs typeface="Calibri"/>
                <a:sym typeface="Calibri"/>
              </a:rPr>
              <a:t> </a:t>
            </a:r>
            <a:r>
              <a:rPr b="1" lang="en-US" sz="1600">
                <a:solidFill>
                  <a:srgbClr val="1A2A4A"/>
                </a:solidFill>
                <a:latin typeface="Calibri"/>
                <a:ea typeface="Calibri"/>
                <a:cs typeface="Calibri"/>
                <a:sym typeface="Calibri"/>
              </a:rPr>
              <a:t>(Πορτογαλία) · Αλεξανδρούπολη (Έβρος) · Lahaina (Χαβάη) · Black Saturday (Βικτώρια) · Tubbs (Napa CA) · Πελοπόννησος · Valparaíso (Χιλή) </a:t>
            </a:r>
            <a:endParaRPr b="1" sz="1600">
              <a:solidFill>
                <a:srgbClr val="1A2A4A"/>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18"/>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3" name="Google Shape;433;p18"/>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4" name="Google Shape;434;p18"/>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18"/>
          <p:cNvSpPr txBox="1"/>
          <p:nvPr/>
        </p:nvSpPr>
        <p:spPr>
          <a:xfrm>
            <a:off x="164592" y="19349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Μεθοδολογία Πειραμάτων</a:t>
            </a:r>
            <a:endParaRPr sz="3500"/>
          </a:p>
        </p:txBody>
      </p:sp>
      <p:sp>
        <p:nvSpPr>
          <p:cNvPr id="436" name="Google Shape;436;p18"/>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18"/>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438" name="Google Shape;438;p18"/>
          <p:cNvSpPr/>
          <p:nvPr/>
        </p:nvSpPr>
        <p:spPr>
          <a:xfrm>
            <a:off x="411475" y="1234451"/>
            <a:ext cx="2651700" cy="45861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18"/>
          <p:cNvSpPr txBox="1"/>
          <p:nvPr/>
        </p:nvSpPr>
        <p:spPr>
          <a:xfrm>
            <a:off x="548640" y="1520272"/>
            <a:ext cx="2377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Μοντέλο ML Hurdle</a:t>
            </a:r>
            <a:endParaRPr sz="2000"/>
          </a:p>
        </p:txBody>
      </p:sp>
      <p:sp>
        <p:nvSpPr>
          <p:cNvPr id="440" name="Google Shape;440;p18"/>
          <p:cNvSpPr/>
          <p:nvPr/>
        </p:nvSpPr>
        <p:spPr>
          <a:xfrm>
            <a:off x="502920" y="2167128"/>
            <a:ext cx="246888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1" name="Google Shape;441;p18"/>
          <p:cNvSpPr txBox="1"/>
          <p:nvPr/>
        </p:nvSpPr>
        <p:spPr>
          <a:xfrm>
            <a:off x="456046" y="2541134"/>
            <a:ext cx="2743200" cy="2716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550">
                <a:solidFill>
                  <a:srgbClr val="FFFFFF"/>
                </a:solidFill>
                <a:latin typeface="Calibri"/>
                <a:ea typeface="Calibri"/>
                <a:cs typeface="Calibri"/>
                <a:sym typeface="Calibri"/>
              </a:rPr>
              <a:t>Μπορούμε να προβλέψουμε την έκβαση στη μέση της προσομοίωσης;</a:t>
            </a:r>
            <a:endParaRPr sz="1550">
              <a:solidFill>
                <a:srgbClr val="FFFFFF"/>
              </a:solidFill>
              <a:latin typeface="Calibri"/>
              <a:ea typeface="Calibri"/>
              <a:cs typeface="Calibri"/>
              <a:sym typeface="Calibri"/>
            </a:endParaRPr>
          </a:p>
          <a:p>
            <a:pPr indent="0" lvl="0" marL="0" rtl="0" algn="l">
              <a:spcBef>
                <a:spcPts val="0"/>
              </a:spcBef>
              <a:spcAft>
                <a:spcPts val="0"/>
              </a:spcAft>
              <a:buNone/>
            </a:pPr>
            <a:br>
              <a:rPr lang="en-US" sz="1550">
                <a:solidFill>
                  <a:srgbClr val="FFFFFF"/>
                </a:solidFill>
                <a:latin typeface="Calibri"/>
                <a:ea typeface="Calibri"/>
                <a:cs typeface="Calibri"/>
                <a:sym typeface="Calibri"/>
              </a:rPr>
            </a:b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  XGBoost δύο σταδίων</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βήμα 250/500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5-fold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αξιολόγηση σε 9 κρυφά συμβάντα</a:t>
            </a:r>
            <a:endParaRPr sz="1550">
              <a:solidFill>
                <a:srgbClr val="FFFFFF"/>
              </a:solidFill>
              <a:latin typeface="Calibri"/>
              <a:ea typeface="Calibri"/>
              <a:cs typeface="Calibri"/>
              <a:sym typeface="Calibri"/>
            </a:endParaRPr>
          </a:p>
          <a:p>
            <a:pPr indent="0" lvl="0" marL="0" rtl="0" algn="l">
              <a:spcBef>
                <a:spcPts val="0"/>
              </a:spcBef>
              <a:spcAft>
                <a:spcPts val="0"/>
              </a:spcAft>
              <a:buNone/>
            </a:pPr>
            <a:r>
              <a:t/>
            </a:r>
            <a:endParaRPr sz="1550">
              <a:solidFill>
                <a:srgbClr val="FFFFFF"/>
              </a:solidFill>
              <a:latin typeface="Calibri"/>
              <a:ea typeface="Calibri"/>
              <a:cs typeface="Calibri"/>
              <a:sym typeface="Calibri"/>
            </a:endParaRPr>
          </a:p>
        </p:txBody>
      </p:sp>
      <p:sp>
        <p:nvSpPr>
          <p:cNvPr id="442" name="Google Shape;442;p18"/>
          <p:cNvSpPr/>
          <p:nvPr/>
        </p:nvSpPr>
        <p:spPr>
          <a:xfrm>
            <a:off x="3291850" y="1234451"/>
            <a:ext cx="2651700" cy="45861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3" name="Google Shape;443;p18"/>
          <p:cNvSpPr txBox="1"/>
          <p:nvPr/>
        </p:nvSpPr>
        <p:spPr>
          <a:xfrm>
            <a:off x="3383275" y="1367180"/>
            <a:ext cx="25146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Επικύρωση Ιστορικών</a:t>
            </a:r>
            <a:r>
              <a:rPr b="1" lang="en-US" sz="2000">
                <a:solidFill>
                  <a:srgbClr val="FFFFFF"/>
                </a:solidFill>
                <a:latin typeface="Calibri"/>
                <a:ea typeface="Calibri"/>
                <a:cs typeface="Calibri"/>
                <a:sym typeface="Calibri"/>
              </a:rPr>
              <a:t> </a:t>
            </a:r>
            <a:r>
              <a:rPr b="1" i="0" lang="en-US" sz="2000" u="none" cap="none" strike="noStrike">
                <a:solidFill>
                  <a:srgbClr val="FFFFFF"/>
                </a:solidFill>
                <a:latin typeface="Calibri"/>
                <a:ea typeface="Calibri"/>
                <a:cs typeface="Calibri"/>
                <a:sym typeface="Calibri"/>
              </a:rPr>
              <a:t>Σ</a:t>
            </a:r>
            <a:r>
              <a:rPr b="1" lang="en-US" sz="2000">
                <a:solidFill>
                  <a:srgbClr val="FFFFFF"/>
                </a:solidFill>
                <a:latin typeface="Calibri"/>
                <a:ea typeface="Calibri"/>
                <a:cs typeface="Calibri"/>
                <a:sym typeface="Calibri"/>
              </a:rPr>
              <a:t>εναρίων</a:t>
            </a:r>
            <a:endParaRPr sz="2000"/>
          </a:p>
        </p:txBody>
      </p:sp>
      <p:sp>
        <p:nvSpPr>
          <p:cNvPr id="444" name="Google Shape;444;p18"/>
          <p:cNvSpPr/>
          <p:nvPr/>
        </p:nvSpPr>
        <p:spPr>
          <a:xfrm>
            <a:off x="3383280" y="2167128"/>
            <a:ext cx="246888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5" name="Google Shape;445;p18"/>
          <p:cNvSpPr txBox="1"/>
          <p:nvPr/>
        </p:nvSpPr>
        <p:spPr>
          <a:xfrm>
            <a:off x="3383188" y="2541125"/>
            <a:ext cx="2469000" cy="3193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550">
                <a:solidFill>
                  <a:srgbClr val="FFFFFF"/>
                </a:solidFill>
                <a:latin typeface="Calibri"/>
                <a:ea typeface="Calibri"/>
                <a:cs typeface="Calibri"/>
                <a:sym typeface="Calibri"/>
              </a:rPr>
              <a:t>Συμφωνεί η προσομοίωση με τα πραγματικά γεγονότα;</a:t>
            </a:r>
            <a:br>
              <a:rPr lang="en-US" sz="1550">
                <a:solidFill>
                  <a:srgbClr val="FFFFFF"/>
                </a:solidFill>
                <a:latin typeface="Calibri"/>
                <a:ea typeface="Calibri"/>
                <a:cs typeface="Calibri"/>
                <a:sym typeface="Calibri"/>
              </a:rPr>
            </a:br>
            <a:br>
              <a:rPr lang="en-US" sz="1550">
                <a:solidFill>
                  <a:srgbClr val="FFFFFF"/>
                </a:solidFill>
                <a:latin typeface="Calibri"/>
                <a:ea typeface="Calibri"/>
                <a:cs typeface="Calibri"/>
                <a:sym typeface="Calibri"/>
              </a:rPr>
            </a:br>
            <a:br>
              <a:rPr lang="en-US" sz="1550">
                <a:solidFill>
                  <a:srgbClr val="FFFFFF"/>
                </a:solidFill>
                <a:latin typeface="Calibri"/>
                <a:ea typeface="Calibri"/>
                <a:cs typeface="Calibri"/>
                <a:sym typeface="Calibri"/>
              </a:rPr>
            </a:b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 9 συμβάντα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50 εκτελέσεις το κάθε ένα</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κριτήριο: sim/doc ∈ [0.1, 10]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χωρική συμφωνία Jaccard/IoU</a:t>
            </a:r>
            <a:endParaRPr sz="1550">
              <a:solidFill>
                <a:srgbClr val="FFFFFF"/>
              </a:solidFill>
              <a:latin typeface="Calibri"/>
              <a:ea typeface="Calibri"/>
              <a:cs typeface="Calibri"/>
              <a:sym typeface="Calibri"/>
            </a:endParaRPr>
          </a:p>
          <a:p>
            <a:pPr indent="0" lvl="0" marL="0" rtl="0" algn="l">
              <a:spcBef>
                <a:spcPts val="0"/>
              </a:spcBef>
              <a:spcAft>
                <a:spcPts val="0"/>
              </a:spcAft>
              <a:buNone/>
            </a:pPr>
            <a:r>
              <a:t/>
            </a:r>
            <a:endParaRPr sz="1550">
              <a:solidFill>
                <a:srgbClr val="FFFFFF"/>
              </a:solidFill>
              <a:latin typeface="Calibri"/>
              <a:ea typeface="Calibri"/>
              <a:cs typeface="Calibri"/>
              <a:sym typeface="Calibri"/>
            </a:endParaRPr>
          </a:p>
        </p:txBody>
      </p:sp>
      <p:sp>
        <p:nvSpPr>
          <p:cNvPr id="446" name="Google Shape;446;p18"/>
          <p:cNvSpPr/>
          <p:nvPr/>
        </p:nvSpPr>
        <p:spPr>
          <a:xfrm>
            <a:off x="6172200" y="1234451"/>
            <a:ext cx="2651700" cy="45861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18"/>
          <p:cNvSpPr txBox="1"/>
          <p:nvPr/>
        </p:nvSpPr>
        <p:spPr>
          <a:xfrm>
            <a:off x="6513467" y="1503263"/>
            <a:ext cx="2377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Μελέτη Ablation</a:t>
            </a:r>
            <a:endParaRPr sz="2000"/>
          </a:p>
        </p:txBody>
      </p:sp>
      <p:sp>
        <p:nvSpPr>
          <p:cNvPr id="448" name="Google Shape;448;p18"/>
          <p:cNvSpPr/>
          <p:nvPr/>
        </p:nvSpPr>
        <p:spPr>
          <a:xfrm>
            <a:off x="6263640" y="2167128"/>
            <a:ext cx="246888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9" name="Google Shape;449;p18"/>
          <p:cNvSpPr txBox="1"/>
          <p:nvPr/>
        </p:nvSpPr>
        <p:spPr>
          <a:xfrm>
            <a:off x="6286500" y="2541125"/>
            <a:ext cx="2514600" cy="3432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550">
                <a:solidFill>
                  <a:srgbClr val="FFFFFF"/>
                </a:solidFill>
                <a:latin typeface="Calibri"/>
                <a:ea typeface="Calibri"/>
                <a:cs typeface="Calibri"/>
                <a:sym typeface="Calibri"/>
              </a:rPr>
              <a:t>Τι συνεισφέρει κάθε συστατικό του συστήματος;</a:t>
            </a:r>
            <a:endParaRPr sz="1550">
              <a:solidFill>
                <a:srgbClr val="FFFFFF"/>
              </a:solidFill>
              <a:latin typeface="Calibri"/>
              <a:ea typeface="Calibri"/>
              <a:cs typeface="Calibri"/>
              <a:sym typeface="Calibri"/>
            </a:endParaRPr>
          </a:p>
          <a:p>
            <a:pPr indent="0" lvl="0" marL="0" rtl="0" algn="l">
              <a:spcBef>
                <a:spcPts val="0"/>
              </a:spcBef>
              <a:spcAft>
                <a:spcPts val="0"/>
              </a:spcAft>
              <a:buNone/>
            </a:pPr>
            <a:br>
              <a:rPr lang="en-US" sz="1550">
                <a:solidFill>
                  <a:srgbClr val="FFFFFF"/>
                </a:solidFill>
                <a:latin typeface="Calibri"/>
                <a:ea typeface="Calibri"/>
                <a:cs typeface="Calibri"/>
                <a:sym typeface="Calibri"/>
              </a:rPr>
            </a:br>
            <a:br>
              <a:rPr lang="en-US" sz="1550">
                <a:solidFill>
                  <a:srgbClr val="FFFFFF"/>
                </a:solidFill>
                <a:latin typeface="Calibri"/>
                <a:ea typeface="Calibri"/>
                <a:cs typeface="Calibri"/>
                <a:sym typeface="Calibri"/>
              </a:rPr>
            </a:b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4 συνθήκες × 100 εκτελέσεις </a:t>
            </a:r>
            <a:endParaRPr sz="1550">
              <a:solidFill>
                <a:srgbClr val="FFFFFF"/>
              </a:solidFill>
              <a:latin typeface="Calibri"/>
              <a:ea typeface="Calibri"/>
              <a:cs typeface="Calibri"/>
              <a:sym typeface="Calibri"/>
            </a:endParaRPr>
          </a:p>
          <a:p>
            <a:pPr indent="-327025" lvl="1" marL="9144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Πλήρες σύστημα</a:t>
            </a:r>
            <a:endParaRPr sz="1550">
              <a:solidFill>
                <a:srgbClr val="FFFFFF"/>
              </a:solidFill>
              <a:latin typeface="Calibri"/>
              <a:ea typeface="Calibri"/>
              <a:cs typeface="Calibri"/>
              <a:sym typeface="Calibri"/>
            </a:endParaRPr>
          </a:p>
          <a:p>
            <a:pPr indent="-327025" lvl="1" marL="9144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Χωρίς </a:t>
            </a:r>
            <a:r>
              <a:rPr lang="en-US" sz="1550">
                <a:solidFill>
                  <a:srgbClr val="FFFFFF"/>
                </a:solidFill>
                <a:latin typeface="Calibri"/>
                <a:ea typeface="Calibri"/>
                <a:cs typeface="Calibri"/>
                <a:sym typeface="Calibri"/>
              </a:rPr>
              <a:t>CNP</a:t>
            </a:r>
            <a:r>
              <a:rPr lang="en-US" sz="1550">
                <a:solidFill>
                  <a:srgbClr val="FFFFFF"/>
                </a:solidFill>
                <a:latin typeface="Calibri"/>
                <a:ea typeface="Calibri"/>
                <a:cs typeface="Calibri"/>
                <a:sym typeface="Calibri"/>
              </a:rPr>
              <a:t> </a:t>
            </a:r>
            <a:endParaRPr sz="1550">
              <a:solidFill>
                <a:srgbClr val="FFFFFF"/>
              </a:solidFill>
              <a:latin typeface="Calibri"/>
              <a:ea typeface="Calibri"/>
              <a:cs typeface="Calibri"/>
              <a:sym typeface="Calibri"/>
            </a:endParaRPr>
          </a:p>
          <a:p>
            <a:pPr indent="-327025" lvl="1" marL="9144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Χωρίς πανικό </a:t>
            </a:r>
            <a:endParaRPr sz="1550">
              <a:solidFill>
                <a:srgbClr val="FFFFFF"/>
              </a:solidFill>
              <a:latin typeface="Calibri"/>
              <a:ea typeface="Calibri"/>
              <a:cs typeface="Calibri"/>
              <a:sym typeface="Calibri"/>
            </a:endParaRPr>
          </a:p>
          <a:p>
            <a:pPr indent="-327025" lvl="1" marL="9144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Χωρίς CNP &amp; Πανικό</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Mann-Whitney U</a:t>
            </a:r>
            <a:endParaRPr sz="1550">
              <a:solidFill>
                <a:srgbClr val="FFFFFF"/>
              </a:solidFill>
              <a:latin typeface="Calibri"/>
              <a:ea typeface="Calibri"/>
              <a:cs typeface="Calibri"/>
              <a:sym typeface="Calibri"/>
            </a:endParaRPr>
          </a:p>
          <a:p>
            <a:pPr indent="0" lvl="0" marL="457200" rtl="0" algn="l">
              <a:spcBef>
                <a:spcPts val="0"/>
              </a:spcBef>
              <a:spcAft>
                <a:spcPts val="0"/>
              </a:spcAft>
              <a:buNone/>
            </a:pPr>
            <a:r>
              <a:t/>
            </a:r>
            <a:endParaRPr sz="1550">
              <a:solidFill>
                <a:srgbClr val="FFFFFF"/>
              </a:solidFill>
              <a:latin typeface="Calibri"/>
              <a:ea typeface="Calibri"/>
              <a:cs typeface="Calibri"/>
              <a:sym typeface="Calibri"/>
            </a:endParaRPr>
          </a:p>
        </p:txBody>
      </p:sp>
      <p:sp>
        <p:nvSpPr>
          <p:cNvPr id="450" name="Google Shape;450;p18"/>
          <p:cNvSpPr/>
          <p:nvPr/>
        </p:nvSpPr>
        <p:spPr>
          <a:xfrm>
            <a:off x="9052550" y="1234451"/>
            <a:ext cx="2651700" cy="4586100"/>
          </a:xfrm>
          <a:prstGeom prst="rect">
            <a:avLst/>
          </a:prstGeom>
          <a:solidFill>
            <a:srgbClr val="35653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18"/>
          <p:cNvSpPr txBox="1"/>
          <p:nvPr/>
        </p:nvSpPr>
        <p:spPr>
          <a:xfrm>
            <a:off x="9240747" y="1333173"/>
            <a:ext cx="23775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Ανάλυση Ευαισθησίας Sobol</a:t>
            </a:r>
            <a:endParaRPr sz="2000"/>
          </a:p>
        </p:txBody>
      </p:sp>
      <p:sp>
        <p:nvSpPr>
          <p:cNvPr id="452" name="Google Shape;452;p18"/>
          <p:cNvSpPr/>
          <p:nvPr/>
        </p:nvSpPr>
        <p:spPr>
          <a:xfrm>
            <a:off x="9144000" y="2167128"/>
            <a:ext cx="2468880" cy="274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18"/>
          <p:cNvSpPr txBox="1"/>
          <p:nvPr/>
        </p:nvSpPr>
        <p:spPr>
          <a:xfrm>
            <a:off x="365760" y="6012398"/>
            <a:ext cx="114573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3A3A3A"/>
                </a:solidFill>
                <a:latin typeface="Calibri"/>
                <a:ea typeface="Calibri"/>
                <a:cs typeface="Calibri"/>
                <a:sym typeface="Calibri"/>
              </a:rPr>
              <a:t>MARL έναντι Βασικής Γραμμής (Κανόνων):  </a:t>
            </a:r>
            <a:r>
              <a:rPr b="1" i="0" lang="en-US" sz="1800" u="none" cap="none" strike="noStrike">
                <a:solidFill>
                  <a:srgbClr val="3A3A3A"/>
                </a:solidFill>
                <a:latin typeface="Calibri"/>
                <a:ea typeface="Calibri"/>
                <a:cs typeface="Calibri"/>
                <a:sym typeface="Calibri"/>
              </a:rPr>
              <a:t>Wilcoxon signed-rank + Bonferroni διόρθωση  (α = 0.05 / 32 = 0.00156)</a:t>
            </a:r>
            <a:endParaRPr sz="1800"/>
          </a:p>
        </p:txBody>
      </p:sp>
      <p:sp>
        <p:nvSpPr>
          <p:cNvPr id="454" name="Google Shape;454;p18"/>
          <p:cNvSpPr txBox="1"/>
          <p:nvPr/>
        </p:nvSpPr>
        <p:spPr>
          <a:xfrm>
            <a:off x="9177347" y="2540445"/>
            <a:ext cx="2423100" cy="2716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550">
                <a:solidFill>
                  <a:srgbClr val="FFFFFF"/>
                </a:solidFill>
                <a:latin typeface="Calibri"/>
                <a:ea typeface="Calibri"/>
                <a:cs typeface="Calibri"/>
                <a:sym typeface="Calibri"/>
              </a:rPr>
              <a:t>Ποιες παράμετροι επηρεάζουν περισσότερο το αποτέλεσμα;</a:t>
            </a:r>
            <a:br>
              <a:rPr lang="en-US" sz="1550">
                <a:solidFill>
                  <a:srgbClr val="FFFFFF"/>
                </a:solidFill>
                <a:latin typeface="Calibri"/>
                <a:ea typeface="Calibri"/>
                <a:cs typeface="Calibri"/>
                <a:sym typeface="Calibri"/>
              </a:rPr>
            </a:br>
            <a:endParaRPr sz="1550">
              <a:solidFill>
                <a:srgbClr val="FFFFFF"/>
              </a:solidFill>
              <a:latin typeface="Calibri"/>
              <a:ea typeface="Calibri"/>
              <a:cs typeface="Calibri"/>
              <a:sym typeface="Calibri"/>
            </a:endParaRPr>
          </a:p>
          <a:p>
            <a:pPr indent="0" lvl="0" marL="0" rtl="0" algn="l">
              <a:spcBef>
                <a:spcPts val="0"/>
              </a:spcBef>
              <a:spcAft>
                <a:spcPts val="0"/>
              </a:spcAft>
              <a:buNone/>
            </a:pPr>
            <a:r>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  6 παράμετροι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N=512 </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 7.168 αξιολογήσεις</a:t>
            </a:r>
            <a:endParaRPr sz="1550">
              <a:solidFill>
                <a:srgbClr val="FFFFFF"/>
              </a:solidFill>
              <a:latin typeface="Calibri"/>
              <a:ea typeface="Calibri"/>
              <a:cs typeface="Calibri"/>
              <a:sym typeface="Calibri"/>
            </a:endParaRPr>
          </a:p>
          <a:p>
            <a:pPr indent="-327025" lvl="0" marL="457200" rtl="0" algn="l">
              <a:spcBef>
                <a:spcPts val="0"/>
              </a:spcBef>
              <a:spcAft>
                <a:spcPts val="0"/>
              </a:spcAft>
              <a:buClr>
                <a:schemeClr val="lt1"/>
              </a:buClr>
              <a:buSzPts val="1550"/>
              <a:buFont typeface="Calibri"/>
              <a:buChar char="●"/>
            </a:pPr>
            <a:r>
              <a:rPr lang="en-US" sz="1550">
                <a:solidFill>
                  <a:srgbClr val="FFFFFF"/>
                </a:solidFill>
                <a:latin typeface="Calibri"/>
                <a:ea typeface="Calibri"/>
                <a:cs typeface="Calibri"/>
                <a:sym typeface="Calibri"/>
              </a:rPr>
              <a:t>δείκτες S₁ + S_T </a:t>
            </a:r>
            <a:endParaRPr sz="1550">
              <a:solidFill>
                <a:srgbClr val="FFFFFF"/>
              </a:solidFill>
              <a:latin typeface="Calibri"/>
              <a:ea typeface="Calibri"/>
              <a:cs typeface="Calibri"/>
              <a:sym typeface="Calibri"/>
            </a:endParaRPr>
          </a:p>
          <a:p>
            <a:pPr indent="0" lvl="0" marL="0" rtl="0" algn="l">
              <a:spcBef>
                <a:spcPts val="0"/>
              </a:spcBef>
              <a:spcAft>
                <a:spcPts val="0"/>
              </a:spcAft>
              <a:buNone/>
            </a:pPr>
            <a:r>
              <a:t/>
            </a:r>
            <a:endParaRPr sz="1550">
              <a:solidFill>
                <a:srgbClr val="FFFFFF"/>
              </a:solidFill>
              <a:latin typeface="Calibri"/>
              <a:ea typeface="Calibri"/>
              <a:cs typeface="Calibri"/>
              <a:sym typeface="Calibri"/>
            </a:endParaRPr>
          </a:p>
          <a:p>
            <a:pPr indent="0" lvl="0" marL="457200" rtl="0" algn="l">
              <a:spcBef>
                <a:spcPts val="0"/>
              </a:spcBef>
              <a:spcAft>
                <a:spcPts val="0"/>
              </a:spcAft>
              <a:buNone/>
            </a:pPr>
            <a:r>
              <a:t/>
            </a:r>
            <a:endParaRPr sz="1550">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9"/>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19"/>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2" name="Google Shape;462;p19"/>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19"/>
          <p:cNvSpPr txBox="1"/>
          <p:nvPr/>
        </p:nvSpPr>
        <p:spPr>
          <a:xfrm>
            <a:off x="164592" y="19349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Αποτελέσματα — Μοντέλο ML Hurdle</a:t>
            </a:r>
            <a:endParaRPr sz="3500"/>
          </a:p>
        </p:txBody>
      </p:sp>
      <p:sp>
        <p:nvSpPr>
          <p:cNvPr id="464" name="Google Shape;464;p19"/>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19"/>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466" name="Google Shape;466;p19"/>
          <p:cNvSpPr/>
          <p:nvPr/>
        </p:nvSpPr>
        <p:spPr>
          <a:xfrm>
            <a:off x="502920" y="1234440"/>
            <a:ext cx="3474720" cy="18288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19"/>
          <p:cNvSpPr txBox="1"/>
          <p:nvPr/>
        </p:nvSpPr>
        <p:spPr>
          <a:xfrm>
            <a:off x="640080" y="1273574"/>
            <a:ext cx="32004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AUC-ROC</a:t>
            </a:r>
            <a:endParaRPr>
              <a:solidFill>
                <a:srgbClr val="FFFFFF"/>
              </a:solidFill>
              <a:latin typeface="Calibri"/>
              <a:ea typeface="Calibri"/>
              <a:cs typeface="Calibri"/>
              <a:sym typeface="Calibri"/>
            </a:endParaRPr>
          </a:p>
        </p:txBody>
      </p:sp>
      <p:sp>
        <p:nvSpPr>
          <p:cNvPr id="468" name="Google Shape;468;p19"/>
          <p:cNvSpPr txBox="1"/>
          <p:nvPr/>
        </p:nvSpPr>
        <p:spPr>
          <a:xfrm>
            <a:off x="594360" y="1669515"/>
            <a:ext cx="32919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FFFFFF"/>
                </a:solidFill>
                <a:latin typeface="Calibri"/>
                <a:ea typeface="Calibri"/>
                <a:cs typeface="Calibri"/>
                <a:sym typeface="Calibri"/>
              </a:rPr>
              <a:t>0.984</a:t>
            </a:r>
            <a:endParaRPr/>
          </a:p>
        </p:txBody>
      </p:sp>
      <p:sp>
        <p:nvSpPr>
          <p:cNvPr id="469" name="Google Shape;469;p19"/>
          <p:cNvSpPr txBox="1"/>
          <p:nvPr/>
        </p:nvSpPr>
        <p:spPr>
          <a:xfrm>
            <a:off x="594360" y="2258568"/>
            <a:ext cx="32919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200" u="none" cap="none" strike="noStrike">
                <a:solidFill>
                  <a:srgbClr val="CCDDFF"/>
                </a:solidFill>
                <a:latin typeface="Calibri"/>
                <a:ea typeface="Calibri"/>
                <a:cs typeface="Calibri"/>
                <a:sym typeface="Calibri"/>
              </a:rPr>
              <a:t>SD = 0.003 	5-fold</a:t>
            </a:r>
            <a:endParaRPr/>
          </a:p>
        </p:txBody>
      </p:sp>
      <p:sp>
        <p:nvSpPr>
          <p:cNvPr id="470" name="Google Shape;470;p19"/>
          <p:cNvSpPr txBox="1"/>
          <p:nvPr/>
        </p:nvSpPr>
        <p:spPr>
          <a:xfrm>
            <a:off x="594360" y="2515689"/>
            <a:ext cx="3291900" cy="492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300">
                <a:solidFill>
                  <a:srgbClr val="FFFFFF"/>
                </a:solidFill>
                <a:latin typeface="Calibri"/>
                <a:ea typeface="Calibri"/>
                <a:cs typeface="Calibri"/>
                <a:sym typeface="Calibri"/>
              </a:rPr>
              <a:t>Εξαιρετική ικανότητα διάκρισης επικίνδυνων από ασφαλή σενάρια</a:t>
            </a:r>
            <a:endParaRPr sz="1600"/>
          </a:p>
        </p:txBody>
      </p:sp>
      <p:sp>
        <p:nvSpPr>
          <p:cNvPr id="471" name="Google Shape;471;p19"/>
          <p:cNvSpPr/>
          <p:nvPr/>
        </p:nvSpPr>
        <p:spPr>
          <a:xfrm>
            <a:off x="4297680" y="1234440"/>
            <a:ext cx="3474720" cy="18288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19"/>
          <p:cNvSpPr txBox="1"/>
          <p:nvPr/>
        </p:nvSpPr>
        <p:spPr>
          <a:xfrm>
            <a:off x="4434840" y="1307592"/>
            <a:ext cx="32004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MAE</a:t>
            </a:r>
            <a:endParaRPr sz="1800"/>
          </a:p>
        </p:txBody>
      </p:sp>
      <p:sp>
        <p:nvSpPr>
          <p:cNvPr id="473" name="Google Shape;473;p19"/>
          <p:cNvSpPr txBox="1"/>
          <p:nvPr/>
        </p:nvSpPr>
        <p:spPr>
          <a:xfrm>
            <a:off x="4389120" y="1618488"/>
            <a:ext cx="3291840" cy="6217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FFFFFF"/>
                </a:solidFill>
                <a:latin typeface="Calibri"/>
                <a:ea typeface="Calibri"/>
                <a:cs typeface="Calibri"/>
                <a:sym typeface="Calibri"/>
              </a:rPr>
              <a:t>2.73</a:t>
            </a:r>
            <a:endParaRPr/>
          </a:p>
        </p:txBody>
      </p:sp>
      <p:sp>
        <p:nvSpPr>
          <p:cNvPr id="474" name="Google Shape;474;p19"/>
          <p:cNvSpPr txBox="1"/>
          <p:nvPr/>
        </p:nvSpPr>
        <p:spPr>
          <a:xfrm>
            <a:off x="4389120" y="2258568"/>
            <a:ext cx="329184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200" u="none" cap="none" strike="noStrike">
                <a:solidFill>
                  <a:srgbClr val="CCDDFF"/>
                </a:solidFill>
                <a:latin typeface="Calibri"/>
                <a:ea typeface="Calibri"/>
                <a:cs typeface="Calibri"/>
                <a:sym typeface="Calibri"/>
              </a:rPr>
              <a:t>θύματα</a:t>
            </a:r>
            <a:endParaRPr/>
          </a:p>
        </p:txBody>
      </p:sp>
      <p:sp>
        <p:nvSpPr>
          <p:cNvPr id="475" name="Google Shape;475;p19"/>
          <p:cNvSpPr txBox="1"/>
          <p:nvPr/>
        </p:nvSpPr>
        <p:spPr>
          <a:xfrm>
            <a:off x="4321090" y="2549716"/>
            <a:ext cx="3474600" cy="292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300">
                <a:solidFill>
                  <a:srgbClr val="FFFFFF"/>
                </a:solidFill>
                <a:latin typeface="Calibri"/>
                <a:ea typeface="Calibri"/>
                <a:cs typeface="Calibri"/>
                <a:sym typeface="Calibri"/>
              </a:rPr>
              <a:t>Αποδεκτή ακρίβεια για πρόβλεψη στο βήμα 250</a:t>
            </a:r>
            <a:endParaRPr sz="1300"/>
          </a:p>
        </p:txBody>
      </p:sp>
      <p:sp>
        <p:nvSpPr>
          <p:cNvPr id="476" name="Google Shape;476;p19"/>
          <p:cNvSpPr/>
          <p:nvPr/>
        </p:nvSpPr>
        <p:spPr>
          <a:xfrm>
            <a:off x="8092440" y="1234440"/>
            <a:ext cx="3474720" cy="1828800"/>
          </a:xfrm>
          <a:prstGeom prst="rect">
            <a:avLst/>
          </a:prstGeom>
          <a:solidFill>
            <a:srgbClr val="1E8A4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7" name="Google Shape;477;p19"/>
          <p:cNvSpPr txBox="1"/>
          <p:nvPr/>
        </p:nvSpPr>
        <p:spPr>
          <a:xfrm>
            <a:off x="8229600" y="1307592"/>
            <a:ext cx="32004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R²</a:t>
            </a:r>
            <a:endParaRPr sz="1800"/>
          </a:p>
        </p:txBody>
      </p:sp>
      <p:sp>
        <p:nvSpPr>
          <p:cNvPr id="478" name="Google Shape;478;p19"/>
          <p:cNvSpPr txBox="1"/>
          <p:nvPr/>
        </p:nvSpPr>
        <p:spPr>
          <a:xfrm>
            <a:off x="8183880" y="1618488"/>
            <a:ext cx="3291840" cy="6217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FFFFFF"/>
                </a:solidFill>
                <a:latin typeface="Calibri"/>
                <a:ea typeface="Calibri"/>
                <a:cs typeface="Calibri"/>
                <a:sym typeface="Calibri"/>
              </a:rPr>
              <a:t>0.971</a:t>
            </a:r>
            <a:endParaRPr/>
          </a:p>
        </p:txBody>
      </p:sp>
      <p:sp>
        <p:nvSpPr>
          <p:cNvPr id="479" name="Google Shape;479;p19"/>
          <p:cNvSpPr txBox="1"/>
          <p:nvPr/>
        </p:nvSpPr>
        <p:spPr>
          <a:xfrm>
            <a:off x="8183880" y="2515689"/>
            <a:ext cx="3291900" cy="492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300">
                <a:solidFill>
                  <a:srgbClr val="FFFFFF"/>
                </a:solidFill>
                <a:latin typeface="Calibri"/>
                <a:ea typeface="Calibri"/>
                <a:cs typeface="Calibri"/>
                <a:sym typeface="Calibri"/>
              </a:rPr>
              <a:t>Το μοντέλο μαθαίνει σταδιακά από νέα ιστορικά δεδομένα</a:t>
            </a:r>
            <a:endParaRPr sz="1300"/>
          </a:p>
        </p:txBody>
      </p:sp>
      <p:pic>
        <p:nvPicPr>
          <p:cNvPr descr="incremental_validation_results.png" id="480" name="Google Shape;480;p19"/>
          <p:cNvPicPr preferRelativeResize="0"/>
          <p:nvPr/>
        </p:nvPicPr>
        <p:blipFill rotWithShape="1">
          <a:blip r:embed="rId3">
            <a:alphaModFix/>
          </a:blip>
          <a:srcRect b="0" l="0" r="0" t="0"/>
          <a:stretch/>
        </p:blipFill>
        <p:spPr>
          <a:xfrm>
            <a:off x="904935" y="3216329"/>
            <a:ext cx="10260198" cy="3250835"/>
          </a:xfrm>
          <a:prstGeom prst="rect">
            <a:avLst/>
          </a:prstGeom>
          <a:noFill/>
          <a:ln>
            <a:noFill/>
          </a:ln>
        </p:spPr>
      </p:pic>
      <p:sp>
        <p:nvSpPr>
          <p:cNvPr id="481" name="Google Shape;481;p19"/>
          <p:cNvSpPr txBox="1"/>
          <p:nvPr/>
        </p:nvSpPr>
        <p:spPr>
          <a:xfrm>
            <a:off x="8198439" y="2274897"/>
            <a:ext cx="32919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200" u="none" cap="none" strike="noStrike">
                <a:solidFill>
                  <a:srgbClr val="CCDDFF"/>
                </a:solidFill>
                <a:latin typeface="Calibri"/>
                <a:ea typeface="Calibri"/>
                <a:cs typeface="Calibri"/>
                <a:sym typeface="Calibri"/>
              </a:rPr>
              <a:t>0.39 → 0.97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0"/>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20"/>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9" name="Google Shape;489;p20"/>
          <p:cNvSpPr txBox="1"/>
          <p:nvPr/>
        </p:nvSpPr>
        <p:spPr>
          <a:xfrm>
            <a:off x="164592" y="176485"/>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Αποτελέσματα — Επικύρωση Ιστορικών Σ</a:t>
            </a:r>
            <a:r>
              <a:rPr b="1" lang="en-US" sz="3500">
                <a:solidFill>
                  <a:srgbClr val="FFFFFF"/>
                </a:solidFill>
                <a:latin typeface="Calibri"/>
                <a:ea typeface="Calibri"/>
                <a:cs typeface="Calibri"/>
                <a:sym typeface="Calibri"/>
              </a:rPr>
              <a:t>εναρίων</a:t>
            </a:r>
            <a:endParaRPr sz="3500"/>
          </a:p>
        </p:txBody>
      </p:sp>
      <p:sp>
        <p:nvSpPr>
          <p:cNvPr id="490" name="Google Shape;490;p20"/>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1" name="Google Shape;491;p20"/>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492" name="Google Shape;492;p20"/>
          <p:cNvSpPr/>
          <p:nvPr/>
        </p:nvSpPr>
        <p:spPr>
          <a:xfrm>
            <a:off x="365760" y="1143000"/>
            <a:ext cx="5989320" cy="420624"/>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20"/>
          <p:cNvSpPr txBox="1"/>
          <p:nvPr/>
        </p:nvSpPr>
        <p:spPr>
          <a:xfrm>
            <a:off x="420624" y="1188720"/>
            <a:ext cx="58978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Συμβάν</a:t>
            </a:r>
            <a:endParaRPr/>
          </a:p>
        </p:txBody>
      </p:sp>
      <p:sp>
        <p:nvSpPr>
          <p:cNvPr id="494" name="Google Shape;494;p20"/>
          <p:cNvSpPr/>
          <p:nvPr/>
        </p:nvSpPr>
        <p:spPr>
          <a:xfrm>
            <a:off x="6400800" y="1143000"/>
            <a:ext cx="2880360" cy="420624"/>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5" name="Google Shape;495;p20"/>
          <p:cNvSpPr txBox="1"/>
          <p:nvPr/>
        </p:nvSpPr>
        <p:spPr>
          <a:xfrm>
            <a:off x="6455664" y="1188720"/>
            <a:ext cx="27889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Εκκένωση (τάξη μεγέθους)</a:t>
            </a:r>
            <a:endParaRPr/>
          </a:p>
        </p:txBody>
      </p:sp>
      <p:sp>
        <p:nvSpPr>
          <p:cNvPr id="496" name="Google Shape;496;p20"/>
          <p:cNvSpPr/>
          <p:nvPr/>
        </p:nvSpPr>
        <p:spPr>
          <a:xfrm>
            <a:off x="9326880" y="1143000"/>
            <a:ext cx="2743200" cy="420624"/>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7" name="Google Shape;497;p20"/>
          <p:cNvSpPr txBox="1"/>
          <p:nvPr/>
        </p:nvSpPr>
        <p:spPr>
          <a:xfrm>
            <a:off x="9381744" y="1188720"/>
            <a:ext cx="26517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Θνησιμότητα (τάξη μεγέθους)</a:t>
            </a:r>
            <a:endParaRPr/>
          </a:p>
        </p:txBody>
      </p:sp>
      <p:sp>
        <p:nvSpPr>
          <p:cNvPr id="498" name="Google Shape;498;p20"/>
          <p:cNvSpPr/>
          <p:nvPr/>
        </p:nvSpPr>
        <p:spPr>
          <a:xfrm>
            <a:off x="365760" y="1563624"/>
            <a:ext cx="5989320" cy="402336"/>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20"/>
          <p:cNvSpPr txBox="1"/>
          <p:nvPr/>
        </p:nvSpPr>
        <p:spPr>
          <a:xfrm>
            <a:off x="438912" y="1609344"/>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Πελοπόννησος 2007</a:t>
            </a:r>
            <a:endParaRPr/>
          </a:p>
        </p:txBody>
      </p:sp>
      <p:sp>
        <p:nvSpPr>
          <p:cNvPr id="500" name="Google Shape;500;p20"/>
          <p:cNvSpPr/>
          <p:nvPr/>
        </p:nvSpPr>
        <p:spPr>
          <a:xfrm>
            <a:off x="6400800" y="1563624"/>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1" name="Google Shape;501;p20"/>
          <p:cNvSpPr txBox="1"/>
          <p:nvPr/>
        </p:nvSpPr>
        <p:spPr>
          <a:xfrm>
            <a:off x="6473952" y="1609344"/>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02" name="Google Shape;502;p20"/>
          <p:cNvSpPr/>
          <p:nvPr/>
        </p:nvSpPr>
        <p:spPr>
          <a:xfrm>
            <a:off x="9326880" y="1563624"/>
            <a:ext cx="2743200" cy="402336"/>
          </a:xfrm>
          <a:prstGeom prst="rect">
            <a:avLst/>
          </a:prstGeom>
          <a:solidFill>
            <a:srgbClr val="F4CC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3" name="Google Shape;503;p20"/>
          <p:cNvSpPr/>
          <p:nvPr/>
        </p:nvSpPr>
        <p:spPr>
          <a:xfrm>
            <a:off x="365760" y="1984248"/>
            <a:ext cx="5989320" cy="40233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4" name="Google Shape;504;p20"/>
          <p:cNvSpPr txBox="1"/>
          <p:nvPr/>
        </p:nvSpPr>
        <p:spPr>
          <a:xfrm>
            <a:off x="438912" y="2029968"/>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Black Saturday 2009</a:t>
            </a:r>
            <a:endParaRPr/>
          </a:p>
        </p:txBody>
      </p:sp>
      <p:sp>
        <p:nvSpPr>
          <p:cNvPr id="505" name="Google Shape;505;p20"/>
          <p:cNvSpPr/>
          <p:nvPr/>
        </p:nvSpPr>
        <p:spPr>
          <a:xfrm>
            <a:off x="6400800" y="1984248"/>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6" name="Google Shape;506;p20"/>
          <p:cNvSpPr txBox="1"/>
          <p:nvPr/>
        </p:nvSpPr>
        <p:spPr>
          <a:xfrm>
            <a:off x="6473952" y="2029968"/>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07" name="Google Shape;507;p20"/>
          <p:cNvSpPr/>
          <p:nvPr/>
        </p:nvSpPr>
        <p:spPr>
          <a:xfrm>
            <a:off x="9326880" y="1984248"/>
            <a:ext cx="2743200" cy="402336"/>
          </a:xfrm>
          <a:prstGeom prst="rect">
            <a:avLst/>
          </a:prstGeom>
          <a:solidFill>
            <a:srgbClr val="F4CC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8" name="Google Shape;508;p20"/>
          <p:cNvSpPr txBox="1"/>
          <p:nvPr/>
        </p:nvSpPr>
        <p:spPr>
          <a:xfrm>
            <a:off x="9400032" y="2029968"/>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BF2B2B"/>
                </a:solidFill>
                <a:latin typeface="Calibri"/>
                <a:ea typeface="Calibri"/>
                <a:cs typeface="Calibri"/>
                <a:sym typeface="Calibri"/>
              </a:rPr>
              <a:t>ΔΙΑΦΟΡΑ ΚΛΙΜΑΚΑΣ</a:t>
            </a:r>
            <a:endParaRPr/>
          </a:p>
        </p:txBody>
      </p:sp>
      <p:sp>
        <p:nvSpPr>
          <p:cNvPr id="509" name="Google Shape;509;p20"/>
          <p:cNvSpPr/>
          <p:nvPr/>
        </p:nvSpPr>
        <p:spPr>
          <a:xfrm>
            <a:off x="365760" y="2404872"/>
            <a:ext cx="5989320" cy="402336"/>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0" name="Google Shape;510;p20"/>
          <p:cNvSpPr txBox="1"/>
          <p:nvPr/>
        </p:nvSpPr>
        <p:spPr>
          <a:xfrm>
            <a:off x="438912" y="2450592"/>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Valparaiso 2014</a:t>
            </a:r>
            <a:endParaRPr/>
          </a:p>
        </p:txBody>
      </p:sp>
      <p:sp>
        <p:nvSpPr>
          <p:cNvPr id="511" name="Google Shape;511;p20"/>
          <p:cNvSpPr/>
          <p:nvPr/>
        </p:nvSpPr>
        <p:spPr>
          <a:xfrm>
            <a:off x="6400800" y="2404872"/>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2" name="Google Shape;512;p20"/>
          <p:cNvSpPr txBox="1"/>
          <p:nvPr/>
        </p:nvSpPr>
        <p:spPr>
          <a:xfrm>
            <a:off x="6473952" y="2450592"/>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13" name="Google Shape;513;p20"/>
          <p:cNvSpPr/>
          <p:nvPr/>
        </p:nvSpPr>
        <p:spPr>
          <a:xfrm>
            <a:off x="9326880" y="2404872"/>
            <a:ext cx="274320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4" name="Google Shape;514;p20"/>
          <p:cNvSpPr/>
          <p:nvPr/>
        </p:nvSpPr>
        <p:spPr>
          <a:xfrm>
            <a:off x="365760" y="2825496"/>
            <a:ext cx="5989320" cy="40233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5" name="Google Shape;515;p20"/>
          <p:cNvSpPr txBox="1"/>
          <p:nvPr/>
        </p:nvSpPr>
        <p:spPr>
          <a:xfrm>
            <a:off x="438912" y="2871216"/>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Pedrogao Grande 2017</a:t>
            </a:r>
            <a:endParaRPr/>
          </a:p>
        </p:txBody>
      </p:sp>
      <p:sp>
        <p:nvSpPr>
          <p:cNvPr id="516" name="Google Shape;516;p20"/>
          <p:cNvSpPr/>
          <p:nvPr/>
        </p:nvSpPr>
        <p:spPr>
          <a:xfrm>
            <a:off x="6400800" y="2825496"/>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7" name="Google Shape;517;p20"/>
          <p:cNvSpPr txBox="1"/>
          <p:nvPr/>
        </p:nvSpPr>
        <p:spPr>
          <a:xfrm>
            <a:off x="6473952" y="2871216"/>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18" name="Google Shape;518;p20"/>
          <p:cNvSpPr/>
          <p:nvPr/>
        </p:nvSpPr>
        <p:spPr>
          <a:xfrm>
            <a:off x="9326880" y="2825496"/>
            <a:ext cx="274320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9" name="Google Shape;519;p20"/>
          <p:cNvSpPr/>
          <p:nvPr/>
        </p:nvSpPr>
        <p:spPr>
          <a:xfrm>
            <a:off x="365760" y="3246120"/>
            <a:ext cx="5989320" cy="402336"/>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0" name="Google Shape;520;p20"/>
          <p:cNvSpPr txBox="1"/>
          <p:nvPr/>
        </p:nvSpPr>
        <p:spPr>
          <a:xfrm>
            <a:off x="438912" y="3291840"/>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Tubbs Fire 2017</a:t>
            </a:r>
            <a:endParaRPr/>
          </a:p>
        </p:txBody>
      </p:sp>
      <p:sp>
        <p:nvSpPr>
          <p:cNvPr id="521" name="Google Shape;521;p20"/>
          <p:cNvSpPr/>
          <p:nvPr/>
        </p:nvSpPr>
        <p:spPr>
          <a:xfrm>
            <a:off x="6400800" y="3246120"/>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2" name="Google Shape;522;p20"/>
          <p:cNvSpPr txBox="1"/>
          <p:nvPr/>
        </p:nvSpPr>
        <p:spPr>
          <a:xfrm>
            <a:off x="6473952" y="3291840"/>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23" name="Google Shape;523;p20"/>
          <p:cNvSpPr/>
          <p:nvPr/>
        </p:nvSpPr>
        <p:spPr>
          <a:xfrm>
            <a:off x="9326880" y="3246120"/>
            <a:ext cx="274320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4" name="Google Shape;524;p20"/>
          <p:cNvSpPr txBox="1"/>
          <p:nvPr/>
        </p:nvSpPr>
        <p:spPr>
          <a:xfrm>
            <a:off x="9370724" y="3291840"/>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25" name="Google Shape;525;p20"/>
          <p:cNvSpPr/>
          <p:nvPr/>
        </p:nvSpPr>
        <p:spPr>
          <a:xfrm>
            <a:off x="365760" y="3666744"/>
            <a:ext cx="5989320" cy="40233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6" name="Google Shape;526;p20"/>
          <p:cNvSpPr txBox="1"/>
          <p:nvPr/>
        </p:nvSpPr>
        <p:spPr>
          <a:xfrm>
            <a:off x="438912" y="3712464"/>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Μάτι 2018</a:t>
            </a:r>
            <a:endParaRPr/>
          </a:p>
        </p:txBody>
      </p:sp>
      <p:sp>
        <p:nvSpPr>
          <p:cNvPr id="527" name="Google Shape;527;p20"/>
          <p:cNvSpPr/>
          <p:nvPr/>
        </p:nvSpPr>
        <p:spPr>
          <a:xfrm>
            <a:off x="6400800" y="3666744"/>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8" name="Google Shape;528;p20"/>
          <p:cNvSpPr txBox="1"/>
          <p:nvPr/>
        </p:nvSpPr>
        <p:spPr>
          <a:xfrm>
            <a:off x="6473952" y="3712464"/>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29" name="Google Shape;529;p20"/>
          <p:cNvSpPr/>
          <p:nvPr/>
        </p:nvSpPr>
        <p:spPr>
          <a:xfrm>
            <a:off x="9326880" y="3666744"/>
            <a:ext cx="2743200" cy="402336"/>
          </a:xfrm>
          <a:prstGeom prst="rect">
            <a:avLst/>
          </a:prstGeom>
          <a:solidFill>
            <a:srgbClr val="FCE5C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0" name="Google Shape;530;p20"/>
          <p:cNvSpPr txBox="1"/>
          <p:nvPr/>
        </p:nvSpPr>
        <p:spPr>
          <a:xfrm>
            <a:off x="9400032" y="3712464"/>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BF2B2B"/>
                </a:solidFill>
                <a:latin typeface="Calibri"/>
                <a:ea typeface="Calibri"/>
                <a:cs typeface="Calibri"/>
                <a:sym typeface="Calibri"/>
              </a:rPr>
              <a:t>ΟΡΙΑΚΟ</a:t>
            </a:r>
            <a:endParaRPr/>
          </a:p>
        </p:txBody>
      </p:sp>
      <p:sp>
        <p:nvSpPr>
          <p:cNvPr id="531" name="Google Shape;531;p20"/>
          <p:cNvSpPr/>
          <p:nvPr/>
        </p:nvSpPr>
        <p:spPr>
          <a:xfrm>
            <a:off x="365760" y="4087368"/>
            <a:ext cx="5989320" cy="402336"/>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2" name="Google Shape;532;p20"/>
          <p:cNvSpPr txBox="1"/>
          <p:nvPr/>
        </p:nvSpPr>
        <p:spPr>
          <a:xfrm>
            <a:off x="438912" y="4133088"/>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Camp Fire 2018</a:t>
            </a:r>
            <a:endParaRPr/>
          </a:p>
        </p:txBody>
      </p:sp>
      <p:sp>
        <p:nvSpPr>
          <p:cNvPr id="533" name="Google Shape;533;p20"/>
          <p:cNvSpPr/>
          <p:nvPr/>
        </p:nvSpPr>
        <p:spPr>
          <a:xfrm>
            <a:off x="6400800" y="4087368"/>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4" name="Google Shape;534;p20"/>
          <p:cNvSpPr txBox="1"/>
          <p:nvPr/>
        </p:nvSpPr>
        <p:spPr>
          <a:xfrm>
            <a:off x="6473952" y="4133088"/>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35" name="Google Shape;535;p20"/>
          <p:cNvSpPr/>
          <p:nvPr/>
        </p:nvSpPr>
        <p:spPr>
          <a:xfrm>
            <a:off x="9326880" y="4087368"/>
            <a:ext cx="2743200" cy="402336"/>
          </a:xfrm>
          <a:prstGeom prst="rect">
            <a:avLst/>
          </a:prstGeom>
          <a:solidFill>
            <a:srgbClr val="FCE5C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6" name="Google Shape;536;p20"/>
          <p:cNvSpPr/>
          <p:nvPr/>
        </p:nvSpPr>
        <p:spPr>
          <a:xfrm>
            <a:off x="365760" y="4507992"/>
            <a:ext cx="5989320" cy="402336"/>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7" name="Google Shape;537;p20"/>
          <p:cNvSpPr txBox="1"/>
          <p:nvPr/>
        </p:nvSpPr>
        <p:spPr>
          <a:xfrm>
            <a:off x="438912" y="4553712"/>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Αλεξανδρούπολη 2023</a:t>
            </a:r>
            <a:endParaRPr/>
          </a:p>
        </p:txBody>
      </p:sp>
      <p:sp>
        <p:nvSpPr>
          <p:cNvPr id="538" name="Google Shape;538;p20"/>
          <p:cNvSpPr/>
          <p:nvPr/>
        </p:nvSpPr>
        <p:spPr>
          <a:xfrm>
            <a:off x="6400800" y="4507992"/>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9" name="Google Shape;539;p20"/>
          <p:cNvSpPr txBox="1"/>
          <p:nvPr/>
        </p:nvSpPr>
        <p:spPr>
          <a:xfrm>
            <a:off x="6473952" y="4553712"/>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40" name="Google Shape;540;p20"/>
          <p:cNvSpPr/>
          <p:nvPr/>
        </p:nvSpPr>
        <p:spPr>
          <a:xfrm>
            <a:off x="9326880" y="4507992"/>
            <a:ext cx="274320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1" name="Google Shape;541;p20"/>
          <p:cNvSpPr txBox="1"/>
          <p:nvPr/>
        </p:nvSpPr>
        <p:spPr>
          <a:xfrm>
            <a:off x="9400032" y="4553712"/>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42" name="Google Shape;542;p20"/>
          <p:cNvSpPr/>
          <p:nvPr/>
        </p:nvSpPr>
        <p:spPr>
          <a:xfrm>
            <a:off x="365760" y="4928616"/>
            <a:ext cx="5989320" cy="402336"/>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3" name="Google Shape;543;p20"/>
          <p:cNvSpPr txBox="1"/>
          <p:nvPr/>
        </p:nvSpPr>
        <p:spPr>
          <a:xfrm>
            <a:off x="438912" y="4974336"/>
            <a:ext cx="5879592"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3A3A3A"/>
                </a:solidFill>
                <a:latin typeface="Calibri"/>
                <a:ea typeface="Calibri"/>
                <a:cs typeface="Calibri"/>
                <a:sym typeface="Calibri"/>
              </a:rPr>
              <a:t>Lahaina 2023</a:t>
            </a:r>
            <a:endParaRPr/>
          </a:p>
        </p:txBody>
      </p:sp>
      <p:sp>
        <p:nvSpPr>
          <p:cNvPr id="544" name="Google Shape;544;p20"/>
          <p:cNvSpPr/>
          <p:nvPr/>
        </p:nvSpPr>
        <p:spPr>
          <a:xfrm>
            <a:off x="6400800" y="4928616"/>
            <a:ext cx="2880360" cy="402336"/>
          </a:xfrm>
          <a:prstGeom prst="rect">
            <a:avLst/>
          </a:prstGeom>
          <a:solidFill>
            <a:srgbClr val="C8F4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20"/>
          <p:cNvSpPr txBox="1"/>
          <p:nvPr/>
        </p:nvSpPr>
        <p:spPr>
          <a:xfrm>
            <a:off x="6473952" y="4974336"/>
            <a:ext cx="27705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46" name="Google Shape;546;p20"/>
          <p:cNvSpPr/>
          <p:nvPr/>
        </p:nvSpPr>
        <p:spPr>
          <a:xfrm>
            <a:off x="9326880" y="4928616"/>
            <a:ext cx="2743200" cy="402336"/>
          </a:xfrm>
          <a:prstGeom prst="rect">
            <a:avLst/>
          </a:prstGeom>
          <a:solidFill>
            <a:srgbClr val="F4CC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20"/>
          <p:cNvSpPr txBox="1"/>
          <p:nvPr/>
        </p:nvSpPr>
        <p:spPr>
          <a:xfrm>
            <a:off x="9400032" y="4974336"/>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BF2B2B"/>
                </a:solidFill>
                <a:latin typeface="Calibri"/>
                <a:ea typeface="Calibri"/>
                <a:cs typeface="Calibri"/>
                <a:sym typeface="Calibri"/>
              </a:rPr>
              <a:t>ΔΙΑΦΟΡΑ ΚΛΙΜΑΚΑΣ</a:t>
            </a:r>
            <a:endParaRPr/>
          </a:p>
        </p:txBody>
      </p:sp>
      <p:sp>
        <p:nvSpPr>
          <p:cNvPr id="548" name="Google Shape;548;p20"/>
          <p:cNvSpPr/>
          <p:nvPr/>
        </p:nvSpPr>
        <p:spPr>
          <a:xfrm>
            <a:off x="365760" y="5440680"/>
            <a:ext cx="11457432" cy="6858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9" name="Google Shape;549;p20"/>
          <p:cNvSpPr txBox="1"/>
          <p:nvPr/>
        </p:nvSpPr>
        <p:spPr>
          <a:xfrm>
            <a:off x="548640" y="5477256"/>
            <a:ext cx="11091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500" u="none" cap="none" strike="noStrike">
                <a:solidFill>
                  <a:srgbClr val="FFFFFF"/>
                </a:solidFill>
                <a:latin typeface="Calibri"/>
                <a:ea typeface="Calibri"/>
                <a:cs typeface="Calibri"/>
                <a:sym typeface="Calibri"/>
              </a:rPr>
              <a:t>8 / 9  εκκένωση </a:t>
            </a:r>
            <a:r>
              <a:rPr b="1" lang="en-US" sz="1500">
                <a:solidFill>
                  <a:srgbClr val="FFFFFF"/>
                </a:solidFill>
                <a:latin typeface="Calibri"/>
                <a:ea typeface="Calibri"/>
                <a:cs typeface="Calibri"/>
                <a:sym typeface="Calibri"/>
              </a:rPr>
              <a:t>ΕΝΤΟΣ ΟΡΙΟΥ</a:t>
            </a:r>
            <a:r>
              <a:rPr b="1" i="0" lang="en-US" sz="1500" u="none" cap="none" strike="noStrike">
                <a:solidFill>
                  <a:srgbClr val="FFFFFF"/>
                </a:solidFill>
                <a:latin typeface="Calibri"/>
                <a:ea typeface="Calibri"/>
                <a:cs typeface="Calibri"/>
                <a:sym typeface="Calibri"/>
              </a:rPr>
              <a:t>   ·    </a:t>
            </a:r>
            <a:r>
              <a:rPr b="1" lang="en-US" sz="1500">
                <a:solidFill>
                  <a:srgbClr val="FFFFFF"/>
                </a:solidFill>
                <a:latin typeface="Calibri"/>
                <a:ea typeface="Calibri"/>
                <a:cs typeface="Calibri"/>
                <a:sym typeface="Calibri"/>
              </a:rPr>
              <a:t>4</a:t>
            </a:r>
            <a:r>
              <a:rPr b="1" i="0" lang="en-US" sz="1500" u="none" cap="none" strike="noStrike">
                <a:solidFill>
                  <a:srgbClr val="FFFFFF"/>
                </a:solidFill>
                <a:latin typeface="Calibri"/>
                <a:ea typeface="Calibri"/>
                <a:cs typeface="Calibri"/>
                <a:sym typeface="Calibri"/>
              </a:rPr>
              <a:t> / 9  θνησιμότητα </a:t>
            </a:r>
            <a:r>
              <a:rPr b="1" lang="en-US" sz="1500">
                <a:solidFill>
                  <a:srgbClr val="FFFFFF"/>
                </a:solidFill>
                <a:latin typeface="Calibri"/>
                <a:ea typeface="Calibri"/>
                <a:cs typeface="Calibri"/>
                <a:sym typeface="Calibri"/>
              </a:rPr>
              <a:t>ΕΝΤΟΣ ΟΡΙΟΥ </a:t>
            </a:r>
            <a:endParaRPr b="1" sz="1500">
              <a:solidFill>
                <a:srgbClr val="FFFFFF"/>
              </a:solidFill>
              <a:latin typeface="Calibri"/>
              <a:ea typeface="Calibri"/>
              <a:cs typeface="Calibri"/>
              <a:sym typeface="Calibri"/>
            </a:endParaRPr>
          </a:p>
        </p:txBody>
      </p:sp>
      <p:sp>
        <p:nvSpPr>
          <p:cNvPr id="550" name="Google Shape;550;p20"/>
          <p:cNvSpPr txBox="1"/>
          <p:nvPr/>
        </p:nvSpPr>
        <p:spPr>
          <a:xfrm>
            <a:off x="548640" y="5806440"/>
            <a:ext cx="110916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200" u="none" cap="none" strike="noStrike">
                <a:solidFill>
                  <a:srgbClr val="D9DEE8"/>
                </a:solidFill>
                <a:latin typeface="Calibri"/>
                <a:ea typeface="Calibri"/>
                <a:cs typeface="Calibri"/>
                <a:sym typeface="Calibri"/>
              </a:rPr>
              <a:t>διαφορά κλίμακας (ακτίνα 3 km vs ολόκληρη ζώνη συμβάντος χιλιάδων ατόμων)</a:t>
            </a:r>
            <a:endParaRPr/>
          </a:p>
        </p:txBody>
      </p:sp>
      <p:sp>
        <p:nvSpPr>
          <p:cNvPr id="551" name="Google Shape;551;p20"/>
          <p:cNvSpPr txBox="1"/>
          <p:nvPr/>
        </p:nvSpPr>
        <p:spPr>
          <a:xfrm>
            <a:off x="9399352" y="1621073"/>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BF2B2B"/>
                </a:solidFill>
                <a:latin typeface="Calibri"/>
                <a:ea typeface="Calibri"/>
                <a:cs typeface="Calibri"/>
                <a:sym typeface="Calibri"/>
              </a:rPr>
              <a:t>ΔΙΑΦΟΡΑ ΚΛΙΜΑΚΑΣ</a:t>
            </a:r>
            <a:endParaRPr/>
          </a:p>
        </p:txBody>
      </p:sp>
      <p:sp>
        <p:nvSpPr>
          <p:cNvPr id="552" name="Google Shape;552;p20"/>
          <p:cNvSpPr txBox="1"/>
          <p:nvPr/>
        </p:nvSpPr>
        <p:spPr>
          <a:xfrm>
            <a:off x="9405894" y="4143287"/>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BF2B2B"/>
                </a:solidFill>
                <a:latin typeface="Calibri"/>
                <a:ea typeface="Calibri"/>
                <a:cs typeface="Calibri"/>
                <a:sym typeface="Calibri"/>
              </a:rPr>
              <a:t>ΟΡΙΑΚΟ</a:t>
            </a:r>
            <a:endParaRPr/>
          </a:p>
        </p:txBody>
      </p:sp>
      <p:sp>
        <p:nvSpPr>
          <p:cNvPr id="553" name="Google Shape;553;p20"/>
          <p:cNvSpPr txBox="1"/>
          <p:nvPr/>
        </p:nvSpPr>
        <p:spPr>
          <a:xfrm>
            <a:off x="9361932" y="2872740"/>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54" name="Google Shape;554;p20"/>
          <p:cNvSpPr txBox="1"/>
          <p:nvPr/>
        </p:nvSpPr>
        <p:spPr>
          <a:xfrm>
            <a:off x="9353140" y="2482948"/>
            <a:ext cx="2633400" cy="2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50">
                <a:solidFill>
                  <a:srgbClr val="1E8A44"/>
                </a:solidFill>
                <a:latin typeface="Calibri"/>
                <a:ea typeface="Calibri"/>
                <a:cs typeface="Calibri"/>
                <a:sym typeface="Calibri"/>
              </a:rPr>
              <a:t>ΕΝΤΟΣ ΟΡΙΟΥ</a:t>
            </a:r>
            <a:endParaRPr/>
          </a:p>
        </p:txBody>
      </p:sp>
      <p:sp>
        <p:nvSpPr>
          <p:cNvPr id="555" name="Google Shape;555;p20"/>
          <p:cNvSpPr txBox="1"/>
          <p:nvPr/>
        </p:nvSpPr>
        <p:spPr>
          <a:xfrm>
            <a:off x="259025" y="6018573"/>
            <a:ext cx="11670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500">
                <a:solidFill>
                  <a:srgbClr val="D46A17"/>
                </a:solidFill>
                <a:latin typeface="Calibri"/>
                <a:ea typeface="Calibri"/>
                <a:cs typeface="Calibri"/>
                <a:sym typeface="Calibri"/>
              </a:rPr>
              <a:t>Ως κριτήριο αποδοχής υιοθετήθηκε η συμφωνία τάξης μεγέθους (λόγος προσομοίωσης/τεκμηρίωσης ∈ [0.1, 10×]), όπως ορίζεται στη βιβλιογραφία agent-based προσομοιώσεων καταστροφών (Mas et al., 2021· Grimm et al., 2020).</a:t>
            </a:r>
            <a:endParaRPr b="1" sz="1500">
              <a:solidFill>
                <a:srgbClr val="D46A17"/>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21"/>
          <p:cNvSpPr/>
          <p:nvPr/>
        </p:nvSpPr>
        <p:spPr>
          <a:xfrm>
            <a:off x="0" y="0"/>
            <a:ext cx="12189000" cy="6858000"/>
          </a:xfrm>
          <a:prstGeom prst="rect">
            <a:avLst/>
          </a:prstGeom>
          <a:solidFill>
            <a:srgbClr val="F4F6F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2" name="Google Shape;562;p21"/>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3" name="Google Shape;563;p21"/>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4" name="Google Shape;564;p21"/>
          <p:cNvSpPr txBox="1"/>
          <p:nvPr/>
        </p:nvSpPr>
        <p:spPr>
          <a:xfrm>
            <a:off x="164592" y="194017"/>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Αποτελέσματα — Μελέτη Ablation</a:t>
            </a:r>
            <a:endParaRPr sz="3500"/>
          </a:p>
        </p:txBody>
      </p:sp>
      <p:sp>
        <p:nvSpPr>
          <p:cNvPr id="565" name="Google Shape;565;p21"/>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6" name="Google Shape;566;p21"/>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567" name="Google Shape;567;p21"/>
          <p:cNvSpPr/>
          <p:nvPr/>
        </p:nvSpPr>
        <p:spPr>
          <a:xfrm>
            <a:off x="411480" y="1234440"/>
            <a:ext cx="4663500" cy="5487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8" name="Google Shape;568;p21"/>
          <p:cNvSpPr txBox="1"/>
          <p:nvPr/>
        </p:nvSpPr>
        <p:spPr>
          <a:xfrm>
            <a:off x="457200" y="1271016"/>
            <a:ext cx="45720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FFFFFF"/>
                </a:solidFill>
                <a:latin typeface="Calibri"/>
                <a:ea typeface="Calibri"/>
                <a:cs typeface="Calibri"/>
                <a:sym typeface="Calibri"/>
              </a:rPr>
              <a:t>Συνθήκη</a:t>
            </a:r>
            <a:endParaRPr sz="2000"/>
          </a:p>
        </p:txBody>
      </p:sp>
      <p:sp>
        <p:nvSpPr>
          <p:cNvPr id="569" name="Google Shape;569;p21"/>
          <p:cNvSpPr/>
          <p:nvPr/>
        </p:nvSpPr>
        <p:spPr>
          <a:xfrm>
            <a:off x="5120640" y="1234440"/>
            <a:ext cx="1554600" cy="5487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0" name="Google Shape;570;p21"/>
          <p:cNvSpPr txBox="1"/>
          <p:nvPr/>
        </p:nvSpPr>
        <p:spPr>
          <a:xfrm>
            <a:off x="5166360" y="1227054"/>
            <a:ext cx="1463100" cy="554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500">
                <a:solidFill>
                  <a:srgbClr val="FFFFFF"/>
                </a:solidFill>
                <a:latin typeface="Calibri"/>
                <a:ea typeface="Calibri"/>
                <a:cs typeface="Calibri"/>
                <a:sym typeface="Calibri"/>
              </a:rPr>
              <a:t>Μέση </a:t>
            </a:r>
            <a:r>
              <a:rPr b="1" i="0" lang="en-US" sz="1500" u="none" cap="none" strike="noStrike">
                <a:solidFill>
                  <a:srgbClr val="FFFFFF"/>
                </a:solidFill>
                <a:latin typeface="Calibri"/>
                <a:ea typeface="Calibri"/>
                <a:cs typeface="Calibri"/>
                <a:sym typeface="Calibri"/>
              </a:rPr>
              <a:t>Θνησιμότητα</a:t>
            </a:r>
            <a:endParaRPr sz="1500"/>
          </a:p>
        </p:txBody>
      </p:sp>
      <p:sp>
        <p:nvSpPr>
          <p:cNvPr id="571" name="Google Shape;571;p21"/>
          <p:cNvSpPr/>
          <p:nvPr/>
        </p:nvSpPr>
        <p:spPr>
          <a:xfrm>
            <a:off x="6720840" y="1234440"/>
            <a:ext cx="1645800" cy="5487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2" name="Google Shape;572;p21"/>
          <p:cNvSpPr txBox="1"/>
          <p:nvPr/>
        </p:nvSpPr>
        <p:spPr>
          <a:xfrm>
            <a:off x="6766560" y="1329631"/>
            <a:ext cx="1554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500" u="none" cap="none" strike="noStrike">
                <a:solidFill>
                  <a:srgbClr val="FFFFFF"/>
                </a:solidFill>
                <a:latin typeface="Calibri"/>
                <a:ea typeface="Calibri"/>
                <a:cs typeface="Calibri"/>
                <a:sym typeface="Calibri"/>
              </a:rPr>
              <a:t>± SD</a:t>
            </a:r>
            <a:endParaRPr sz="1500"/>
          </a:p>
        </p:txBody>
      </p:sp>
      <p:sp>
        <p:nvSpPr>
          <p:cNvPr id="573" name="Google Shape;573;p21"/>
          <p:cNvSpPr/>
          <p:nvPr/>
        </p:nvSpPr>
        <p:spPr>
          <a:xfrm>
            <a:off x="8412480" y="1234440"/>
            <a:ext cx="1600200" cy="5487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4" name="Google Shape;574;p21"/>
          <p:cNvSpPr txBox="1"/>
          <p:nvPr/>
        </p:nvSpPr>
        <p:spPr>
          <a:xfrm>
            <a:off x="8458200" y="1329631"/>
            <a:ext cx="1508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500">
                <a:solidFill>
                  <a:srgbClr val="FFFFFF"/>
                </a:solidFill>
                <a:latin typeface="Calibri"/>
                <a:ea typeface="Calibri"/>
                <a:cs typeface="Calibri"/>
                <a:sym typeface="Calibri"/>
              </a:rPr>
              <a:t>Μέση </a:t>
            </a:r>
            <a:r>
              <a:rPr b="1" i="0" lang="en-US" sz="1500" u="none" cap="none" strike="noStrike">
                <a:solidFill>
                  <a:srgbClr val="FFFFFF"/>
                </a:solidFill>
                <a:latin typeface="Calibri"/>
                <a:ea typeface="Calibri"/>
                <a:cs typeface="Calibri"/>
                <a:sym typeface="Calibri"/>
              </a:rPr>
              <a:t>Εκκένωση</a:t>
            </a:r>
            <a:endParaRPr sz="1500"/>
          </a:p>
        </p:txBody>
      </p:sp>
      <p:sp>
        <p:nvSpPr>
          <p:cNvPr id="575" name="Google Shape;575;p21"/>
          <p:cNvSpPr/>
          <p:nvPr/>
        </p:nvSpPr>
        <p:spPr>
          <a:xfrm>
            <a:off x="10058400" y="1234440"/>
            <a:ext cx="1828800" cy="548700"/>
          </a:xfrm>
          <a:prstGeom prst="rect">
            <a:avLst/>
          </a:prstGeom>
          <a:solidFill>
            <a:srgbClr val="1A2A4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6" name="Google Shape;576;p21"/>
          <p:cNvSpPr txBox="1"/>
          <p:nvPr/>
        </p:nvSpPr>
        <p:spPr>
          <a:xfrm>
            <a:off x="10104120" y="1300324"/>
            <a:ext cx="17373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500" u="none" cap="none" strike="noStrike">
                <a:solidFill>
                  <a:srgbClr val="FFFFFF"/>
                </a:solidFill>
                <a:latin typeface="Calibri"/>
                <a:ea typeface="Calibri"/>
                <a:cs typeface="Calibri"/>
                <a:sym typeface="Calibri"/>
              </a:rPr>
              <a:t>± SD</a:t>
            </a:r>
            <a:endParaRPr sz="1500"/>
          </a:p>
        </p:txBody>
      </p:sp>
      <p:sp>
        <p:nvSpPr>
          <p:cNvPr id="577" name="Google Shape;577;p21"/>
          <p:cNvSpPr/>
          <p:nvPr/>
        </p:nvSpPr>
        <p:spPr>
          <a:xfrm>
            <a:off x="411480" y="1828800"/>
            <a:ext cx="4663500" cy="6219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8" name="Google Shape;578;p21"/>
          <p:cNvSpPr txBox="1"/>
          <p:nvPr/>
        </p:nvSpPr>
        <p:spPr>
          <a:xfrm>
            <a:off x="502920" y="1938528"/>
            <a:ext cx="45264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Βασική γραμμή (CNP + Μοντέλο Πανικού)</a:t>
            </a:r>
            <a:endParaRPr sz="1500"/>
          </a:p>
        </p:txBody>
      </p:sp>
      <p:sp>
        <p:nvSpPr>
          <p:cNvPr id="579" name="Google Shape;579;p21"/>
          <p:cNvSpPr/>
          <p:nvPr/>
        </p:nvSpPr>
        <p:spPr>
          <a:xfrm>
            <a:off x="5120640" y="1828800"/>
            <a:ext cx="1554600" cy="621900"/>
          </a:xfrm>
          <a:prstGeom prst="rect">
            <a:avLst/>
          </a:prstGeom>
          <a:solidFill>
            <a:srgbClr val="F4F8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0" name="Google Shape;580;p21"/>
          <p:cNvSpPr txBox="1"/>
          <p:nvPr/>
        </p:nvSpPr>
        <p:spPr>
          <a:xfrm>
            <a:off x="5166360" y="1956816"/>
            <a:ext cx="14631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3.50%</a:t>
            </a:r>
            <a:endParaRPr sz="1500"/>
          </a:p>
        </p:txBody>
      </p:sp>
      <p:sp>
        <p:nvSpPr>
          <p:cNvPr id="581" name="Google Shape;581;p21"/>
          <p:cNvSpPr/>
          <p:nvPr/>
        </p:nvSpPr>
        <p:spPr>
          <a:xfrm>
            <a:off x="6720840" y="1828800"/>
            <a:ext cx="1645800" cy="621900"/>
          </a:xfrm>
          <a:prstGeom prst="rect">
            <a:avLst/>
          </a:prstGeom>
          <a:solidFill>
            <a:srgbClr val="F4F8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2" name="Google Shape;582;p21"/>
          <p:cNvSpPr txBox="1"/>
          <p:nvPr/>
        </p:nvSpPr>
        <p:spPr>
          <a:xfrm>
            <a:off x="6766560" y="1956816"/>
            <a:ext cx="1554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±6.06%</a:t>
            </a:r>
            <a:endParaRPr sz="1500"/>
          </a:p>
        </p:txBody>
      </p:sp>
      <p:sp>
        <p:nvSpPr>
          <p:cNvPr id="583" name="Google Shape;583;p21"/>
          <p:cNvSpPr/>
          <p:nvPr/>
        </p:nvSpPr>
        <p:spPr>
          <a:xfrm>
            <a:off x="8412480" y="1828800"/>
            <a:ext cx="1600200" cy="621900"/>
          </a:xfrm>
          <a:prstGeom prst="rect">
            <a:avLst/>
          </a:prstGeom>
          <a:solidFill>
            <a:srgbClr val="F4F8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4" name="Google Shape;584;p21"/>
          <p:cNvSpPr txBox="1"/>
          <p:nvPr/>
        </p:nvSpPr>
        <p:spPr>
          <a:xfrm>
            <a:off x="8458200" y="1956816"/>
            <a:ext cx="1508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96.50%</a:t>
            </a:r>
            <a:endParaRPr sz="1500"/>
          </a:p>
        </p:txBody>
      </p:sp>
      <p:sp>
        <p:nvSpPr>
          <p:cNvPr id="585" name="Google Shape;585;p21"/>
          <p:cNvSpPr/>
          <p:nvPr/>
        </p:nvSpPr>
        <p:spPr>
          <a:xfrm>
            <a:off x="10058400" y="1828800"/>
            <a:ext cx="1828800" cy="621900"/>
          </a:xfrm>
          <a:prstGeom prst="rect">
            <a:avLst/>
          </a:prstGeom>
          <a:solidFill>
            <a:srgbClr val="F4F8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6" name="Google Shape;586;p21"/>
          <p:cNvSpPr txBox="1"/>
          <p:nvPr/>
        </p:nvSpPr>
        <p:spPr>
          <a:xfrm>
            <a:off x="10104120" y="1956816"/>
            <a:ext cx="17373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±6.06%</a:t>
            </a:r>
            <a:endParaRPr sz="1500"/>
          </a:p>
        </p:txBody>
      </p:sp>
      <p:sp>
        <p:nvSpPr>
          <p:cNvPr id="587" name="Google Shape;587;p21"/>
          <p:cNvSpPr/>
          <p:nvPr/>
        </p:nvSpPr>
        <p:spPr>
          <a:xfrm>
            <a:off x="411480" y="2487168"/>
            <a:ext cx="4663500" cy="6219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8" name="Google Shape;588;p21"/>
          <p:cNvSpPr txBox="1"/>
          <p:nvPr/>
        </p:nvSpPr>
        <p:spPr>
          <a:xfrm>
            <a:off x="502920" y="2596896"/>
            <a:ext cx="45264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FFFFFF"/>
                </a:solidFill>
                <a:latin typeface="Calibri"/>
                <a:ea typeface="Calibri"/>
                <a:cs typeface="Calibri"/>
                <a:sym typeface="Calibri"/>
              </a:rPr>
              <a:t>Χωρίς CNP (τυχαία ανάθεση)</a:t>
            </a:r>
            <a:endParaRPr sz="1500"/>
          </a:p>
        </p:txBody>
      </p:sp>
      <p:sp>
        <p:nvSpPr>
          <p:cNvPr id="589" name="Google Shape;589;p21"/>
          <p:cNvSpPr/>
          <p:nvPr/>
        </p:nvSpPr>
        <p:spPr>
          <a:xfrm>
            <a:off x="5120640" y="2487168"/>
            <a:ext cx="1554600" cy="6219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0" name="Google Shape;590;p21"/>
          <p:cNvSpPr txBox="1"/>
          <p:nvPr/>
        </p:nvSpPr>
        <p:spPr>
          <a:xfrm>
            <a:off x="5166360" y="2615184"/>
            <a:ext cx="14631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3.00%</a:t>
            </a:r>
            <a:endParaRPr sz="1500"/>
          </a:p>
        </p:txBody>
      </p:sp>
      <p:sp>
        <p:nvSpPr>
          <p:cNvPr id="591" name="Google Shape;591;p21"/>
          <p:cNvSpPr/>
          <p:nvPr/>
        </p:nvSpPr>
        <p:spPr>
          <a:xfrm>
            <a:off x="6720840" y="2487168"/>
            <a:ext cx="1645800" cy="6219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2" name="Google Shape;592;p21"/>
          <p:cNvSpPr txBox="1"/>
          <p:nvPr/>
        </p:nvSpPr>
        <p:spPr>
          <a:xfrm>
            <a:off x="6766560" y="2615184"/>
            <a:ext cx="1554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±5.11%</a:t>
            </a:r>
            <a:endParaRPr sz="1500"/>
          </a:p>
        </p:txBody>
      </p:sp>
      <p:sp>
        <p:nvSpPr>
          <p:cNvPr id="593" name="Google Shape;593;p21"/>
          <p:cNvSpPr/>
          <p:nvPr/>
        </p:nvSpPr>
        <p:spPr>
          <a:xfrm>
            <a:off x="8412480" y="2487168"/>
            <a:ext cx="1600200" cy="6219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4" name="Google Shape;594;p21"/>
          <p:cNvSpPr txBox="1"/>
          <p:nvPr/>
        </p:nvSpPr>
        <p:spPr>
          <a:xfrm>
            <a:off x="8458200" y="2615184"/>
            <a:ext cx="1508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96.95%</a:t>
            </a:r>
            <a:endParaRPr sz="1500"/>
          </a:p>
        </p:txBody>
      </p:sp>
      <p:sp>
        <p:nvSpPr>
          <p:cNvPr id="595" name="Google Shape;595;p21"/>
          <p:cNvSpPr/>
          <p:nvPr/>
        </p:nvSpPr>
        <p:spPr>
          <a:xfrm>
            <a:off x="10058400" y="2487168"/>
            <a:ext cx="1828800" cy="621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6" name="Google Shape;596;p21"/>
          <p:cNvSpPr txBox="1"/>
          <p:nvPr/>
        </p:nvSpPr>
        <p:spPr>
          <a:xfrm>
            <a:off x="10104120" y="2615184"/>
            <a:ext cx="17373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±5.16%</a:t>
            </a:r>
            <a:endParaRPr sz="1500"/>
          </a:p>
        </p:txBody>
      </p:sp>
      <p:sp>
        <p:nvSpPr>
          <p:cNvPr id="597" name="Google Shape;597;p21"/>
          <p:cNvSpPr/>
          <p:nvPr/>
        </p:nvSpPr>
        <p:spPr>
          <a:xfrm>
            <a:off x="411480" y="3145535"/>
            <a:ext cx="4663500" cy="6219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8" name="Google Shape;598;p21"/>
          <p:cNvSpPr txBox="1"/>
          <p:nvPr/>
        </p:nvSpPr>
        <p:spPr>
          <a:xfrm>
            <a:off x="502920" y="3255263"/>
            <a:ext cx="45264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FFFFFF"/>
                </a:solidFill>
                <a:latin typeface="Calibri"/>
                <a:ea typeface="Calibri"/>
                <a:cs typeface="Calibri"/>
                <a:sym typeface="Calibri"/>
              </a:rPr>
              <a:t>Χωρίς Πανικό (πλήρως λογικοί </a:t>
            </a:r>
            <a:r>
              <a:rPr lang="en-US" sz="1500">
                <a:solidFill>
                  <a:srgbClr val="FFFFFF"/>
                </a:solidFill>
                <a:latin typeface="Calibri"/>
                <a:ea typeface="Calibri"/>
                <a:cs typeface="Calibri"/>
                <a:sym typeface="Calibri"/>
              </a:rPr>
              <a:t>πολίτες</a:t>
            </a:r>
            <a:r>
              <a:rPr b="0" i="0" lang="en-US" sz="1500" u="none" cap="none" strike="noStrike">
                <a:solidFill>
                  <a:srgbClr val="FFFFFF"/>
                </a:solidFill>
                <a:latin typeface="Calibri"/>
                <a:ea typeface="Calibri"/>
                <a:cs typeface="Calibri"/>
                <a:sym typeface="Calibri"/>
              </a:rPr>
              <a:t>)</a:t>
            </a:r>
            <a:endParaRPr sz="1500"/>
          </a:p>
        </p:txBody>
      </p:sp>
      <p:sp>
        <p:nvSpPr>
          <p:cNvPr id="599" name="Google Shape;599;p21"/>
          <p:cNvSpPr/>
          <p:nvPr/>
        </p:nvSpPr>
        <p:spPr>
          <a:xfrm>
            <a:off x="5120640" y="3145535"/>
            <a:ext cx="1554600" cy="621900"/>
          </a:xfrm>
          <a:prstGeom prst="rect">
            <a:avLst/>
          </a:prstGeom>
          <a:solidFill>
            <a:srgbClr val="F4F8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0" name="Google Shape;600;p21"/>
          <p:cNvSpPr txBox="1"/>
          <p:nvPr/>
        </p:nvSpPr>
        <p:spPr>
          <a:xfrm>
            <a:off x="5166360" y="3273551"/>
            <a:ext cx="14631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3.13%</a:t>
            </a:r>
            <a:endParaRPr sz="1500"/>
          </a:p>
        </p:txBody>
      </p:sp>
      <p:sp>
        <p:nvSpPr>
          <p:cNvPr id="601" name="Google Shape;601;p21"/>
          <p:cNvSpPr/>
          <p:nvPr/>
        </p:nvSpPr>
        <p:spPr>
          <a:xfrm>
            <a:off x="6720840" y="3145535"/>
            <a:ext cx="1645800" cy="621900"/>
          </a:xfrm>
          <a:prstGeom prst="rect">
            <a:avLst/>
          </a:prstGeom>
          <a:solidFill>
            <a:srgbClr val="F4F8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2" name="Google Shape;602;p21"/>
          <p:cNvSpPr txBox="1"/>
          <p:nvPr/>
        </p:nvSpPr>
        <p:spPr>
          <a:xfrm>
            <a:off x="6766560" y="3273551"/>
            <a:ext cx="1554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±5.72%</a:t>
            </a:r>
            <a:endParaRPr sz="1500"/>
          </a:p>
        </p:txBody>
      </p:sp>
      <p:sp>
        <p:nvSpPr>
          <p:cNvPr id="603" name="Google Shape;603;p21"/>
          <p:cNvSpPr/>
          <p:nvPr/>
        </p:nvSpPr>
        <p:spPr>
          <a:xfrm>
            <a:off x="8412480" y="3145535"/>
            <a:ext cx="1600200" cy="621900"/>
          </a:xfrm>
          <a:prstGeom prst="rect">
            <a:avLst/>
          </a:prstGeom>
          <a:solidFill>
            <a:srgbClr val="F4F8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4" name="Google Shape;604;p21"/>
          <p:cNvSpPr txBox="1"/>
          <p:nvPr/>
        </p:nvSpPr>
        <p:spPr>
          <a:xfrm>
            <a:off x="8458200" y="3273551"/>
            <a:ext cx="1508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96.87%</a:t>
            </a:r>
            <a:endParaRPr sz="1500"/>
          </a:p>
        </p:txBody>
      </p:sp>
      <p:sp>
        <p:nvSpPr>
          <p:cNvPr id="605" name="Google Shape;605;p21"/>
          <p:cNvSpPr/>
          <p:nvPr/>
        </p:nvSpPr>
        <p:spPr>
          <a:xfrm>
            <a:off x="10058400" y="3145535"/>
            <a:ext cx="1828800" cy="621900"/>
          </a:xfrm>
          <a:prstGeom prst="rect">
            <a:avLst/>
          </a:prstGeom>
          <a:solidFill>
            <a:srgbClr val="F4F8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6" name="Google Shape;606;p21"/>
          <p:cNvSpPr txBox="1"/>
          <p:nvPr/>
        </p:nvSpPr>
        <p:spPr>
          <a:xfrm>
            <a:off x="10104120" y="3273551"/>
            <a:ext cx="17373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±5.72%</a:t>
            </a:r>
            <a:endParaRPr sz="1500"/>
          </a:p>
        </p:txBody>
      </p:sp>
      <p:sp>
        <p:nvSpPr>
          <p:cNvPr id="607" name="Google Shape;607;p21"/>
          <p:cNvSpPr/>
          <p:nvPr/>
        </p:nvSpPr>
        <p:spPr>
          <a:xfrm>
            <a:off x="411480" y="3803904"/>
            <a:ext cx="4663500" cy="6219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8" name="Google Shape;608;p21"/>
          <p:cNvSpPr txBox="1"/>
          <p:nvPr/>
        </p:nvSpPr>
        <p:spPr>
          <a:xfrm>
            <a:off x="502920" y="3913632"/>
            <a:ext cx="45264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FFFFFF"/>
                </a:solidFill>
                <a:latin typeface="Calibri"/>
                <a:ea typeface="Calibri"/>
                <a:cs typeface="Calibri"/>
                <a:sym typeface="Calibri"/>
              </a:rPr>
              <a:t>Χωρίς Συντονισμό (κανένα από τα δύο)</a:t>
            </a:r>
            <a:endParaRPr sz="1500"/>
          </a:p>
        </p:txBody>
      </p:sp>
      <p:sp>
        <p:nvSpPr>
          <p:cNvPr id="609" name="Google Shape;609;p21"/>
          <p:cNvSpPr/>
          <p:nvPr/>
        </p:nvSpPr>
        <p:spPr>
          <a:xfrm>
            <a:off x="5120640" y="3803904"/>
            <a:ext cx="1554600" cy="6219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0" name="Google Shape;610;p21"/>
          <p:cNvSpPr txBox="1"/>
          <p:nvPr/>
        </p:nvSpPr>
        <p:spPr>
          <a:xfrm>
            <a:off x="5166360" y="3931920"/>
            <a:ext cx="14631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3.77%</a:t>
            </a:r>
            <a:endParaRPr sz="1500"/>
          </a:p>
        </p:txBody>
      </p:sp>
      <p:sp>
        <p:nvSpPr>
          <p:cNvPr id="611" name="Google Shape;611;p21"/>
          <p:cNvSpPr/>
          <p:nvPr/>
        </p:nvSpPr>
        <p:spPr>
          <a:xfrm>
            <a:off x="6720840" y="3803904"/>
            <a:ext cx="1645800" cy="6219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2" name="Google Shape;612;p21"/>
          <p:cNvSpPr txBox="1"/>
          <p:nvPr/>
        </p:nvSpPr>
        <p:spPr>
          <a:xfrm>
            <a:off x="6766560" y="3931920"/>
            <a:ext cx="1554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±5.88%</a:t>
            </a:r>
            <a:endParaRPr sz="1500"/>
          </a:p>
        </p:txBody>
      </p:sp>
      <p:sp>
        <p:nvSpPr>
          <p:cNvPr id="613" name="Google Shape;613;p21"/>
          <p:cNvSpPr/>
          <p:nvPr/>
        </p:nvSpPr>
        <p:spPr>
          <a:xfrm>
            <a:off x="8412480" y="3803904"/>
            <a:ext cx="1600200" cy="6219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4" name="Google Shape;614;p21"/>
          <p:cNvSpPr txBox="1"/>
          <p:nvPr/>
        </p:nvSpPr>
        <p:spPr>
          <a:xfrm>
            <a:off x="8458200" y="3931920"/>
            <a:ext cx="1508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96.23%</a:t>
            </a:r>
            <a:endParaRPr sz="1500"/>
          </a:p>
        </p:txBody>
      </p:sp>
      <p:sp>
        <p:nvSpPr>
          <p:cNvPr id="615" name="Google Shape;615;p21"/>
          <p:cNvSpPr/>
          <p:nvPr/>
        </p:nvSpPr>
        <p:spPr>
          <a:xfrm>
            <a:off x="10058400" y="3803904"/>
            <a:ext cx="1828800" cy="621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6" name="Google Shape;616;p21"/>
          <p:cNvSpPr txBox="1"/>
          <p:nvPr/>
        </p:nvSpPr>
        <p:spPr>
          <a:xfrm>
            <a:off x="10104120" y="3931920"/>
            <a:ext cx="17373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3A3A3A"/>
                </a:solidFill>
                <a:latin typeface="Calibri"/>
                <a:ea typeface="Calibri"/>
                <a:cs typeface="Calibri"/>
                <a:sym typeface="Calibri"/>
              </a:rPr>
              <a:t>±5.88%</a:t>
            </a:r>
            <a:endParaRPr sz="1500"/>
          </a:p>
        </p:txBody>
      </p:sp>
      <p:pic>
        <p:nvPicPr>
          <p:cNvPr descr="ablation_results.png" id="617" name="Google Shape;617;p21"/>
          <p:cNvPicPr preferRelativeResize="0"/>
          <p:nvPr/>
        </p:nvPicPr>
        <p:blipFill rotWithShape="1">
          <a:blip r:embed="rId3">
            <a:alphaModFix/>
          </a:blip>
          <a:srcRect b="0" l="0" r="0" t="0"/>
          <a:stretch/>
        </p:blipFill>
        <p:spPr>
          <a:xfrm>
            <a:off x="365760" y="4498848"/>
            <a:ext cx="6858000" cy="1920240"/>
          </a:xfrm>
          <a:prstGeom prst="rect">
            <a:avLst/>
          </a:prstGeom>
          <a:noFill/>
          <a:ln>
            <a:noFill/>
          </a:ln>
        </p:spPr>
      </p:pic>
      <p:sp>
        <p:nvSpPr>
          <p:cNvPr id="618" name="Google Shape;618;p21"/>
          <p:cNvSpPr/>
          <p:nvPr/>
        </p:nvSpPr>
        <p:spPr>
          <a:xfrm>
            <a:off x="7315200" y="4498848"/>
            <a:ext cx="4572000" cy="1920240"/>
          </a:xfrm>
          <a:prstGeom prst="rect">
            <a:avLst/>
          </a:prstGeom>
          <a:solidFill>
            <a:srgbClr val="FFF4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p21"/>
          <p:cNvSpPr txBox="1"/>
          <p:nvPr/>
        </p:nvSpPr>
        <p:spPr>
          <a:xfrm>
            <a:off x="7452360" y="4590288"/>
            <a:ext cx="42978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D46A17"/>
                </a:solidFill>
                <a:latin typeface="Calibri"/>
                <a:ea typeface="Calibri"/>
                <a:cs typeface="Calibri"/>
                <a:sym typeface="Calibri"/>
              </a:rPr>
              <a:t>Κύριο Εύρημα</a:t>
            </a:r>
            <a:endParaRPr sz="1500"/>
          </a:p>
        </p:txBody>
      </p:sp>
      <p:sp>
        <p:nvSpPr>
          <p:cNvPr id="620" name="Google Shape;620;p21"/>
          <p:cNvSpPr txBox="1"/>
          <p:nvPr/>
        </p:nvSpPr>
        <p:spPr>
          <a:xfrm>
            <a:off x="7452360" y="4974336"/>
            <a:ext cx="4297800" cy="1493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300">
                <a:solidFill>
                  <a:srgbClr val="3A3A3A"/>
                </a:solidFill>
                <a:latin typeface="Calibri"/>
                <a:ea typeface="Calibri"/>
                <a:cs typeface="Calibri"/>
                <a:sym typeface="Calibri"/>
              </a:rPr>
              <a:t>Μόνο η αφαίρεση αμφότερων των μηχανισμών ταυτόχρονα δίνει αριθμητικά χειρότερη έκβαση (3.77% θνησιμότητα, 96.23% εκκένωση), χωρίς η διαφορά να είναι στατιστικά σημαντική (p &gt; 0.05). Οι μεμονωμένες επιδράσεις δεν ξεπερνούν τη στοχαστική διακύμανση (SD ≈ 6%). Σε πολυπλοκότερα σενάρια το σήμα αναμένεται ισχυρότερο.</a:t>
            </a:r>
            <a:endParaRPr sz="1300">
              <a:solidFill>
                <a:srgbClr val="3A3A3A"/>
              </a:solidFill>
              <a:latin typeface="Calibri"/>
              <a:ea typeface="Calibri"/>
              <a:cs typeface="Calibri"/>
              <a:sym typeface="Calibri"/>
            </a:endParaRPr>
          </a:p>
          <a:p>
            <a:pPr indent="0" lvl="0" marL="0" marR="0" rtl="0" algn="l">
              <a:spcBef>
                <a:spcPts val="0"/>
              </a:spcBef>
              <a:spcAft>
                <a:spcPts val="0"/>
              </a:spcAft>
              <a:buNone/>
            </a:pPr>
            <a:r>
              <a:t/>
            </a:r>
            <a:endParaRPr sz="1300">
              <a:solidFill>
                <a:srgbClr val="3A3A3A"/>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22"/>
          <p:cNvSpPr/>
          <p:nvPr/>
        </p:nvSpPr>
        <p:spPr>
          <a:xfrm>
            <a:off x="0" y="0"/>
            <a:ext cx="12189000"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7" name="Google Shape;627;p22"/>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8" name="Google Shape;628;p22"/>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9" name="Google Shape;629;p22"/>
          <p:cNvSpPr txBox="1"/>
          <p:nvPr/>
        </p:nvSpPr>
        <p:spPr>
          <a:xfrm>
            <a:off x="164592" y="194017"/>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Αποτελέσματα — Ανάλυση Ευαισθησίας Sobol</a:t>
            </a:r>
            <a:endParaRPr sz="3500"/>
          </a:p>
        </p:txBody>
      </p:sp>
      <p:sp>
        <p:nvSpPr>
          <p:cNvPr id="630" name="Google Shape;630;p22"/>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22"/>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pic>
        <p:nvPicPr>
          <p:cNvPr descr="sensitivity_results.png" id="632" name="Google Shape;632;p22"/>
          <p:cNvPicPr preferRelativeResize="0"/>
          <p:nvPr/>
        </p:nvPicPr>
        <p:blipFill rotWithShape="1">
          <a:blip r:embed="rId3">
            <a:alphaModFix/>
          </a:blip>
          <a:srcRect b="0" l="0" r="0" t="0"/>
          <a:stretch/>
        </p:blipFill>
        <p:spPr>
          <a:xfrm>
            <a:off x="213250" y="1234450"/>
            <a:ext cx="7010499" cy="4206301"/>
          </a:xfrm>
          <a:prstGeom prst="rect">
            <a:avLst/>
          </a:prstGeom>
          <a:noFill/>
          <a:ln>
            <a:noFill/>
          </a:ln>
        </p:spPr>
      </p:pic>
      <p:sp>
        <p:nvSpPr>
          <p:cNvPr id="633" name="Google Shape;633;p22"/>
          <p:cNvSpPr/>
          <p:nvPr/>
        </p:nvSpPr>
        <p:spPr>
          <a:xfrm>
            <a:off x="7406650" y="1234450"/>
            <a:ext cx="4572000" cy="42063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4" name="Google Shape;634;p22"/>
          <p:cNvSpPr txBox="1"/>
          <p:nvPr/>
        </p:nvSpPr>
        <p:spPr>
          <a:xfrm>
            <a:off x="7543800" y="1325880"/>
            <a:ext cx="42978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D46A17"/>
                </a:solidFill>
                <a:latin typeface="Calibri"/>
                <a:ea typeface="Calibri"/>
                <a:cs typeface="Calibri"/>
                <a:sym typeface="Calibri"/>
              </a:rPr>
              <a:t>Δείκτες Ολικής Επίδρασης S_T</a:t>
            </a:r>
            <a:endParaRPr sz="1600"/>
          </a:p>
        </p:txBody>
      </p:sp>
      <p:sp>
        <p:nvSpPr>
          <p:cNvPr id="635" name="Google Shape;635;p22"/>
          <p:cNvSpPr/>
          <p:nvPr/>
        </p:nvSpPr>
        <p:spPr>
          <a:xfrm>
            <a:off x="7452360" y="1828800"/>
            <a:ext cx="2743200" cy="347472"/>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6" name="Google Shape;636;p22"/>
          <p:cNvSpPr txBox="1"/>
          <p:nvPr/>
        </p:nvSpPr>
        <p:spPr>
          <a:xfrm>
            <a:off x="7488936" y="1847088"/>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u="none" cap="none" strike="noStrike">
                <a:solidFill>
                  <a:srgbClr val="FFFFFF"/>
                </a:solidFill>
                <a:latin typeface="Calibri"/>
                <a:ea typeface="Calibri"/>
                <a:cs typeface="Calibri"/>
                <a:sym typeface="Calibri"/>
              </a:rPr>
              <a:t>Παράμετρος</a:t>
            </a:r>
            <a:endParaRPr/>
          </a:p>
        </p:txBody>
      </p:sp>
      <p:sp>
        <p:nvSpPr>
          <p:cNvPr id="637" name="Google Shape;637;p22"/>
          <p:cNvSpPr/>
          <p:nvPr/>
        </p:nvSpPr>
        <p:spPr>
          <a:xfrm>
            <a:off x="10195560" y="1828800"/>
            <a:ext cx="978408" cy="347472"/>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Google Shape;638;p22"/>
          <p:cNvSpPr txBox="1"/>
          <p:nvPr/>
        </p:nvSpPr>
        <p:spPr>
          <a:xfrm>
            <a:off x="10127951" y="1772675"/>
            <a:ext cx="10827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50" u="none" cap="none" strike="noStrike">
                <a:solidFill>
                  <a:srgbClr val="FFFFFF"/>
                </a:solidFill>
                <a:latin typeface="Calibri"/>
                <a:ea typeface="Calibri"/>
                <a:cs typeface="Calibri"/>
                <a:sym typeface="Calibri"/>
              </a:rPr>
              <a:t>S_T</a:t>
            </a:r>
            <a:br>
              <a:rPr b="1" i="0" lang="en-US" sz="1150" u="none" cap="none" strike="noStrike">
                <a:solidFill>
                  <a:srgbClr val="FFFFFF"/>
                </a:solidFill>
                <a:latin typeface="Calibri"/>
                <a:ea typeface="Calibri"/>
                <a:cs typeface="Calibri"/>
                <a:sym typeface="Calibri"/>
              </a:rPr>
            </a:br>
            <a:r>
              <a:rPr b="1" i="0" lang="en-US" sz="1150" u="none" cap="none" strike="noStrike">
                <a:solidFill>
                  <a:srgbClr val="FFFFFF"/>
                </a:solidFill>
                <a:latin typeface="Calibri"/>
                <a:ea typeface="Calibri"/>
                <a:cs typeface="Calibri"/>
                <a:sym typeface="Calibri"/>
              </a:rPr>
              <a:t>Θνησιμότητα</a:t>
            </a:r>
            <a:endParaRPr sz="1500"/>
          </a:p>
        </p:txBody>
      </p:sp>
      <p:sp>
        <p:nvSpPr>
          <p:cNvPr id="639" name="Google Shape;639;p22"/>
          <p:cNvSpPr/>
          <p:nvPr/>
        </p:nvSpPr>
        <p:spPr>
          <a:xfrm>
            <a:off x="11173974" y="1828800"/>
            <a:ext cx="813900" cy="3474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22"/>
          <p:cNvSpPr txBox="1"/>
          <p:nvPr/>
        </p:nvSpPr>
        <p:spPr>
          <a:xfrm>
            <a:off x="11210550" y="1787575"/>
            <a:ext cx="9237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50" u="none" cap="none" strike="noStrike">
                <a:solidFill>
                  <a:srgbClr val="FFFFFF"/>
                </a:solidFill>
                <a:latin typeface="Calibri"/>
                <a:ea typeface="Calibri"/>
                <a:cs typeface="Calibri"/>
                <a:sym typeface="Calibri"/>
              </a:rPr>
              <a:t>S_T</a:t>
            </a:r>
            <a:br>
              <a:rPr b="1" i="0" lang="en-US" sz="1150" u="none" cap="none" strike="noStrike">
                <a:solidFill>
                  <a:srgbClr val="FFFFFF"/>
                </a:solidFill>
                <a:latin typeface="Calibri"/>
                <a:ea typeface="Calibri"/>
                <a:cs typeface="Calibri"/>
                <a:sym typeface="Calibri"/>
              </a:rPr>
            </a:br>
            <a:r>
              <a:rPr b="1" i="0" lang="en-US" sz="1150" u="none" cap="none" strike="noStrike">
                <a:solidFill>
                  <a:srgbClr val="FFFFFF"/>
                </a:solidFill>
                <a:latin typeface="Calibri"/>
                <a:ea typeface="Calibri"/>
                <a:cs typeface="Calibri"/>
                <a:sym typeface="Calibri"/>
              </a:rPr>
              <a:t>Εκκένωση</a:t>
            </a:r>
            <a:endParaRPr sz="1500"/>
          </a:p>
        </p:txBody>
      </p:sp>
      <p:sp>
        <p:nvSpPr>
          <p:cNvPr id="641" name="Google Shape;641;p22"/>
          <p:cNvSpPr/>
          <p:nvPr/>
        </p:nvSpPr>
        <p:spPr>
          <a:xfrm>
            <a:off x="7452360" y="2212848"/>
            <a:ext cx="2743200"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2" name="Google Shape;642;p22"/>
          <p:cNvSpPr txBox="1"/>
          <p:nvPr/>
        </p:nvSpPr>
        <p:spPr>
          <a:xfrm>
            <a:off x="7488936" y="2286000"/>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FFFFFF"/>
                </a:solidFill>
                <a:latin typeface="Calibri"/>
                <a:ea typeface="Calibri"/>
                <a:cs typeface="Calibri"/>
                <a:sym typeface="Calibri"/>
              </a:rPr>
              <a:t>Πιθανότητα εξάπλωσης φωτιάς</a:t>
            </a:r>
            <a:endParaRPr/>
          </a:p>
        </p:txBody>
      </p:sp>
      <p:sp>
        <p:nvSpPr>
          <p:cNvPr id="643" name="Google Shape;643;p22"/>
          <p:cNvSpPr/>
          <p:nvPr/>
        </p:nvSpPr>
        <p:spPr>
          <a:xfrm>
            <a:off x="10195560" y="2212848"/>
            <a:ext cx="978408"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4" name="Google Shape;644;p22"/>
          <p:cNvSpPr txBox="1"/>
          <p:nvPr/>
        </p:nvSpPr>
        <p:spPr>
          <a:xfrm>
            <a:off x="10232136" y="2286000"/>
            <a:ext cx="9234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0.90</a:t>
            </a:r>
            <a:endParaRPr sz="1500"/>
          </a:p>
        </p:txBody>
      </p:sp>
      <p:sp>
        <p:nvSpPr>
          <p:cNvPr id="645" name="Google Shape;645;p22"/>
          <p:cNvSpPr/>
          <p:nvPr/>
        </p:nvSpPr>
        <p:spPr>
          <a:xfrm>
            <a:off x="11173974" y="2212850"/>
            <a:ext cx="813900"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22"/>
          <p:cNvSpPr txBox="1"/>
          <p:nvPr/>
        </p:nvSpPr>
        <p:spPr>
          <a:xfrm>
            <a:off x="11210549" y="2286000"/>
            <a:ext cx="749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0.94</a:t>
            </a:r>
            <a:endParaRPr sz="1500"/>
          </a:p>
        </p:txBody>
      </p:sp>
      <p:sp>
        <p:nvSpPr>
          <p:cNvPr id="647" name="Google Shape;647;p22"/>
          <p:cNvSpPr/>
          <p:nvPr/>
        </p:nvSpPr>
        <p:spPr>
          <a:xfrm>
            <a:off x="7452360" y="2706624"/>
            <a:ext cx="2743200"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22"/>
          <p:cNvSpPr txBox="1"/>
          <p:nvPr/>
        </p:nvSpPr>
        <p:spPr>
          <a:xfrm>
            <a:off x="7488936" y="2779776"/>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FFFFFF"/>
                </a:solidFill>
                <a:latin typeface="Calibri"/>
                <a:ea typeface="Calibri"/>
                <a:cs typeface="Calibri"/>
                <a:sym typeface="Calibri"/>
              </a:rPr>
              <a:t>ROS βάσης Rothermel</a:t>
            </a:r>
            <a:endParaRPr/>
          </a:p>
        </p:txBody>
      </p:sp>
      <p:sp>
        <p:nvSpPr>
          <p:cNvPr id="649" name="Google Shape;649;p22"/>
          <p:cNvSpPr/>
          <p:nvPr/>
        </p:nvSpPr>
        <p:spPr>
          <a:xfrm>
            <a:off x="10195560" y="2706624"/>
            <a:ext cx="978408"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22"/>
          <p:cNvSpPr txBox="1"/>
          <p:nvPr/>
        </p:nvSpPr>
        <p:spPr>
          <a:xfrm>
            <a:off x="10232136" y="2779776"/>
            <a:ext cx="9234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0.83</a:t>
            </a:r>
            <a:endParaRPr sz="1500"/>
          </a:p>
        </p:txBody>
      </p:sp>
      <p:sp>
        <p:nvSpPr>
          <p:cNvPr id="651" name="Google Shape;651;p22"/>
          <p:cNvSpPr/>
          <p:nvPr/>
        </p:nvSpPr>
        <p:spPr>
          <a:xfrm>
            <a:off x="11173974" y="2706625"/>
            <a:ext cx="813900"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2" name="Google Shape;652;p22"/>
          <p:cNvSpPr txBox="1"/>
          <p:nvPr/>
        </p:nvSpPr>
        <p:spPr>
          <a:xfrm>
            <a:off x="11210549" y="2779775"/>
            <a:ext cx="8139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0.84</a:t>
            </a:r>
            <a:endParaRPr sz="1500"/>
          </a:p>
        </p:txBody>
      </p:sp>
      <p:sp>
        <p:nvSpPr>
          <p:cNvPr id="653" name="Google Shape;653;p22"/>
          <p:cNvSpPr/>
          <p:nvPr/>
        </p:nvSpPr>
        <p:spPr>
          <a:xfrm>
            <a:off x="7452360" y="3200400"/>
            <a:ext cx="2743200"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4" name="Google Shape;654;p22"/>
          <p:cNvSpPr txBox="1"/>
          <p:nvPr/>
        </p:nvSpPr>
        <p:spPr>
          <a:xfrm>
            <a:off x="7488936" y="3273552"/>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FFFFFF"/>
                </a:solidFill>
                <a:latin typeface="Calibri"/>
                <a:ea typeface="Calibri"/>
                <a:cs typeface="Calibri"/>
                <a:sym typeface="Calibri"/>
              </a:rPr>
              <a:t>Αριθμός </a:t>
            </a:r>
            <a:r>
              <a:rPr lang="en-US">
                <a:solidFill>
                  <a:srgbClr val="FFFFFF"/>
                </a:solidFill>
                <a:latin typeface="Calibri"/>
                <a:ea typeface="Calibri"/>
                <a:cs typeface="Calibri"/>
                <a:sym typeface="Calibri"/>
              </a:rPr>
              <a:t>πολιτών</a:t>
            </a:r>
            <a:endParaRPr/>
          </a:p>
        </p:txBody>
      </p:sp>
      <p:sp>
        <p:nvSpPr>
          <p:cNvPr id="655" name="Google Shape;655;p22"/>
          <p:cNvSpPr/>
          <p:nvPr/>
        </p:nvSpPr>
        <p:spPr>
          <a:xfrm>
            <a:off x="10195560" y="3200400"/>
            <a:ext cx="978408"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6" name="Google Shape;656;p22"/>
          <p:cNvSpPr txBox="1"/>
          <p:nvPr/>
        </p:nvSpPr>
        <p:spPr>
          <a:xfrm>
            <a:off x="10232136" y="3273552"/>
            <a:ext cx="9234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0.99</a:t>
            </a:r>
            <a:endParaRPr sz="1500"/>
          </a:p>
        </p:txBody>
      </p:sp>
      <p:sp>
        <p:nvSpPr>
          <p:cNvPr id="657" name="Google Shape;657;p22"/>
          <p:cNvSpPr/>
          <p:nvPr/>
        </p:nvSpPr>
        <p:spPr>
          <a:xfrm>
            <a:off x="11173974" y="3200400"/>
            <a:ext cx="813900"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8" name="Google Shape;658;p22"/>
          <p:cNvSpPr txBox="1"/>
          <p:nvPr/>
        </p:nvSpPr>
        <p:spPr>
          <a:xfrm>
            <a:off x="11210549" y="3273550"/>
            <a:ext cx="749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0.94</a:t>
            </a:r>
            <a:endParaRPr sz="1500"/>
          </a:p>
        </p:txBody>
      </p:sp>
      <p:sp>
        <p:nvSpPr>
          <p:cNvPr id="659" name="Google Shape;659;p22"/>
          <p:cNvSpPr/>
          <p:nvPr/>
        </p:nvSpPr>
        <p:spPr>
          <a:xfrm>
            <a:off x="7452360" y="3694176"/>
            <a:ext cx="2743200"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0" name="Google Shape;660;p22"/>
          <p:cNvSpPr txBox="1"/>
          <p:nvPr/>
        </p:nvSpPr>
        <p:spPr>
          <a:xfrm>
            <a:off x="7488936" y="3767328"/>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FFFFFF"/>
                </a:solidFill>
                <a:latin typeface="Calibri"/>
                <a:ea typeface="Calibri"/>
                <a:cs typeface="Calibri"/>
                <a:sym typeface="Calibri"/>
              </a:rPr>
              <a:t>Εύρος ταλάντωσης ανέμου</a:t>
            </a:r>
            <a:endParaRPr/>
          </a:p>
        </p:txBody>
      </p:sp>
      <p:sp>
        <p:nvSpPr>
          <p:cNvPr id="661" name="Google Shape;661;p22"/>
          <p:cNvSpPr/>
          <p:nvPr/>
        </p:nvSpPr>
        <p:spPr>
          <a:xfrm>
            <a:off x="10195560" y="3694176"/>
            <a:ext cx="978408"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2" name="Google Shape;662;p22"/>
          <p:cNvSpPr txBox="1"/>
          <p:nvPr/>
        </p:nvSpPr>
        <p:spPr>
          <a:xfrm>
            <a:off x="10232136" y="3767328"/>
            <a:ext cx="9234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0.88</a:t>
            </a:r>
            <a:endParaRPr sz="1500"/>
          </a:p>
        </p:txBody>
      </p:sp>
      <p:sp>
        <p:nvSpPr>
          <p:cNvPr id="663" name="Google Shape;663;p22"/>
          <p:cNvSpPr/>
          <p:nvPr/>
        </p:nvSpPr>
        <p:spPr>
          <a:xfrm>
            <a:off x="11173974" y="3694175"/>
            <a:ext cx="813900"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4" name="Google Shape;664;p22"/>
          <p:cNvSpPr txBox="1"/>
          <p:nvPr/>
        </p:nvSpPr>
        <p:spPr>
          <a:xfrm>
            <a:off x="11210549" y="3767325"/>
            <a:ext cx="749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0.95</a:t>
            </a:r>
            <a:endParaRPr sz="1500"/>
          </a:p>
        </p:txBody>
      </p:sp>
      <p:sp>
        <p:nvSpPr>
          <p:cNvPr id="665" name="Google Shape;665;p22"/>
          <p:cNvSpPr/>
          <p:nvPr/>
        </p:nvSpPr>
        <p:spPr>
          <a:xfrm>
            <a:off x="7452360" y="4187952"/>
            <a:ext cx="2743200"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6" name="Google Shape;666;p22"/>
          <p:cNvSpPr txBox="1"/>
          <p:nvPr/>
        </p:nvSpPr>
        <p:spPr>
          <a:xfrm>
            <a:off x="7488936" y="4261104"/>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FFFFFF"/>
                </a:solidFill>
                <a:latin typeface="Calibri"/>
                <a:ea typeface="Calibri"/>
                <a:cs typeface="Calibri"/>
                <a:sym typeface="Calibri"/>
              </a:rPr>
              <a:t>Ποσοστό λογικών </a:t>
            </a:r>
            <a:r>
              <a:rPr lang="en-US">
                <a:solidFill>
                  <a:srgbClr val="FFFFFF"/>
                </a:solidFill>
                <a:latin typeface="Calibri"/>
                <a:ea typeface="Calibri"/>
                <a:cs typeface="Calibri"/>
                <a:sym typeface="Calibri"/>
              </a:rPr>
              <a:t>πολιτών</a:t>
            </a:r>
            <a:endParaRPr/>
          </a:p>
        </p:txBody>
      </p:sp>
      <p:sp>
        <p:nvSpPr>
          <p:cNvPr id="667" name="Google Shape;667;p22"/>
          <p:cNvSpPr/>
          <p:nvPr/>
        </p:nvSpPr>
        <p:spPr>
          <a:xfrm>
            <a:off x="10195560" y="4187952"/>
            <a:ext cx="978408"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8" name="Google Shape;668;p22"/>
          <p:cNvSpPr txBox="1"/>
          <p:nvPr/>
        </p:nvSpPr>
        <p:spPr>
          <a:xfrm>
            <a:off x="10232136" y="4261104"/>
            <a:ext cx="9234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0.84</a:t>
            </a:r>
            <a:endParaRPr sz="1500"/>
          </a:p>
        </p:txBody>
      </p:sp>
      <p:sp>
        <p:nvSpPr>
          <p:cNvPr id="669" name="Google Shape;669;p22"/>
          <p:cNvSpPr/>
          <p:nvPr/>
        </p:nvSpPr>
        <p:spPr>
          <a:xfrm>
            <a:off x="11173974" y="4187950"/>
            <a:ext cx="813900" cy="457200"/>
          </a:xfrm>
          <a:prstGeom prst="rect">
            <a:avLst/>
          </a:prstGeom>
          <a:solidFill>
            <a:srgbClr val="223A5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0" name="Google Shape;670;p22"/>
          <p:cNvSpPr txBox="1"/>
          <p:nvPr/>
        </p:nvSpPr>
        <p:spPr>
          <a:xfrm>
            <a:off x="11210549" y="4261100"/>
            <a:ext cx="749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0.85</a:t>
            </a:r>
            <a:endParaRPr sz="1500"/>
          </a:p>
        </p:txBody>
      </p:sp>
      <p:sp>
        <p:nvSpPr>
          <p:cNvPr id="671" name="Google Shape;671;p22"/>
          <p:cNvSpPr/>
          <p:nvPr/>
        </p:nvSpPr>
        <p:spPr>
          <a:xfrm>
            <a:off x="7452360" y="4681728"/>
            <a:ext cx="2743200"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2" name="Google Shape;672;p22"/>
          <p:cNvSpPr txBox="1"/>
          <p:nvPr/>
        </p:nvSpPr>
        <p:spPr>
          <a:xfrm>
            <a:off x="7488936" y="4754880"/>
            <a:ext cx="268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FFFFFF"/>
                </a:solidFill>
                <a:latin typeface="Calibri"/>
                <a:ea typeface="Calibri"/>
                <a:cs typeface="Calibri"/>
                <a:sym typeface="Calibri"/>
              </a:rPr>
              <a:t>Ταχύτητα ελεύθερης ροής</a:t>
            </a:r>
            <a:endParaRPr/>
          </a:p>
        </p:txBody>
      </p:sp>
      <p:sp>
        <p:nvSpPr>
          <p:cNvPr id="673" name="Google Shape;673;p22"/>
          <p:cNvSpPr/>
          <p:nvPr/>
        </p:nvSpPr>
        <p:spPr>
          <a:xfrm>
            <a:off x="10195560" y="4681728"/>
            <a:ext cx="978408"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4" name="Google Shape;674;p22"/>
          <p:cNvSpPr txBox="1"/>
          <p:nvPr/>
        </p:nvSpPr>
        <p:spPr>
          <a:xfrm>
            <a:off x="10232136" y="4754880"/>
            <a:ext cx="9234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1.01</a:t>
            </a:r>
            <a:endParaRPr sz="1500"/>
          </a:p>
        </p:txBody>
      </p:sp>
      <p:sp>
        <p:nvSpPr>
          <p:cNvPr id="675" name="Google Shape;675;p22"/>
          <p:cNvSpPr/>
          <p:nvPr/>
        </p:nvSpPr>
        <p:spPr>
          <a:xfrm>
            <a:off x="11173974" y="4681725"/>
            <a:ext cx="813900" cy="4572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6" name="Google Shape;676;p22"/>
          <p:cNvSpPr txBox="1"/>
          <p:nvPr/>
        </p:nvSpPr>
        <p:spPr>
          <a:xfrm>
            <a:off x="11210549" y="4754875"/>
            <a:ext cx="7497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D46A17"/>
                </a:solidFill>
                <a:latin typeface="Calibri"/>
                <a:ea typeface="Calibri"/>
                <a:cs typeface="Calibri"/>
                <a:sym typeface="Calibri"/>
              </a:rPr>
              <a:t>0.96</a:t>
            </a:r>
            <a:endParaRPr sz="1500"/>
          </a:p>
        </p:txBody>
      </p:sp>
      <p:sp>
        <p:nvSpPr>
          <p:cNvPr id="677" name="Google Shape;677;p22"/>
          <p:cNvSpPr/>
          <p:nvPr/>
        </p:nvSpPr>
        <p:spPr>
          <a:xfrm>
            <a:off x="228400" y="5440675"/>
            <a:ext cx="11731800" cy="1143000"/>
          </a:xfrm>
          <a:prstGeom prst="rect">
            <a:avLst/>
          </a:prstGeom>
          <a:solidFill>
            <a:srgbClr val="FFF4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8" name="Google Shape;678;p22"/>
          <p:cNvSpPr txBox="1"/>
          <p:nvPr/>
        </p:nvSpPr>
        <p:spPr>
          <a:xfrm>
            <a:off x="548640" y="5504688"/>
            <a:ext cx="27432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D46A17"/>
                </a:solidFill>
                <a:latin typeface="Calibri"/>
                <a:ea typeface="Calibri"/>
                <a:cs typeface="Calibri"/>
                <a:sym typeface="Calibri"/>
              </a:rPr>
              <a:t>Κύριο Εύρημα</a:t>
            </a:r>
            <a:endParaRPr sz="1500"/>
          </a:p>
        </p:txBody>
      </p:sp>
      <p:sp>
        <p:nvSpPr>
          <p:cNvPr id="679" name="Google Shape;679;p22"/>
          <p:cNvSpPr txBox="1"/>
          <p:nvPr/>
        </p:nvSpPr>
        <p:spPr>
          <a:xfrm>
            <a:off x="548640" y="5782525"/>
            <a:ext cx="11091600" cy="73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3A3A3A"/>
                </a:solidFill>
                <a:latin typeface="Calibri"/>
                <a:ea typeface="Calibri"/>
                <a:cs typeface="Calibri"/>
                <a:sym typeface="Calibri"/>
              </a:rPr>
              <a:t>Κανένας παράγοντας δεν κυριαρχεί μόνος</a:t>
            </a:r>
            <a:r>
              <a:rPr lang="en-US">
                <a:solidFill>
                  <a:srgbClr val="3A3A3A"/>
                </a:solidFill>
                <a:latin typeface="Calibri"/>
                <a:ea typeface="Calibri"/>
                <a:cs typeface="Calibri"/>
                <a:sym typeface="Calibri"/>
              </a:rPr>
              <a:t>,</a:t>
            </a:r>
            <a:r>
              <a:rPr b="0" i="0" lang="en-US" u="none" cap="none" strike="noStrike">
                <a:solidFill>
                  <a:srgbClr val="3A3A3A"/>
                </a:solidFill>
                <a:latin typeface="Calibri"/>
                <a:ea typeface="Calibri"/>
                <a:cs typeface="Calibri"/>
                <a:sym typeface="Calibri"/>
              </a:rPr>
              <a:t> η έκβαση εξαρτάται από αλληλεπιδράσεις. Χάσμα S_T − S₁ ≈ 0.7–0.9: σχεδόν όλη η διακύμανση οφείλεται σε συνδυασμούς. Διάρκεια (steps): S_T ∈ [0.73, 0.80</a:t>
            </a:r>
            <a:r>
              <a:rPr b="0" i="0" lang="en-US" u="none" cap="none" strike="noStrike">
                <a:solidFill>
                  <a:srgbClr val="3A3A3A"/>
                </a:solidFill>
                <a:latin typeface="Calibri"/>
                <a:ea typeface="Calibri"/>
                <a:cs typeface="Calibri"/>
                <a:sym typeface="Calibri"/>
              </a:rPr>
              <a:t>]</a:t>
            </a:r>
            <a:r>
              <a:rPr lang="en-US">
                <a:solidFill>
                  <a:srgbClr val="3A3A3A"/>
                </a:solidFill>
                <a:latin typeface="Calibri"/>
                <a:ea typeface="Calibri"/>
                <a:cs typeface="Calibri"/>
                <a:sym typeface="Calibri"/>
              </a:rPr>
              <a:t>, </a:t>
            </a:r>
            <a:r>
              <a:rPr b="0" i="0" lang="en-US" u="none" cap="none" strike="noStrike">
                <a:solidFill>
                  <a:srgbClr val="3A3A3A"/>
                </a:solidFill>
                <a:latin typeface="Calibri"/>
                <a:ea typeface="Calibri"/>
                <a:cs typeface="Calibri"/>
                <a:sym typeface="Calibri"/>
              </a:rPr>
              <a:t>πιο διαχειρίσιμη μεταβλητή σε σχέση με θνησιμότητα και εκκένωση</a:t>
            </a:r>
            <a:r>
              <a:rPr b="0" i="0" lang="en-US" u="none" cap="none" strike="noStrike">
                <a:solidFill>
                  <a:srgbClr val="3A3A3A"/>
                </a:solidFill>
                <a:latin typeface="Calibri"/>
                <a:ea typeface="Calibri"/>
                <a:cs typeface="Calibri"/>
                <a:sym typeface="Calibri"/>
              </a:rPr>
              <a:t>.</a:t>
            </a:r>
            <a:r>
              <a:rPr lang="en-US">
                <a:solidFill>
                  <a:srgbClr val="3A3A3A"/>
                </a:solidFill>
                <a:latin typeface="Calibri"/>
                <a:ea typeface="Calibri"/>
                <a:cs typeface="Calibri"/>
                <a:sym typeface="Calibri"/>
              </a:rPr>
              <a:t> </a:t>
            </a:r>
            <a:r>
              <a:rPr b="0" i="0" lang="en-US" u="none" cap="none" strike="noStrike">
                <a:solidFill>
                  <a:srgbClr val="3A3A3A"/>
                </a:solidFill>
                <a:latin typeface="Calibri"/>
                <a:ea typeface="Calibri"/>
                <a:cs typeface="Calibri"/>
                <a:sym typeface="Calibri"/>
              </a:rPr>
              <a:t>CIVILIAN_PANIC_RATIONAL: μεγαλύτερη άμεση επίδραση στη θνησιμότητα (S₁=0.131).</a:t>
            </a:r>
            <a:endParaRPr sz="1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23"/>
          <p:cNvSpPr/>
          <p:nvPr/>
        </p:nvSpPr>
        <p:spPr>
          <a:xfrm>
            <a:off x="0" y="0"/>
            <a:ext cx="12188952" cy="6858000"/>
          </a:xfrm>
          <a:prstGeom prst="rect">
            <a:avLst/>
          </a:prstGeom>
          <a:solidFill>
            <a:srgbClr val="F4F6F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6" name="Google Shape;686;p23"/>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7" name="Google Shape;687;p23"/>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8" name="Google Shape;688;p23"/>
          <p:cNvSpPr txBox="1"/>
          <p:nvPr/>
        </p:nvSpPr>
        <p:spPr>
          <a:xfrm>
            <a:off x="164592" y="180737"/>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Αποτελέσματα — Αξιολόγηση MARL</a:t>
            </a:r>
            <a:endParaRPr sz="3500"/>
          </a:p>
        </p:txBody>
      </p:sp>
      <p:sp>
        <p:nvSpPr>
          <p:cNvPr id="689" name="Google Shape;689;p23"/>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0" name="Google Shape;690;p23"/>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691" name="Google Shape;691;p23"/>
          <p:cNvSpPr/>
          <p:nvPr/>
        </p:nvSpPr>
        <p:spPr>
          <a:xfrm>
            <a:off x="7132325" y="1234450"/>
            <a:ext cx="2335800" cy="1234500"/>
          </a:xfrm>
          <a:prstGeom prst="rect">
            <a:avLst/>
          </a:prstGeom>
          <a:solidFill>
            <a:srgbClr val="1E8A4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2" name="Google Shape;692;p23"/>
          <p:cNvSpPr txBox="1"/>
          <p:nvPr/>
        </p:nvSpPr>
        <p:spPr>
          <a:xfrm>
            <a:off x="7242048" y="1307592"/>
            <a:ext cx="2377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u="none" cap="none" strike="noStrike">
                <a:solidFill>
                  <a:srgbClr val="FFFFFF"/>
                </a:solidFill>
                <a:latin typeface="Calibri"/>
                <a:ea typeface="Calibri"/>
                <a:cs typeface="Calibri"/>
                <a:sym typeface="Calibri"/>
              </a:rPr>
              <a:t>Σύγκλιση</a:t>
            </a:r>
            <a:endParaRPr sz="1800">
              <a:latin typeface="Calibri"/>
              <a:ea typeface="Calibri"/>
              <a:cs typeface="Calibri"/>
              <a:sym typeface="Calibri"/>
            </a:endParaRPr>
          </a:p>
        </p:txBody>
      </p:sp>
      <p:sp>
        <p:nvSpPr>
          <p:cNvPr id="693" name="Google Shape;693;p23"/>
          <p:cNvSpPr txBox="1"/>
          <p:nvPr/>
        </p:nvSpPr>
        <p:spPr>
          <a:xfrm>
            <a:off x="7242048" y="1673352"/>
            <a:ext cx="23775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Επεισόδιο </a:t>
            </a:r>
            <a:r>
              <a:rPr b="1" lang="en-US" sz="1500">
                <a:solidFill>
                  <a:srgbClr val="FFFFFF"/>
                </a:solidFill>
                <a:latin typeface="Calibri"/>
                <a:ea typeface="Calibri"/>
                <a:cs typeface="Calibri"/>
                <a:sym typeface="Calibri"/>
              </a:rPr>
              <a:t>576 ± 112</a:t>
            </a:r>
            <a:br>
              <a:rPr b="1" i="0" lang="en-US" sz="1600" u="none" cap="none" strike="noStrike">
                <a:solidFill>
                  <a:srgbClr val="FFFFFF"/>
                </a:solidFill>
                <a:latin typeface="Calibri"/>
                <a:ea typeface="Calibri"/>
                <a:cs typeface="Calibri"/>
                <a:sym typeface="Calibri"/>
              </a:rPr>
            </a:br>
            <a:r>
              <a:rPr b="1" i="0" lang="en-US" sz="1600" u="none" cap="none" strike="noStrike">
                <a:solidFill>
                  <a:srgbClr val="FFFFFF"/>
                </a:solidFill>
                <a:latin typeface="Calibri"/>
                <a:ea typeface="Calibri"/>
                <a:cs typeface="Calibri"/>
                <a:sym typeface="Calibri"/>
              </a:rPr>
              <a:t>(Φάση 1)</a:t>
            </a:r>
            <a:endParaRPr sz="1600"/>
          </a:p>
        </p:txBody>
      </p:sp>
      <p:sp>
        <p:nvSpPr>
          <p:cNvPr id="694" name="Google Shape;694;p23"/>
          <p:cNvSpPr/>
          <p:nvPr/>
        </p:nvSpPr>
        <p:spPr>
          <a:xfrm>
            <a:off x="9652075" y="1234450"/>
            <a:ext cx="2377500" cy="12345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5" name="Google Shape;695;p23"/>
          <p:cNvSpPr txBox="1"/>
          <p:nvPr/>
        </p:nvSpPr>
        <p:spPr>
          <a:xfrm>
            <a:off x="9839893" y="1307592"/>
            <a:ext cx="2377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Εκπαίδευση</a:t>
            </a:r>
            <a:endParaRPr sz="1800"/>
          </a:p>
        </p:txBody>
      </p:sp>
      <p:sp>
        <p:nvSpPr>
          <p:cNvPr id="696" name="Google Shape;696;p23"/>
          <p:cNvSpPr txBox="1"/>
          <p:nvPr/>
        </p:nvSpPr>
        <p:spPr>
          <a:xfrm>
            <a:off x="9857865" y="1673352"/>
            <a:ext cx="23775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Θνησιμότητα 12.</a:t>
            </a:r>
            <a:r>
              <a:rPr b="1" lang="en-US" sz="1600">
                <a:solidFill>
                  <a:srgbClr val="FFFFFF"/>
                </a:solidFill>
                <a:latin typeface="Calibri"/>
                <a:ea typeface="Calibri"/>
                <a:cs typeface="Calibri"/>
                <a:sym typeface="Calibri"/>
              </a:rPr>
              <a:t>3</a:t>
            </a:r>
            <a:r>
              <a:rPr b="1" i="0" lang="en-US" sz="1600" u="none" cap="none" strike="noStrike">
                <a:solidFill>
                  <a:srgbClr val="FFFFFF"/>
                </a:solidFill>
                <a:latin typeface="Calibri"/>
                <a:ea typeface="Calibri"/>
                <a:cs typeface="Calibri"/>
                <a:sym typeface="Calibri"/>
              </a:rPr>
              <a:t>%</a:t>
            </a:r>
            <a:br>
              <a:rPr b="1" i="0" lang="en-US" sz="1600" u="none" cap="none" strike="noStrike">
                <a:solidFill>
                  <a:srgbClr val="FFFFFF"/>
                </a:solidFill>
                <a:latin typeface="Calibri"/>
                <a:ea typeface="Calibri"/>
                <a:cs typeface="Calibri"/>
                <a:sym typeface="Calibri"/>
              </a:rPr>
            </a:br>
            <a:r>
              <a:rPr b="1" i="0" lang="en-US" sz="1600" u="none" cap="none" strike="noStrike">
                <a:solidFill>
                  <a:srgbClr val="FFFFFF"/>
                </a:solidFill>
                <a:latin typeface="Calibri"/>
                <a:ea typeface="Calibri"/>
                <a:cs typeface="Calibri"/>
                <a:sym typeface="Calibri"/>
              </a:rPr>
              <a:t>Εκκένωση 86.</a:t>
            </a:r>
            <a:r>
              <a:rPr b="1" lang="en-US" sz="1600">
                <a:solidFill>
                  <a:srgbClr val="FFFFFF"/>
                </a:solidFill>
                <a:latin typeface="Calibri"/>
                <a:ea typeface="Calibri"/>
                <a:cs typeface="Calibri"/>
                <a:sym typeface="Calibri"/>
              </a:rPr>
              <a:t>0</a:t>
            </a:r>
            <a:r>
              <a:rPr b="1" i="0" lang="en-US" sz="1600" u="none" cap="none" strike="noStrike">
                <a:solidFill>
                  <a:srgbClr val="FFFFFF"/>
                </a:solidFill>
                <a:latin typeface="Calibri"/>
                <a:ea typeface="Calibri"/>
                <a:cs typeface="Calibri"/>
                <a:sym typeface="Calibri"/>
              </a:rPr>
              <a:t>%</a:t>
            </a:r>
            <a:endParaRPr sz="1600"/>
          </a:p>
        </p:txBody>
      </p:sp>
      <p:sp>
        <p:nvSpPr>
          <p:cNvPr id="697" name="Google Shape;697;p23"/>
          <p:cNvSpPr/>
          <p:nvPr/>
        </p:nvSpPr>
        <p:spPr>
          <a:xfrm>
            <a:off x="7132325" y="2560325"/>
            <a:ext cx="2335800" cy="12345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8" name="Google Shape;698;p23"/>
          <p:cNvSpPr txBox="1"/>
          <p:nvPr/>
        </p:nvSpPr>
        <p:spPr>
          <a:xfrm>
            <a:off x="7242048" y="2633472"/>
            <a:ext cx="2377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Κρυφά (9 συμβάντα)</a:t>
            </a:r>
            <a:endParaRPr sz="1800"/>
          </a:p>
        </p:txBody>
      </p:sp>
      <p:sp>
        <p:nvSpPr>
          <p:cNvPr id="699" name="Google Shape;699;p23"/>
          <p:cNvSpPr txBox="1"/>
          <p:nvPr/>
        </p:nvSpPr>
        <p:spPr>
          <a:xfrm>
            <a:off x="7242048" y="2999232"/>
            <a:ext cx="23775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Θνησιμότητα 16.</a:t>
            </a:r>
            <a:r>
              <a:rPr b="1" lang="en-US" sz="1600">
                <a:solidFill>
                  <a:srgbClr val="FFFFFF"/>
                </a:solidFill>
                <a:latin typeface="Calibri"/>
                <a:ea typeface="Calibri"/>
                <a:cs typeface="Calibri"/>
                <a:sym typeface="Calibri"/>
              </a:rPr>
              <a:t>3</a:t>
            </a:r>
            <a:r>
              <a:rPr b="1" i="0" lang="en-US" sz="1600" u="none" cap="none" strike="noStrike">
                <a:solidFill>
                  <a:srgbClr val="FFFFFF"/>
                </a:solidFill>
                <a:latin typeface="Calibri"/>
                <a:ea typeface="Calibri"/>
                <a:cs typeface="Calibri"/>
                <a:sym typeface="Calibri"/>
              </a:rPr>
              <a:t>%</a:t>
            </a:r>
            <a:br>
              <a:rPr b="1" i="0" lang="en-US" sz="1600" u="none" cap="none" strike="noStrike">
                <a:solidFill>
                  <a:srgbClr val="FFFFFF"/>
                </a:solidFill>
                <a:latin typeface="Calibri"/>
                <a:ea typeface="Calibri"/>
                <a:cs typeface="Calibri"/>
                <a:sym typeface="Calibri"/>
              </a:rPr>
            </a:br>
            <a:r>
              <a:rPr b="1" i="0" lang="en-US" sz="1600" u="none" cap="none" strike="noStrike">
                <a:solidFill>
                  <a:srgbClr val="FFFFFF"/>
                </a:solidFill>
                <a:latin typeface="Calibri"/>
                <a:ea typeface="Calibri"/>
                <a:cs typeface="Calibri"/>
                <a:sym typeface="Calibri"/>
              </a:rPr>
              <a:t>Εκκένωση 8</a:t>
            </a:r>
            <a:r>
              <a:rPr b="1" lang="en-US" sz="1600">
                <a:solidFill>
                  <a:srgbClr val="FFFFFF"/>
                </a:solidFill>
                <a:latin typeface="Calibri"/>
                <a:ea typeface="Calibri"/>
                <a:cs typeface="Calibri"/>
                <a:sym typeface="Calibri"/>
              </a:rPr>
              <a:t>1</a:t>
            </a:r>
            <a:r>
              <a:rPr b="1" i="0" lang="en-US" sz="1600" u="none" cap="none" strike="noStrike">
                <a:solidFill>
                  <a:srgbClr val="FFFFFF"/>
                </a:solidFill>
                <a:latin typeface="Calibri"/>
                <a:ea typeface="Calibri"/>
                <a:cs typeface="Calibri"/>
                <a:sym typeface="Calibri"/>
              </a:rPr>
              <a:t>.</a:t>
            </a:r>
            <a:r>
              <a:rPr b="1" lang="en-US" sz="1600">
                <a:solidFill>
                  <a:srgbClr val="FFFFFF"/>
                </a:solidFill>
                <a:latin typeface="Calibri"/>
                <a:ea typeface="Calibri"/>
                <a:cs typeface="Calibri"/>
                <a:sym typeface="Calibri"/>
              </a:rPr>
              <a:t>8</a:t>
            </a:r>
            <a:r>
              <a:rPr b="1" i="0" lang="en-US" sz="1600" u="none" cap="none" strike="noStrike">
                <a:solidFill>
                  <a:srgbClr val="FFFFFF"/>
                </a:solidFill>
                <a:latin typeface="Calibri"/>
                <a:ea typeface="Calibri"/>
                <a:cs typeface="Calibri"/>
                <a:sym typeface="Calibri"/>
              </a:rPr>
              <a:t>%</a:t>
            </a:r>
            <a:endParaRPr sz="1500"/>
          </a:p>
        </p:txBody>
      </p:sp>
      <p:sp>
        <p:nvSpPr>
          <p:cNvPr id="700" name="Google Shape;700;p23"/>
          <p:cNvSpPr/>
          <p:nvPr/>
        </p:nvSpPr>
        <p:spPr>
          <a:xfrm>
            <a:off x="9652075" y="2560325"/>
            <a:ext cx="2335800" cy="12345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1" name="Google Shape;701;p23"/>
          <p:cNvSpPr txBox="1"/>
          <p:nvPr/>
        </p:nvSpPr>
        <p:spPr>
          <a:xfrm>
            <a:off x="9785978" y="2597529"/>
            <a:ext cx="2377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Γενίκευση</a:t>
            </a:r>
            <a:endParaRPr sz="1800"/>
          </a:p>
        </p:txBody>
      </p:sp>
      <p:sp>
        <p:nvSpPr>
          <p:cNvPr id="702" name="Google Shape;702;p23"/>
          <p:cNvSpPr txBox="1"/>
          <p:nvPr/>
        </p:nvSpPr>
        <p:spPr>
          <a:xfrm>
            <a:off x="9798175" y="2891400"/>
            <a:ext cx="2231400" cy="78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 4 ποσοστιαίες μονάδες</a:t>
            </a:r>
            <a:br>
              <a:rPr b="1" i="0" lang="en-US" sz="1500" u="none" cap="none" strike="noStrike">
                <a:solidFill>
                  <a:srgbClr val="FFFFFF"/>
                </a:solidFill>
                <a:latin typeface="Calibri"/>
                <a:ea typeface="Calibri"/>
                <a:cs typeface="Calibri"/>
                <a:sym typeface="Calibri"/>
              </a:rPr>
            </a:br>
            <a:r>
              <a:rPr b="1" i="0" lang="en-US" sz="1500" u="none" cap="none" strike="noStrike">
                <a:solidFill>
                  <a:srgbClr val="FFFFFF"/>
                </a:solidFill>
                <a:latin typeface="Calibri"/>
                <a:ea typeface="Calibri"/>
                <a:cs typeface="Calibri"/>
                <a:sym typeface="Calibri"/>
              </a:rPr>
              <a:t>χειρότερα σε νέα σενάρια</a:t>
            </a:r>
            <a:endParaRPr sz="1500"/>
          </a:p>
        </p:txBody>
      </p:sp>
      <p:sp>
        <p:nvSpPr>
          <p:cNvPr id="703" name="Google Shape;703;p23"/>
          <p:cNvSpPr/>
          <p:nvPr/>
        </p:nvSpPr>
        <p:spPr>
          <a:xfrm>
            <a:off x="7132325" y="3840475"/>
            <a:ext cx="4897200" cy="2697600"/>
          </a:xfrm>
          <a:prstGeom prst="rect">
            <a:avLst/>
          </a:prstGeom>
          <a:solidFill>
            <a:srgbClr val="F0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4" name="Google Shape;704;p23"/>
          <p:cNvSpPr txBox="1"/>
          <p:nvPr/>
        </p:nvSpPr>
        <p:spPr>
          <a:xfrm>
            <a:off x="7269480" y="3913632"/>
            <a:ext cx="46635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1A2A4A"/>
                </a:solidFill>
                <a:latin typeface="Calibri"/>
                <a:ea typeface="Calibri"/>
                <a:cs typeface="Calibri"/>
                <a:sym typeface="Calibri"/>
              </a:rPr>
              <a:t>Σενάρια σημαντικής διαφοράς MARL vs Κανόνων (3/3</a:t>
            </a:r>
            <a:r>
              <a:rPr b="1" i="0" lang="en-US" sz="1200" u="none" cap="none" strike="noStrike">
                <a:solidFill>
                  <a:srgbClr val="1A2A4A"/>
                </a:solidFill>
                <a:latin typeface="Calibri"/>
                <a:ea typeface="Calibri"/>
                <a:cs typeface="Calibri"/>
                <a:sym typeface="Calibri"/>
              </a:rPr>
              <a:t>2</a:t>
            </a:r>
            <a:r>
              <a:rPr b="1" i="0" lang="en-US" sz="1200" u="none" cap="none" strike="noStrike">
                <a:solidFill>
                  <a:srgbClr val="1A2A4A"/>
                </a:solidFill>
                <a:latin typeface="Calibri"/>
                <a:ea typeface="Calibri"/>
                <a:cs typeface="Calibri"/>
                <a:sym typeface="Calibri"/>
              </a:rPr>
              <a:t>: 2 ✓ · 1 ✗)</a:t>
            </a:r>
            <a:endParaRPr/>
          </a:p>
        </p:txBody>
      </p:sp>
      <p:sp>
        <p:nvSpPr>
          <p:cNvPr id="705" name="Google Shape;705;p23"/>
          <p:cNvSpPr/>
          <p:nvPr/>
        </p:nvSpPr>
        <p:spPr>
          <a:xfrm>
            <a:off x="7269480" y="4352544"/>
            <a:ext cx="4663440" cy="64008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6" name="Google Shape;706;p23"/>
          <p:cNvSpPr txBox="1"/>
          <p:nvPr/>
        </p:nvSpPr>
        <p:spPr>
          <a:xfrm>
            <a:off x="7406640" y="4407408"/>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50" u="none" cap="none" strike="noStrike">
                <a:solidFill>
                  <a:srgbClr val="FFFFFF"/>
                </a:solidFill>
                <a:latin typeface="Calibri"/>
                <a:ea typeface="Calibri"/>
                <a:cs typeface="Calibri"/>
                <a:sym typeface="Calibri"/>
              </a:rPr>
              <a:t>Corte (Κορσική)</a:t>
            </a:r>
            <a:endParaRPr/>
          </a:p>
        </p:txBody>
      </p:sp>
      <p:sp>
        <p:nvSpPr>
          <p:cNvPr id="707" name="Google Shape;707;p23"/>
          <p:cNvSpPr txBox="1"/>
          <p:nvPr/>
        </p:nvSpPr>
        <p:spPr>
          <a:xfrm>
            <a:off x="7406640" y="4700016"/>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−17.5% θνησιμότητα  ·  r = 0.79  ✓</a:t>
            </a:r>
            <a:endParaRPr/>
          </a:p>
        </p:txBody>
      </p:sp>
      <p:sp>
        <p:nvSpPr>
          <p:cNvPr id="708" name="Google Shape;708;p23"/>
          <p:cNvSpPr/>
          <p:nvPr/>
        </p:nvSpPr>
        <p:spPr>
          <a:xfrm>
            <a:off x="7269480" y="5065776"/>
            <a:ext cx="4663440" cy="64008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9" name="Google Shape;709;p23"/>
          <p:cNvSpPr txBox="1"/>
          <p:nvPr/>
        </p:nvSpPr>
        <p:spPr>
          <a:xfrm>
            <a:off x="7406640" y="5120640"/>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50" u="none" cap="none" strike="noStrike">
                <a:solidFill>
                  <a:srgbClr val="FFFFFF"/>
                </a:solidFill>
                <a:latin typeface="Calibri"/>
                <a:ea typeface="Calibri"/>
                <a:cs typeface="Calibri"/>
                <a:sym typeface="Calibri"/>
              </a:rPr>
              <a:t>Dwellingup (Αυστραλία)</a:t>
            </a:r>
            <a:endParaRPr/>
          </a:p>
        </p:txBody>
      </p:sp>
      <p:sp>
        <p:nvSpPr>
          <p:cNvPr id="710" name="Google Shape;710;p23"/>
          <p:cNvSpPr txBox="1"/>
          <p:nvPr/>
        </p:nvSpPr>
        <p:spPr>
          <a:xfrm>
            <a:off x="7406640" y="5413248"/>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−19.8% θνησιμότητα  ·  r = 0.92  ✓</a:t>
            </a:r>
            <a:endParaRPr/>
          </a:p>
        </p:txBody>
      </p:sp>
      <p:sp>
        <p:nvSpPr>
          <p:cNvPr id="711" name="Google Shape;711;p23"/>
          <p:cNvSpPr/>
          <p:nvPr/>
        </p:nvSpPr>
        <p:spPr>
          <a:xfrm>
            <a:off x="7269480" y="5779008"/>
            <a:ext cx="4663440" cy="64008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2" name="Google Shape;712;p23"/>
          <p:cNvSpPr txBox="1"/>
          <p:nvPr/>
        </p:nvSpPr>
        <p:spPr>
          <a:xfrm>
            <a:off x="7406640" y="5833872"/>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50" u="none" cap="none" strike="noStrike">
                <a:solidFill>
                  <a:srgbClr val="FFFFFF"/>
                </a:solidFill>
                <a:latin typeface="Calibri"/>
                <a:ea typeface="Calibri"/>
                <a:cs typeface="Calibri"/>
                <a:sym typeface="Calibri"/>
              </a:rPr>
              <a:t>Μάτι 2018</a:t>
            </a:r>
            <a:endParaRPr/>
          </a:p>
        </p:txBody>
      </p:sp>
      <p:sp>
        <p:nvSpPr>
          <p:cNvPr id="713" name="Google Shape;713;p23"/>
          <p:cNvSpPr txBox="1"/>
          <p:nvPr/>
        </p:nvSpPr>
        <p:spPr>
          <a:xfrm>
            <a:off x="7406640" y="6126480"/>
            <a:ext cx="45720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+17.9% θνησιμότητα  ·  r = </a:t>
            </a:r>
            <a:r>
              <a:rPr lang="en-US" sz="1200">
                <a:solidFill>
                  <a:srgbClr val="FFFFFF"/>
                </a:solidFill>
                <a:latin typeface="Calibri"/>
                <a:ea typeface="Calibri"/>
                <a:cs typeface="Calibri"/>
                <a:sym typeface="Calibri"/>
              </a:rPr>
              <a:t>0</a:t>
            </a:r>
            <a:r>
              <a:rPr b="0" i="0" lang="en-US" sz="1200" u="none" cap="none" strike="noStrike">
                <a:solidFill>
                  <a:srgbClr val="FFFFFF"/>
                </a:solidFill>
                <a:latin typeface="Calibri"/>
                <a:ea typeface="Calibri"/>
                <a:cs typeface="Calibri"/>
                <a:sym typeface="Calibri"/>
              </a:rPr>
              <a:t>.</a:t>
            </a:r>
            <a:r>
              <a:rPr lang="en-US" sz="1200">
                <a:solidFill>
                  <a:srgbClr val="FFFFFF"/>
                </a:solidFill>
                <a:latin typeface="Calibri"/>
                <a:ea typeface="Calibri"/>
                <a:cs typeface="Calibri"/>
                <a:sym typeface="Calibri"/>
              </a:rPr>
              <a:t>96</a:t>
            </a:r>
            <a:r>
              <a:rPr b="0" i="0" lang="en-US" sz="1200" u="none" cap="none" strike="noStrike">
                <a:solidFill>
                  <a:srgbClr val="FFFFFF"/>
                </a:solidFill>
                <a:latin typeface="Calibri"/>
                <a:ea typeface="Calibri"/>
                <a:cs typeface="Calibri"/>
                <a:sym typeface="Calibri"/>
              </a:rPr>
              <a:t>  ✗</a:t>
            </a:r>
            <a:endParaRPr/>
          </a:p>
        </p:txBody>
      </p:sp>
      <p:pic>
        <p:nvPicPr>
          <p:cNvPr id="714" name="Google Shape;714;p23"/>
          <p:cNvPicPr preferRelativeResize="0"/>
          <p:nvPr/>
        </p:nvPicPr>
        <p:blipFill>
          <a:blip r:embed="rId3">
            <a:alphaModFix/>
          </a:blip>
          <a:stretch>
            <a:fillRect/>
          </a:stretch>
        </p:blipFill>
        <p:spPr>
          <a:xfrm>
            <a:off x="577832" y="1173852"/>
            <a:ext cx="5974549" cy="2655366"/>
          </a:xfrm>
          <a:prstGeom prst="rect">
            <a:avLst/>
          </a:prstGeom>
          <a:noFill/>
          <a:ln>
            <a:noFill/>
          </a:ln>
        </p:spPr>
      </p:pic>
      <p:pic>
        <p:nvPicPr>
          <p:cNvPr id="715" name="Google Shape;715;p23"/>
          <p:cNvPicPr preferRelativeResize="0"/>
          <p:nvPr/>
        </p:nvPicPr>
        <p:blipFill>
          <a:blip r:embed="rId4">
            <a:alphaModFix/>
          </a:blip>
          <a:stretch>
            <a:fillRect/>
          </a:stretch>
        </p:blipFill>
        <p:spPr>
          <a:xfrm>
            <a:off x="583802" y="3851166"/>
            <a:ext cx="5974551" cy="2697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24"/>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2" name="Google Shape;722;p24"/>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3" name="Google Shape;723;p24"/>
          <p:cNvSpPr txBox="1"/>
          <p:nvPr/>
        </p:nvSpPr>
        <p:spPr>
          <a:xfrm>
            <a:off x="164592" y="208414"/>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Περιορισμοί</a:t>
            </a:r>
            <a:endParaRPr sz="3500"/>
          </a:p>
        </p:txBody>
      </p:sp>
      <p:sp>
        <p:nvSpPr>
          <p:cNvPr id="724" name="Google Shape;724;p24"/>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5" name="Google Shape;725;p24"/>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726" name="Google Shape;726;p24"/>
          <p:cNvSpPr/>
          <p:nvPr/>
        </p:nvSpPr>
        <p:spPr>
          <a:xfrm>
            <a:off x="685800" y="1870211"/>
            <a:ext cx="10789800" cy="804600"/>
          </a:xfrm>
          <a:prstGeom prst="rect">
            <a:avLst/>
          </a:prstGeom>
          <a:solidFill>
            <a:srgbClr val="BF2B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7" name="Google Shape;727;p24"/>
          <p:cNvSpPr txBox="1"/>
          <p:nvPr/>
        </p:nvSpPr>
        <p:spPr>
          <a:xfrm>
            <a:off x="822960" y="2043626"/>
            <a:ext cx="2560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Κλίμακα Πληθυσμού</a:t>
            </a:r>
            <a:endParaRPr sz="2000"/>
          </a:p>
        </p:txBody>
      </p:sp>
      <p:sp>
        <p:nvSpPr>
          <p:cNvPr id="728" name="Google Shape;728;p24"/>
          <p:cNvSpPr txBox="1"/>
          <p:nvPr/>
        </p:nvSpPr>
        <p:spPr>
          <a:xfrm>
            <a:off x="5241624" y="1961651"/>
            <a:ext cx="78639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50–100 πράκτορες </a:t>
            </a:r>
            <a:r>
              <a:rPr lang="en-US" sz="1600">
                <a:solidFill>
                  <a:srgbClr val="FFFFFF"/>
                </a:solidFill>
                <a:latin typeface="Calibri"/>
                <a:ea typeface="Calibri"/>
                <a:cs typeface="Calibri"/>
                <a:sym typeface="Calibri"/>
              </a:rPr>
              <a:t>πολιτών </a:t>
            </a:r>
            <a:r>
              <a:rPr b="0" i="0" lang="en-US" sz="1600" u="none" cap="none" strike="noStrike">
                <a:solidFill>
                  <a:srgbClr val="FFFFFF"/>
                </a:solidFill>
                <a:latin typeface="Calibri"/>
                <a:ea typeface="Calibri"/>
                <a:cs typeface="Calibri"/>
                <a:sym typeface="Calibri"/>
              </a:rPr>
              <a:t>έναντι χιλιάδων σε πραγματικά συμβάντα. </a:t>
            </a:r>
            <a:endParaRPr sz="1600">
              <a:solidFill>
                <a:srgbClr val="FFFFFF"/>
              </a:solidFill>
              <a:latin typeface="Calibri"/>
              <a:ea typeface="Calibri"/>
              <a:cs typeface="Calibri"/>
              <a:sym typeface="Calibri"/>
            </a:endParaRPr>
          </a:p>
          <a:p>
            <a:pPr indent="0" lvl="0"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ατάλληλη μετρική: ποσοστό θνησιμότητας, όχι απόλυτος αριθμός.</a:t>
            </a:r>
            <a:endParaRPr sz="1700"/>
          </a:p>
        </p:txBody>
      </p:sp>
      <p:sp>
        <p:nvSpPr>
          <p:cNvPr id="729" name="Google Shape;729;p24"/>
          <p:cNvSpPr txBox="1"/>
          <p:nvPr/>
        </p:nvSpPr>
        <p:spPr>
          <a:xfrm>
            <a:off x="822960" y="2964920"/>
            <a:ext cx="2560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Εκπαίδευση MARL</a:t>
            </a:r>
            <a:endParaRPr sz="2000"/>
          </a:p>
        </p:txBody>
      </p:sp>
      <p:sp>
        <p:nvSpPr>
          <p:cNvPr id="730" name="Google Shape;730;p24"/>
          <p:cNvSpPr txBox="1"/>
          <p:nvPr/>
        </p:nvSpPr>
        <p:spPr>
          <a:xfrm>
            <a:off x="5241625" y="2907292"/>
            <a:ext cx="6350100" cy="338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US" sz="1600">
                <a:solidFill>
                  <a:srgbClr val="FFFFFF"/>
                </a:solidFill>
                <a:latin typeface="Calibri"/>
                <a:ea typeface="Calibri"/>
                <a:cs typeface="Calibri"/>
                <a:sym typeface="Calibri"/>
              </a:rPr>
              <a:t>3 seeds για στατιστική robustness → σύγκλιση ep.576 ± 112. </a:t>
            </a:r>
            <a:endParaRPr sz="1600">
              <a:solidFill>
                <a:srgbClr val="FFFFFF"/>
              </a:solidFill>
              <a:latin typeface="Calibri"/>
              <a:ea typeface="Calibri"/>
              <a:cs typeface="Calibri"/>
              <a:sym typeface="Calibri"/>
            </a:endParaRPr>
          </a:p>
        </p:txBody>
      </p:sp>
      <p:sp>
        <p:nvSpPr>
          <p:cNvPr id="731" name="Google Shape;731;p24"/>
          <p:cNvSpPr/>
          <p:nvPr/>
        </p:nvSpPr>
        <p:spPr>
          <a:xfrm>
            <a:off x="685800" y="2854950"/>
            <a:ext cx="10789800" cy="804600"/>
          </a:xfrm>
          <a:prstGeom prst="rect">
            <a:avLst/>
          </a:prstGeom>
          <a:solidFill>
            <a:srgbClr val="2E75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2" name="Google Shape;732;p24"/>
          <p:cNvSpPr txBox="1"/>
          <p:nvPr/>
        </p:nvSpPr>
        <p:spPr>
          <a:xfrm>
            <a:off x="822960" y="2928102"/>
            <a:ext cx="25602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FFFF"/>
                </a:solidFill>
                <a:latin typeface="Calibri"/>
                <a:ea typeface="Calibri"/>
                <a:cs typeface="Calibri"/>
                <a:sym typeface="Calibri"/>
              </a:rPr>
              <a:t>Απλοποιημένο Μοντέλο Καιρού</a:t>
            </a:r>
            <a:endParaRPr sz="2000"/>
          </a:p>
        </p:txBody>
      </p:sp>
      <p:sp>
        <p:nvSpPr>
          <p:cNvPr id="733" name="Google Shape;733;p24"/>
          <p:cNvSpPr txBox="1"/>
          <p:nvPr/>
        </p:nvSpPr>
        <p:spPr>
          <a:xfrm>
            <a:off x="5250448" y="2829399"/>
            <a:ext cx="6617400" cy="1077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600">
                <a:solidFill>
                  <a:srgbClr val="FFFFFF"/>
                </a:solidFill>
                <a:latin typeface="Calibri"/>
                <a:ea typeface="Calibri"/>
                <a:cs typeface="Calibri"/>
                <a:sym typeface="Calibri"/>
              </a:rPr>
              <a:t>Ο άνεμος ακολουθεί προκαθορισμένη ταλάντωση, δεν αποτυπώνονται αιφνίδιες μεταστροφές κατεύθυνσης ή ακραία  καιρικά φαινόμενα που παρατηρούνται σε πραγματικές πυρκαγιές.</a:t>
            </a:r>
            <a:endParaRPr sz="16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600">
              <a:solidFill>
                <a:srgbClr val="FFFFFF"/>
              </a:solidFill>
              <a:latin typeface="Calibri"/>
              <a:ea typeface="Calibri"/>
              <a:cs typeface="Calibri"/>
              <a:sym typeface="Calibri"/>
            </a:endParaRPr>
          </a:p>
        </p:txBody>
      </p:sp>
      <p:sp>
        <p:nvSpPr>
          <p:cNvPr id="734" name="Google Shape;734;p24"/>
          <p:cNvSpPr/>
          <p:nvPr/>
        </p:nvSpPr>
        <p:spPr>
          <a:xfrm>
            <a:off x="685800" y="3769350"/>
            <a:ext cx="10789800" cy="80460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5" name="Google Shape;735;p24"/>
          <p:cNvSpPr txBox="1"/>
          <p:nvPr/>
        </p:nvSpPr>
        <p:spPr>
          <a:xfrm>
            <a:off x="822951" y="3842506"/>
            <a:ext cx="23052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FFFF"/>
                </a:solidFill>
                <a:latin typeface="Calibri"/>
                <a:ea typeface="Calibri"/>
                <a:cs typeface="Calibri"/>
                <a:sym typeface="Calibri"/>
              </a:rPr>
              <a:t>Στατικό Οδικό Δίκτυο</a:t>
            </a:r>
            <a:endParaRPr sz="2000"/>
          </a:p>
        </p:txBody>
      </p:sp>
      <p:sp>
        <p:nvSpPr>
          <p:cNvPr id="736" name="Google Shape;736;p24"/>
          <p:cNvSpPr txBox="1"/>
          <p:nvPr/>
        </p:nvSpPr>
        <p:spPr>
          <a:xfrm>
            <a:off x="5267168" y="3810656"/>
            <a:ext cx="6350100" cy="831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600">
                <a:solidFill>
                  <a:srgbClr val="FFFFFF"/>
                </a:solidFill>
                <a:latin typeface="Calibri"/>
                <a:ea typeface="Calibri"/>
                <a:cs typeface="Calibri"/>
                <a:sym typeface="Calibri"/>
              </a:rPr>
              <a:t>Το δίκτυο παραμένει αμετάβλητο καθ' όλη τη διάρκεια της εκκένωσης · δεν μοντελοποιείται η δυναμική διαχείριση  κυκλοφορίας υπό πίεση.</a:t>
            </a:r>
            <a:endParaRPr sz="16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600">
              <a:solidFill>
                <a:srgbClr val="FFFFFF"/>
              </a:solidFill>
              <a:latin typeface="Calibri"/>
              <a:ea typeface="Calibri"/>
              <a:cs typeface="Calibri"/>
              <a:sym typeface="Calibri"/>
            </a:endParaRPr>
          </a:p>
        </p:txBody>
      </p:sp>
      <p:sp>
        <p:nvSpPr>
          <p:cNvPr id="737" name="Google Shape;737;p24"/>
          <p:cNvSpPr/>
          <p:nvPr/>
        </p:nvSpPr>
        <p:spPr>
          <a:xfrm>
            <a:off x="685800" y="4683750"/>
            <a:ext cx="10789800" cy="804600"/>
          </a:xfrm>
          <a:prstGeom prst="rect">
            <a:avLst/>
          </a:prstGeom>
          <a:solidFill>
            <a:srgbClr val="5050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8" name="Google Shape;738;p24"/>
          <p:cNvSpPr txBox="1"/>
          <p:nvPr/>
        </p:nvSpPr>
        <p:spPr>
          <a:xfrm>
            <a:off x="822960" y="4840454"/>
            <a:ext cx="2560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Calibri"/>
                <a:ea typeface="Calibri"/>
                <a:cs typeface="Calibri"/>
                <a:sym typeface="Calibri"/>
              </a:rPr>
              <a:t>Γενίκευση ML</a:t>
            </a:r>
            <a:endParaRPr sz="2000"/>
          </a:p>
        </p:txBody>
      </p:sp>
      <p:sp>
        <p:nvSpPr>
          <p:cNvPr id="739" name="Google Shape;739;p24"/>
          <p:cNvSpPr txBox="1"/>
          <p:nvPr/>
        </p:nvSpPr>
        <p:spPr>
          <a:xfrm>
            <a:off x="5241625" y="4678542"/>
            <a:ext cx="66174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R² = −8.67 για εκκενωμένους (</a:t>
            </a:r>
            <a:r>
              <a:rPr lang="en-US" sz="1600">
                <a:solidFill>
                  <a:srgbClr val="FFFFFF"/>
                </a:solidFill>
                <a:latin typeface="Calibri"/>
                <a:ea typeface="Calibri"/>
                <a:cs typeface="Calibri"/>
                <a:sym typeface="Calibri"/>
              </a:rPr>
              <a:t>η cross-validation δεν ανακτά τον συνολικό αριθμό πολιτών → μηδενικές προβλέψεις → ακραίο R² από αριθμητική κατασκευή, όχι αποτυχία μοντέλου</a:t>
            </a:r>
            <a:r>
              <a:rPr b="0" i="0" lang="en-US" sz="1600" u="none" cap="none" strike="noStrike">
                <a:solidFill>
                  <a:srgbClr val="FFFFFF"/>
                </a:solidFill>
                <a:latin typeface="Calibri"/>
                <a:ea typeface="Calibri"/>
                <a:cs typeface="Calibri"/>
                <a:sym typeface="Calibri"/>
              </a:rPr>
              <a:t>).</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25"/>
          <p:cNvSpPr/>
          <p:nvPr/>
        </p:nvSpPr>
        <p:spPr>
          <a:xfrm>
            <a:off x="0" y="0"/>
            <a:ext cx="12188952" cy="1024128"/>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6" name="Google Shape;746;p25"/>
          <p:cNvSpPr/>
          <p:nvPr/>
        </p:nvSpPr>
        <p:spPr>
          <a:xfrm>
            <a:off x="0" y="0"/>
            <a:ext cx="64008" cy="10241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7" name="Google Shape;747;p25"/>
          <p:cNvSpPr txBox="1"/>
          <p:nvPr/>
        </p:nvSpPr>
        <p:spPr>
          <a:xfrm>
            <a:off x="164592" y="191703"/>
            <a:ext cx="11823300" cy="6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500" u="none" cap="none" strike="noStrike">
                <a:solidFill>
                  <a:srgbClr val="FFFFFF"/>
                </a:solidFill>
                <a:latin typeface="Calibri"/>
                <a:ea typeface="Calibri"/>
                <a:cs typeface="Calibri"/>
                <a:sym typeface="Calibri"/>
              </a:rPr>
              <a:t>Συμπεράσματα</a:t>
            </a:r>
            <a:endParaRPr sz="3500"/>
          </a:p>
        </p:txBody>
      </p:sp>
      <p:sp>
        <p:nvSpPr>
          <p:cNvPr id="748" name="Google Shape;748;p25"/>
          <p:cNvSpPr/>
          <p:nvPr/>
        </p:nvSpPr>
        <p:spPr>
          <a:xfrm>
            <a:off x="0" y="6583680"/>
            <a:ext cx="12188952" cy="274320"/>
          </a:xfrm>
          <a:prstGeom prst="rect">
            <a:avLst/>
          </a:prstGeom>
          <a:solidFill>
            <a:srgbClr val="1A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9" name="Google Shape;749;p25"/>
          <p:cNvSpPr txBox="1"/>
          <p:nvPr/>
        </p:nvSpPr>
        <p:spPr>
          <a:xfrm>
            <a:off x="228600" y="6620256"/>
            <a:ext cx="11731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D9DEE8"/>
                </a:solidFill>
                <a:latin typeface="Calibri"/>
                <a:ea typeface="Calibri"/>
                <a:cs typeface="Calibri"/>
                <a:sym typeface="Calibri"/>
              </a:rPr>
              <a:t>AIGIS  |  Χριστίνα Μακρή  |  Διπλωματική Εργασία 2026</a:t>
            </a:r>
            <a:endParaRPr/>
          </a:p>
        </p:txBody>
      </p:sp>
      <p:sp>
        <p:nvSpPr>
          <p:cNvPr id="750" name="Google Shape;750;p25"/>
          <p:cNvSpPr/>
          <p:nvPr/>
        </p:nvSpPr>
        <p:spPr>
          <a:xfrm>
            <a:off x="379425" y="1153300"/>
            <a:ext cx="11471700" cy="1669800"/>
          </a:xfrm>
          <a:prstGeom prst="rect">
            <a:avLst/>
          </a:prstGeom>
          <a:solidFill>
            <a:srgbClr val="2E75B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800">
                <a:solidFill>
                  <a:schemeClr val="lt1"/>
                </a:solidFill>
                <a:latin typeface="Calibri"/>
                <a:ea typeface="Calibri"/>
                <a:cs typeface="Calibri"/>
                <a:sym typeface="Calibri"/>
              </a:rPr>
              <a:t> Κεντρικό Συμπέρασμα</a:t>
            </a:r>
            <a:br>
              <a:rPr b="1" lang="en-US" sz="1800">
                <a:solidFill>
                  <a:schemeClr val="lt1"/>
                </a:solidFill>
                <a:latin typeface="Calibri"/>
                <a:ea typeface="Calibri"/>
                <a:cs typeface="Calibri"/>
                <a:sym typeface="Calibri"/>
              </a:rPr>
            </a:br>
            <a:endParaRPr b="1" sz="1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900">
                <a:solidFill>
                  <a:schemeClr val="lt1"/>
                </a:solidFill>
                <a:latin typeface="Calibri"/>
                <a:ea typeface="Calibri"/>
                <a:cs typeface="Calibri"/>
                <a:sym typeface="Calibri"/>
              </a:rPr>
              <a:t> Ένα ενοποιημένο BDI + MARL + φυσικό μοντέλο φωτιάς μπορεί να αναπαράγει τη δυναμική εκκένωσης πραγματικών πυρκαγιών σε επίπεδο τάξης μεγέθους, και να μαθαίνει στρατηγική συντονισμού χωρίς προκαθορισμένους κανόνες.</a:t>
            </a:r>
            <a:endParaRPr sz="1900">
              <a:solidFill>
                <a:schemeClr val="lt1"/>
              </a:solidFill>
              <a:latin typeface="Calibri"/>
              <a:ea typeface="Calibri"/>
              <a:cs typeface="Calibri"/>
              <a:sym typeface="Calibri"/>
            </a:endParaRPr>
          </a:p>
        </p:txBody>
      </p:sp>
      <p:sp>
        <p:nvSpPr>
          <p:cNvPr id="751" name="Google Shape;751;p25"/>
          <p:cNvSpPr txBox="1"/>
          <p:nvPr/>
        </p:nvSpPr>
        <p:spPr>
          <a:xfrm>
            <a:off x="379428" y="2934300"/>
            <a:ext cx="6258000" cy="3509400"/>
          </a:xfrm>
          <a:prstGeom prst="rect">
            <a:avLst/>
          </a:prstGeom>
          <a:solidFill>
            <a:srgbClr val="D46A1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lt1"/>
                </a:solidFill>
              </a:rPr>
              <a:t>Βασικές Συνεισφορές</a:t>
            </a:r>
            <a:endParaRPr b="1" sz="1800">
              <a:solidFill>
                <a:schemeClr val="lt1"/>
              </a:solidFill>
            </a:endParaRPr>
          </a:p>
          <a:p>
            <a:pPr indent="0" lvl="0" marL="0" rtl="0" algn="l">
              <a:spcBef>
                <a:spcPts val="0"/>
              </a:spcBef>
              <a:spcAft>
                <a:spcPts val="0"/>
              </a:spcAft>
              <a:buNone/>
            </a:pPr>
            <a:r>
              <a:t/>
            </a:r>
            <a:endParaRPr sz="1800">
              <a:solidFill>
                <a:schemeClr val="lt1"/>
              </a:solidFill>
            </a:endParaRPr>
          </a:p>
          <a:p>
            <a:pPr indent="-342900" lvl="0" marL="457200" rtl="0" algn="l">
              <a:spcBef>
                <a:spcPts val="0"/>
              </a:spcBef>
              <a:spcAft>
                <a:spcPts val="0"/>
              </a:spcAft>
              <a:buClr>
                <a:schemeClr val="lt1"/>
              </a:buClr>
              <a:buSzPts val="1800"/>
              <a:buAutoNum type="arabicPeriod"/>
            </a:pPr>
            <a:r>
              <a:rPr lang="en-US" sz="1800">
                <a:solidFill>
                  <a:schemeClr val="lt1"/>
                </a:solidFill>
              </a:rPr>
              <a:t>Ενοποιημένο πλαίσιο,  πρώτη σύνδεση Rothermel, BDI αμάχων, CNP και MARL σε έναν βρόχο προσομοίωσης με πραγματικά γεωχωρικά δεδομένα</a:t>
            </a:r>
            <a:endParaRPr sz="1800">
              <a:solidFill>
                <a:schemeClr val="lt1"/>
              </a:solidFill>
            </a:endParaRPr>
          </a:p>
          <a:p>
            <a:pPr indent="-342900" lvl="0" marL="457200" rtl="0" algn="l">
              <a:spcBef>
                <a:spcPts val="0"/>
              </a:spcBef>
              <a:spcAft>
                <a:spcPts val="0"/>
              </a:spcAft>
              <a:buClr>
                <a:schemeClr val="lt1"/>
              </a:buClr>
              <a:buSzPts val="1800"/>
              <a:buAutoNum type="arabicPeriod"/>
            </a:pPr>
            <a:r>
              <a:rPr lang="en-US" sz="1800">
                <a:solidFill>
                  <a:schemeClr val="lt1"/>
                </a:solidFill>
              </a:rPr>
              <a:t>Επικύρωση σε 32 ιστορικά συμβάντα, 8/9 κρυφά σενάρια εντός αποδεκτών ορίων για εκκένωση </a:t>
            </a:r>
            <a:br>
              <a:rPr lang="en-US" sz="1800">
                <a:solidFill>
                  <a:schemeClr val="lt1"/>
                </a:solidFill>
              </a:rPr>
            </a:br>
            <a:r>
              <a:rPr lang="en-US" sz="1800">
                <a:solidFill>
                  <a:schemeClr val="lt1"/>
                </a:solidFill>
              </a:rPr>
              <a:t>· ML Hurdle AUC-ROC 0.984 για έγκαιρη πρόβλεψη κινδύνου</a:t>
            </a:r>
            <a:endParaRPr sz="1800">
              <a:solidFill>
                <a:schemeClr val="lt1"/>
              </a:solidFill>
            </a:endParaRPr>
          </a:p>
          <a:p>
            <a:pPr indent="-342900" lvl="0" marL="457200" rtl="0" algn="l">
              <a:spcBef>
                <a:spcPts val="0"/>
              </a:spcBef>
              <a:spcAft>
                <a:spcPts val="0"/>
              </a:spcAft>
              <a:buClr>
                <a:schemeClr val="lt1"/>
              </a:buClr>
              <a:buSzPts val="1800"/>
              <a:buAutoNum type="arabicPeriod"/>
            </a:pPr>
            <a:r>
              <a:rPr lang="en-US" sz="1800">
                <a:solidFill>
                  <a:schemeClr val="lt1"/>
                </a:solidFill>
              </a:rPr>
              <a:t>MARL με curriculum learning — σύγκλιση ep.712 · σημαντική υπεροχή σε πολύπλοκα σενάρια (Corte −17.5%, Dwellingup −19.8%)</a:t>
            </a:r>
            <a:endParaRPr sz="1800">
              <a:solidFill>
                <a:schemeClr val="lt1"/>
              </a:solidFill>
            </a:endParaRPr>
          </a:p>
        </p:txBody>
      </p:sp>
      <p:sp>
        <p:nvSpPr>
          <p:cNvPr id="752" name="Google Shape;752;p25"/>
          <p:cNvSpPr txBox="1"/>
          <p:nvPr/>
        </p:nvSpPr>
        <p:spPr>
          <a:xfrm>
            <a:off x="6770804" y="2952275"/>
            <a:ext cx="2974800" cy="3509400"/>
          </a:xfrm>
          <a:prstGeom prst="rect">
            <a:avLst/>
          </a:prstGeom>
          <a:solidFill>
            <a:srgbClr val="1E7A1E"/>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lt1"/>
                </a:solidFill>
              </a:rPr>
              <a:t>Τι Μαθαίνουμε</a:t>
            </a:r>
            <a:br>
              <a:rPr lang="en-US" sz="1800">
                <a:solidFill>
                  <a:schemeClr val="lt1"/>
                </a:solidFill>
              </a:rPr>
            </a:br>
            <a:endParaRPr sz="1800">
              <a:solidFill>
                <a:schemeClr val="lt1"/>
              </a:solidFill>
            </a:endParaRPr>
          </a:p>
          <a:p>
            <a:pPr indent="0" lvl="0" marL="0" rtl="0" algn="l">
              <a:spcBef>
                <a:spcPts val="0"/>
              </a:spcBef>
              <a:spcAft>
                <a:spcPts val="0"/>
              </a:spcAft>
              <a:buNone/>
            </a:pPr>
            <a:r>
              <a:rPr lang="en-US" sz="1800">
                <a:solidFill>
                  <a:schemeClr val="lt1"/>
                </a:solidFill>
              </a:rPr>
              <a:t>Η έκβαση εκκένωσης δεν ελέγχεται από μία παράμετρο, κυριαρχούν αλληλεπιδράσεις. Αυτό καθιστά την προσομοίωση απαραίτητο εργαλείο σχεδιασμού: εξερευνά συνθήκες που δεν μπορούν να μελετηθούν αλλιώς.</a:t>
            </a:r>
            <a:endParaRPr sz="1800">
              <a:solidFill>
                <a:schemeClr val="lt1"/>
              </a:solidFill>
            </a:endParaRPr>
          </a:p>
        </p:txBody>
      </p:sp>
      <p:sp>
        <p:nvSpPr>
          <p:cNvPr id="753" name="Google Shape;753;p25"/>
          <p:cNvSpPr txBox="1"/>
          <p:nvPr/>
        </p:nvSpPr>
        <p:spPr>
          <a:xfrm>
            <a:off x="9878979" y="2952275"/>
            <a:ext cx="1972200" cy="3509400"/>
          </a:xfrm>
          <a:prstGeom prst="rect">
            <a:avLst/>
          </a:prstGeom>
          <a:solidFill>
            <a:srgbClr val="BF2B2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lt1"/>
                </a:solidFill>
              </a:rPr>
              <a:t>Επόμενα Βήματα</a:t>
            </a:r>
            <a:br>
              <a:rPr lang="en-US" sz="1800">
                <a:solidFill>
                  <a:schemeClr val="lt1"/>
                </a:solidFill>
              </a:rPr>
            </a:br>
            <a:br>
              <a:rPr lang="en-US" sz="1800">
                <a:solidFill>
                  <a:schemeClr val="lt1"/>
                </a:solidFill>
              </a:rPr>
            </a:br>
            <a:endParaRPr sz="1800">
              <a:solidFill>
                <a:schemeClr val="lt1"/>
              </a:solidFill>
            </a:endParaRPr>
          </a:p>
          <a:p>
            <a:pPr indent="-342900" lvl="0" marL="457200" rtl="0" algn="l">
              <a:spcBef>
                <a:spcPts val="0"/>
              </a:spcBef>
              <a:spcAft>
                <a:spcPts val="0"/>
              </a:spcAft>
              <a:buClr>
                <a:schemeClr val="lt1"/>
              </a:buClr>
              <a:buSzPts val="1800"/>
              <a:buChar char="●"/>
            </a:pPr>
            <a:r>
              <a:rPr lang="en-US" sz="1800">
                <a:solidFill>
                  <a:schemeClr val="lt1"/>
                </a:solidFill>
              </a:rPr>
              <a:t>μεγαλύτερη κλίμακα </a:t>
            </a:r>
            <a:br>
              <a:rPr lang="en-US" sz="1800">
                <a:solidFill>
                  <a:schemeClr val="lt1"/>
                </a:solidFill>
              </a:rPr>
            </a:br>
            <a:r>
              <a:rPr lang="en-US" sz="1800">
                <a:solidFill>
                  <a:schemeClr val="lt1"/>
                </a:solidFill>
              </a:rPr>
              <a:t>πληθυσμού </a:t>
            </a:r>
            <a:br>
              <a:rPr lang="en-US" sz="1800">
                <a:solidFill>
                  <a:schemeClr val="lt1"/>
                </a:solidFill>
              </a:rPr>
            </a:br>
            <a:endParaRPr sz="1800">
              <a:solidFill>
                <a:schemeClr val="lt1"/>
              </a:solidFill>
            </a:endParaRPr>
          </a:p>
          <a:p>
            <a:pPr indent="-342900" lvl="0" marL="457200" rtl="0" algn="l">
              <a:spcBef>
                <a:spcPts val="0"/>
              </a:spcBef>
              <a:spcAft>
                <a:spcPts val="0"/>
              </a:spcAft>
              <a:buClr>
                <a:schemeClr val="lt1"/>
              </a:buClr>
              <a:buSzPts val="1800"/>
              <a:buChar char="●"/>
            </a:pPr>
            <a:r>
              <a:rPr lang="en-US" sz="1800">
                <a:solidFill>
                  <a:schemeClr val="lt1"/>
                </a:solidFill>
              </a:rPr>
              <a:t>δυναμική διαχείριση οδικού δικτύου</a:t>
            </a:r>
            <a:endParaRPr sz="18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26"/>
          <p:cNvSpPr/>
          <p:nvPr/>
        </p:nvSpPr>
        <p:spPr>
          <a:xfrm>
            <a:off x="0" y="0"/>
            <a:ext cx="12189000" cy="6858000"/>
          </a:xfrm>
          <a:prstGeom prst="rect">
            <a:avLst/>
          </a:prstGeom>
          <a:solidFill>
            <a:srgbClr val="1A2A4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0" name="Google Shape;760;p26"/>
          <p:cNvSpPr/>
          <p:nvPr/>
        </p:nvSpPr>
        <p:spPr>
          <a:xfrm>
            <a:off x="0" y="0"/>
            <a:ext cx="109728" cy="6858000"/>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1" name="Google Shape;761;p26"/>
          <p:cNvSpPr/>
          <p:nvPr/>
        </p:nvSpPr>
        <p:spPr>
          <a:xfrm>
            <a:off x="0" y="6748272"/>
            <a:ext cx="12188952" cy="109728"/>
          </a:xfrm>
          <a:prstGeom prst="rect">
            <a:avLst/>
          </a:prstGeom>
          <a:solidFill>
            <a:srgbClr val="D46A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2" name="Google Shape;762;p26"/>
          <p:cNvSpPr txBox="1"/>
          <p:nvPr/>
        </p:nvSpPr>
        <p:spPr>
          <a:xfrm>
            <a:off x="2436886" y="1438645"/>
            <a:ext cx="73152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200" u="none" cap="none" strike="noStrike">
                <a:solidFill>
                  <a:srgbClr val="FFFFFF"/>
                </a:solidFill>
                <a:latin typeface="Calibri"/>
                <a:ea typeface="Calibri"/>
                <a:cs typeface="Calibri"/>
                <a:sym typeface="Calibri"/>
              </a:rPr>
              <a:t>Ευχαριστώ</a:t>
            </a:r>
            <a:endParaRPr/>
          </a:p>
        </p:txBody>
      </p:sp>
      <p:sp>
        <p:nvSpPr>
          <p:cNvPr id="763" name="Google Shape;763;p26"/>
          <p:cNvSpPr txBox="1"/>
          <p:nvPr/>
        </p:nvSpPr>
        <p:spPr>
          <a:xfrm>
            <a:off x="2436886" y="2947405"/>
            <a:ext cx="73152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rgbClr val="D46A17"/>
                </a:solidFill>
                <a:latin typeface="Calibri"/>
                <a:ea typeface="Calibri"/>
                <a:cs typeface="Calibri"/>
                <a:sym typeface="Calibri"/>
              </a:rPr>
              <a:t>Ερωτήσεις &amp; Συζήτηση</a:t>
            </a:r>
            <a:endParaRPr/>
          </a:p>
        </p:txBody>
      </p:sp>
      <p:sp>
        <p:nvSpPr>
          <p:cNvPr id="764" name="Google Shape;764;p26"/>
          <p:cNvSpPr txBox="1"/>
          <p:nvPr/>
        </p:nvSpPr>
        <p:spPr>
          <a:xfrm>
            <a:off x="2436886" y="3770365"/>
            <a:ext cx="73152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rgbClr val="D9DEE8"/>
                </a:solidFill>
                <a:latin typeface="Calibri"/>
                <a:ea typeface="Calibri"/>
                <a:cs typeface="Calibri"/>
                <a:sym typeface="Calibri"/>
              </a:rPr>
              <a:t>Χριστίνα Μακρή</a:t>
            </a:r>
            <a:br>
              <a:rPr b="0" i="0" lang="en-US" sz="1600" u="none" cap="none" strike="noStrike">
                <a:solidFill>
                  <a:srgbClr val="D9DEE8"/>
                </a:solidFill>
                <a:latin typeface="Calibri"/>
                <a:ea typeface="Calibri"/>
                <a:cs typeface="Calibri"/>
                <a:sym typeface="Calibri"/>
              </a:rPr>
            </a:br>
            <a:r>
              <a:rPr b="0" i="0" lang="en-US" sz="1600" u="none" cap="none" strike="noStrike">
                <a:solidFill>
                  <a:srgbClr val="D9DEE8"/>
                </a:solidFill>
                <a:latin typeface="Calibri"/>
                <a:ea typeface="Calibri"/>
                <a:cs typeface="Calibri"/>
                <a:sym typeface="Calibri"/>
              </a:rPr>
              <a:t>Αριστοτέλειο Πανεπιστήμιο Θεσσαλονίκης  ·  Τμήμα Πληροφορικής</a:t>
            </a:r>
            <a:br>
              <a:rPr b="0" i="0" lang="en-US" sz="1600" u="none" cap="none" strike="noStrike">
                <a:solidFill>
                  <a:srgbClr val="D9DEE8"/>
                </a:solidFill>
                <a:latin typeface="Calibri"/>
                <a:ea typeface="Calibri"/>
                <a:cs typeface="Calibri"/>
                <a:sym typeface="Calibri"/>
              </a:rPr>
            </a:br>
            <a:r>
              <a:rPr b="0" i="0" lang="en-US" sz="1600" u="none" cap="none" strike="noStrike">
                <a:solidFill>
                  <a:srgbClr val="D9DEE8"/>
                </a:solidFill>
                <a:latin typeface="Calibri"/>
                <a:ea typeface="Calibri"/>
                <a:cs typeface="Calibri"/>
                <a:sym typeface="Calibri"/>
              </a:rPr>
              <a:t>Επιβλέποντες: </a:t>
            </a:r>
            <a:r>
              <a:rPr lang="en-US" sz="1600">
                <a:solidFill>
                  <a:srgbClr val="D9DEE8"/>
                </a:solidFill>
                <a:latin typeface="Calibri"/>
                <a:ea typeface="Calibri"/>
                <a:cs typeface="Calibri"/>
                <a:sym typeface="Calibri"/>
              </a:rPr>
              <a:t>Β</a:t>
            </a:r>
            <a:r>
              <a:rPr b="0" i="0" lang="en-US" sz="1600" u="none" cap="none" strike="noStrike">
                <a:solidFill>
                  <a:srgbClr val="D9DEE8"/>
                </a:solidFill>
                <a:latin typeface="Calibri"/>
                <a:ea typeface="Calibri"/>
                <a:cs typeface="Calibri"/>
                <a:sym typeface="Calibri"/>
              </a:rPr>
              <a:t>ασιλειάδης Νικόλαος  ·  Κρ</a:t>
            </a:r>
            <a:r>
              <a:rPr lang="en-US" sz="1600">
                <a:solidFill>
                  <a:srgbClr val="D9DEE8"/>
                </a:solidFill>
                <a:latin typeface="Calibri"/>
                <a:ea typeface="Calibri"/>
                <a:cs typeface="Calibri"/>
                <a:sym typeface="Calibri"/>
              </a:rPr>
              <a:t>ά</a:t>
            </a:r>
            <a:r>
              <a:rPr b="0" i="0" lang="en-US" sz="1600" u="none" cap="none" strike="noStrike">
                <a:solidFill>
                  <a:srgbClr val="D9DEE8"/>
                </a:solidFill>
                <a:latin typeface="Calibri"/>
                <a:ea typeface="Calibri"/>
                <a:cs typeface="Calibri"/>
                <a:sym typeface="Calibri"/>
              </a:rPr>
              <a:t>βαρ</a:t>
            </a:r>
            <a:r>
              <a:rPr lang="en-US" sz="1600">
                <a:solidFill>
                  <a:srgbClr val="D9DEE8"/>
                </a:solidFill>
                <a:latin typeface="Calibri"/>
                <a:ea typeface="Calibri"/>
                <a:cs typeface="Calibri"/>
                <a:sym typeface="Calibri"/>
              </a:rPr>
              <a:t>η</a:t>
            </a:r>
            <a:r>
              <a:rPr b="0" i="0" lang="en-US" sz="1600" u="none" cap="none" strike="noStrike">
                <a:solidFill>
                  <a:srgbClr val="D9DEE8"/>
                </a:solidFill>
                <a:latin typeface="Calibri"/>
                <a:ea typeface="Calibri"/>
                <a:cs typeface="Calibri"/>
                <a:sym typeface="Calibri"/>
              </a:rPr>
              <a:t> Καλλιόπη</a:t>
            </a:r>
            <a:endParaRPr/>
          </a:p>
        </p:txBody>
      </p:sp>
      <p:sp>
        <p:nvSpPr>
          <p:cNvPr id="765" name="Google Shape;765;p26"/>
          <p:cNvSpPr txBox="1"/>
          <p:nvPr/>
        </p:nvSpPr>
        <p:spPr>
          <a:xfrm>
            <a:off x="2436886" y="5096245"/>
            <a:ext cx="73152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809AC0"/>
                </a:solidFill>
                <a:latin typeface="Calibri"/>
                <a:ea typeface="Calibri"/>
                <a:cs typeface="Calibri"/>
                <a:sym typeface="Calibri"/>
              </a:rPr>
              <a:t>Κώδικας: github.com/ChristinaMakri/AIGIS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